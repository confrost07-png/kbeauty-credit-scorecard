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아모레퍼시픽</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Malgun Gothic"/>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Sheet1!$A$2:$A$8</c:f>
              <c:multiLvlStrCache>
                <c:ptCount val="7"/>
                <c:lvl>
                  <c:pt idx="0">
                    <c:v>2024Q4</c:v>
                  </c:pt>
                  <c:pt idx="1">
                    <c:v>2025Q1</c:v>
                  </c:pt>
                  <c:pt idx="2">
                    <c:v>2025Q2</c:v>
                  </c:pt>
                  <c:pt idx="3">
                    <c:v>2025Q3</c:v>
                  </c:pt>
                  <c:pt idx="4">
                    <c:v>2025Q4</c:v>
                  </c:pt>
                  <c:pt idx="5">
                    <c:v>2026Q1</c:v>
                  </c:pt>
                  <c:pt idx="6">
                    <c:v>2026Q2</c:v>
                  </c:pt>
                </c:lvl>
              </c:multiLvlStrCache>
            </c:multiLvlStrRef>
          </c:cat>
          <c:val>
            <c:numRef>
              <c:f>Sheet1!$B$2:$B$8</c:f>
              <c:numCache>
                <c:formatCode>General</c:formatCode>
                <c:ptCount val="7"/>
                <c:pt idx="0">
                  <c:v>42.5</c:v>
                </c:pt>
                <c:pt idx="1">
                  <c:v>44.5</c:v>
                </c:pt>
                <c:pt idx="2">
                  <c:v>45.5</c:v>
                </c:pt>
                <c:pt idx="3">
                  <c:v>43.5</c:v>
                </c:pt>
                <c:pt idx="4">
                  <c:v>37.4</c:v>
                </c:pt>
                <c:pt idx="5">
                  <c:v>34.3</c:v>
                </c:pt>
                <c:pt idx="6">
                  <c:v>33.3</c:v>
                </c:pt>
              </c:numCache>
            </c:numRef>
          </c:val>
          <c:smooth val="0"/>
        </c:ser>
        <c:ser>
          <c:idx val="1"/>
          <c:order val="1"/>
          <c:tx>
            <c:strRef>
              <c:f>Sheet1!$C$1</c:f>
              <c:strCache>
                <c:ptCount val="1"/>
                <c:pt idx="0">
                  <c:v>코스맥스</c:v>
                </c:pt>
              </c:strCache>
            </c:strRef>
          </c:tx>
          <c:spPr>
            <a:solidFill>
              <a:srgbClr val="1BAF7A"/>
            </a:solidFill>
            <a:ln w="381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Malgun Gothic"/>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Sheet1!$A$2:$A$8</c:f>
              <c:multiLvlStrCache>
                <c:ptCount val="7"/>
                <c:lvl>
                  <c:pt idx="0">
                    <c:v>2024Q4</c:v>
                  </c:pt>
                  <c:pt idx="1">
                    <c:v>2025Q1</c:v>
                  </c:pt>
                  <c:pt idx="2">
                    <c:v>2025Q2</c:v>
                  </c:pt>
                  <c:pt idx="3">
                    <c:v>2025Q3</c:v>
                  </c:pt>
                  <c:pt idx="4">
                    <c:v>2025Q4</c:v>
                  </c:pt>
                  <c:pt idx="5">
                    <c:v>2026Q1</c:v>
                  </c:pt>
                  <c:pt idx="6">
                    <c:v>2026Q2</c:v>
                  </c:pt>
                </c:lvl>
              </c:multiLvlStrCache>
            </c:multiLvlStrRef>
          </c:cat>
          <c:val>
            <c:numRef>
              <c:f>Sheet1!$C$2:$C$8</c:f>
              <c:numCache>
                <c:formatCode>General</c:formatCode>
                <c:ptCount val="7"/>
                <c:pt idx="0">
                  <c:v>33.8</c:v>
                </c:pt>
                <c:pt idx="1">
                  <c:v>30.4</c:v>
                </c:pt>
                <c:pt idx="2">
                  <c:v>26.5</c:v>
                </c:pt>
                <c:pt idx="3">
                  <c:v>23.4</c:v>
                </c:pt>
                <c:pt idx="4">
                  <c:v>21.8</c:v>
                </c:pt>
                <c:pt idx="5">
                  <c:v>19.6</c:v>
                </c:pt>
                <c:pt idx="6">
                  <c:v>18</c:v>
                </c:pt>
              </c:numCache>
            </c:numRef>
          </c:val>
          <c:smooth val="0"/>
        </c:ser>
        <c:ser>
          <c:idx val="2"/>
          <c:order val="2"/>
          <c:tx>
            <c:strRef>
              <c:f>Sheet1!$D$1</c:f>
              <c:strCache>
                <c:ptCount val="1"/>
                <c:pt idx="0">
                  <c:v>에이피알</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algun Gothic"/>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Sheet1!$A$2:$A$8</c:f>
              <c:multiLvlStrCache>
                <c:ptCount val="7"/>
                <c:lvl>
                  <c:pt idx="0">
                    <c:v>2024Q4</c:v>
                  </c:pt>
                  <c:pt idx="1">
                    <c:v>2025Q1</c:v>
                  </c:pt>
                  <c:pt idx="2">
                    <c:v>2025Q2</c:v>
                  </c:pt>
                  <c:pt idx="3">
                    <c:v>2025Q3</c:v>
                  </c:pt>
                  <c:pt idx="4">
                    <c:v>2025Q4</c:v>
                  </c:pt>
                  <c:pt idx="5">
                    <c:v>2026Q1</c:v>
                  </c:pt>
                  <c:pt idx="6">
                    <c:v>2026Q2</c:v>
                  </c:pt>
                </c:lvl>
              </c:multiLvlStrCache>
            </c:multiLvlStrRef>
          </c:cat>
          <c:val>
            <c:numRef>
              <c:f>Sheet1!$D$2:$D$8</c:f>
              <c:numCache>
                <c:formatCode>General</c:formatCode>
                <c:ptCount val="7"/>
                <c:pt idx="0">
                  <c:v>23.7</c:v>
                </c:pt>
                <c:pt idx="1">
                  <c:v>25.1</c:v>
                </c:pt>
                <c:pt idx="2">
                  <c:v>28</c:v>
                </c:pt>
                <c:pt idx="3">
                  <c:v>33.1</c:v>
                </c:pt>
                <c:pt idx="4">
                  <c:v>40.7</c:v>
                </c:pt>
                <c:pt idx="5">
                  <c:v>46.1</c:v>
                </c:pt>
                <c:pt idx="6">
                  <c:v>48.7</c:v>
                </c:pt>
              </c:numCache>
            </c:numRef>
          </c:val>
          <c:smooth val="0"/>
        </c:ser>
        <c:dLbls>
          <c:numFmt formatCode="#,##0" sourceLinked="0"/>
          <c:txPr>
            <a:bodyPr/>
            <a:lstStyle/>
            <a:p>
              <a:pPr>
                <a:defRPr b="0" i="0" strike="noStrike" sz="1200" u="none">
                  <a:solidFill>
                    <a:srgbClr val="000000"/>
                  </a:solidFill>
                  <a:latin typeface="Malgun Gothic"/>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FCDC6"/>
            </a:solidFill>
            <a:prstDash val="solid"/>
            <a:round/>
          </a:ln>
        </c:spPr>
        <c:txPr>
          <a:bodyPr/>
          <a:lstStyle/>
          <a:p>
            <a:pPr>
              <a:defRPr sz="1200" b="0" i="0" u="none" strike="noStrike">
                <a:solidFill>
                  <a:srgbClr val="6B6A66"/>
                </a:solidFill>
                <a:latin typeface="Malgun Gothic"/>
              </a:defRPr>
            </a:pPr>
            <a:endParaRPr lang="en-US"/>
          </a:p>
        </c:txPr>
        <c:crossAx val="2094734552"/>
        <c:crosses val="autoZero"/>
        <c:auto val="1"/>
        <c:lblAlgn val="ctr"/>
        <c:noMultiLvlLbl val="1"/>
      </c:catAx>
      <c:valAx>
        <c:axId val="2094734552"/>
        <c:scaling>
          <c:orientation val="minMax"/>
          <c:max val="55"/>
          <c:min val="10"/>
        </c:scaling>
        <c:delete val="0"/>
        <c:axPos val="l"/>
        <c:majorGridlines>
          <c:spPr>
            <a:ln w="9525" cap="flat">
              <a:solidFill>
                <a:srgbClr val="E4E2DC"/>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6B6A66"/>
                </a:solidFill>
                <a:latin typeface="Malgun Gothic"/>
              </a:defRPr>
            </a:pPr>
            <a:endParaRPr lang="en-US"/>
          </a:p>
        </c:txPr>
        <c:crossAx val="2094734554"/>
        <c:crosses val="autoZero"/>
        <c:crossBetween val="between"/>
        <c:majorUnit val="10"/>
      </c:valAx>
      <c:spPr>
        <a:noFill/>
        <a:ln>
          <a:noFill/>
        </a:ln>
        <a:effectLst/>
      </c:spPr>
    </c:plotArea>
    <c:legend>
      <c:legendPos val="b"/>
      <c:overlay val="0"/>
      <c:txPr>
        <a:bodyPr/>
        <a:lstStyle/>
        <a:p>
          <a:pPr>
            <a:defRPr sz="12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1D1B"/>
                </a:solidFill>
                <a:latin typeface="Malgun Gothic"/>
              </a:defRPr>
            </a:pPr>
            <a:r>
              <a:rPr sz="1400" b="0" i="0" u="none" strike="noStrike">
                <a:solidFill>
                  <a:srgbClr val="1D1D1B"/>
                </a:solidFill>
                <a:latin typeface="Malgun Gothic"/>
              </a:rPr>
              <a:t>영업이익률 (최근 4분기)</a:t>
            </a:r>
          </a:p>
        </c:rich>
      </c:tx>
      <c:layout/>
      <c:overlay val="0"/>
    </c:title>
    <c:autoTitleDeleted val="0"/>
    <c:plotArea>
      <c:layout/>
      <c:barChart>
        <c:barDir val="col"/>
        <c:grouping val="clustered"/>
        <c:varyColors val="0"/>
        <c:ser>
          <c:idx val="0"/>
          <c:order val="0"/>
          <c:tx>
            <c:strRef>
              <c:f>Sheet1!$B$1</c:f>
              <c:strCache>
                <c:ptCount val="1"/>
                <c:pt idx="0">
                  <c:v>영업이익률</c:v>
                </c:pt>
              </c:strCache>
            </c:strRef>
          </c:tx>
          <c:spPr>
            <a:solidFill>
              <a:srgbClr val="EB6834"/>
            </a:solidFill>
            <a:effectLst/>
          </c:spPr>
          <c:invertIfNegative val="0"/>
          <c:dLbls>
            <c:numFmt formatCode="0.0&quot;%&quot;" sourceLinked="0"/>
            <c:txPr>
              <a:bodyPr/>
              <a:lstStyle/>
              <a:p>
                <a:pPr>
                  <a:defRPr b="1" i="0" strike="noStrike" sz="1600" u="none">
                    <a:solidFill>
                      <a:srgbClr val="1D1D1B"/>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1BAF7A"/>
              </a:solidFill>
              <a:effectLst/>
            </c:spPr>
          </c:dPt>
          <c:dPt>
            <c:idx val="2"/>
            <c:invertIfNegative val="0"/>
            <c:bubble3D val="0"/>
            <c:spPr>
              <a:solidFill>
                <a:srgbClr val="2A78D6"/>
              </a:solidFill>
              <a:effectLst/>
            </c:spPr>
          </c:dPt>
          <c:cat>
            <c:multiLvlStrRef>
              <c:f>Sheet1!$A$2:$A$4</c:f>
              <c:multiLvlStrCache>
                <c:ptCount val="3"/>
                <c:lvl>
                  <c:pt idx="0">
                    <c:v>아모레퍼시픽</c:v>
                  </c:pt>
                  <c:pt idx="1">
                    <c:v>코스맥스</c:v>
                  </c:pt>
                  <c:pt idx="2">
                    <c:v>에이피알</c:v>
                  </c:pt>
                </c:lvl>
              </c:multiLvlStrCache>
            </c:multiLvlStrRef>
          </c:cat>
          <c:val>
            <c:numRef>
              <c:f>Sheet1!$B$2:$B$4</c:f>
              <c:numCache>
                <c:formatCode>General</c:formatCode>
                <c:ptCount val="3"/>
                <c:pt idx="0">
                  <c:v>8.6</c:v>
                </c:pt>
                <c:pt idx="1">
                  <c:v>7.9</c:v>
                </c:pt>
                <c:pt idx="2">
                  <c:v>24.8</c:v>
                </c:pt>
              </c:numCache>
            </c:numRef>
          </c:val>
        </c:ser>
        <c:dLbls>
          <c:numFmt formatCode="0.0&quot;%&quot;" sourceLinked="0"/>
          <c:txPr>
            <a:bodyPr/>
            <a:lstStyle/>
            <a:p>
              <a:pPr>
                <a:defRPr b="1" i="0" strike="noStrike" sz="1600" u="none">
                  <a:solidFill>
                    <a:srgbClr val="1D1D1B"/>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FCDC6"/>
            </a:solidFill>
            <a:prstDash val="solid"/>
            <a:round/>
          </a:ln>
        </c:spPr>
        <c:txPr>
          <a:bodyPr/>
          <a:lstStyle/>
          <a:p>
            <a:pPr>
              <a:defRPr sz="1300" b="0" i="0" u="none" strike="noStrike">
                <a:solidFill>
                  <a:srgbClr val="6B6A66"/>
                </a:solidFill>
                <a:latin typeface="Malgun Gothic"/>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A66"/>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1D1B"/>
                </a:solidFill>
                <a:latin typeface="Malgun Gothic"/>
              </a:defRPr>
            </a:pPr>
            <a:r>
              <a:rPr sz="1300" b="0" i="0" u="none" strike="noStrike">
                <a:solidFill>
                  <a:srgbClr val="1D1D1B"/>
                </a:solidFill>
                <a:latin typeface="Malgun Gothic"/>
              </a:rPr>
              <a:t>부채비율 (%)</a:t>
            </a:r>
          </a:p>
        </c:rich>
      </c:tx>
      <c:layout/>
      <c:overlay val="0"/>
    </c:title>
    <c:autoTitleDeleted val="0"/>
    <c:plotArea>
      <c:layout/>
      <c:barChart>
        <c:barDir val="col"/>
        <c:grouping val="clustered"/>
        <c:varyColors val="0"/>
        <c:ser>
          <c:idx val="0"/>
          <c:order val="0"/>
          <c:tx>
            <c:strRef>
              <c:f>Sheet1!$B$1</c:f>
              <c:strCache>
                <c:ptCount val="1"/>
                <c:pt idx="0">
                  <c:v>부채비율 (%)</c:v>
                </c:pt>
              </c:strCache>
            </c:strRef>
          </c:tx>
          <c:spPr>
            <a:solidFill>
              <a:srgbClr val="EB6834"/>
            </a:solidFill>
            <a:effectLst/>
          </c:spPr>
          <c:invertIfNegative val="0"/>
          <c:dLbls>
            <c:numFmt formatCode="0.0" sourceLinked="0"/>
            <c:txPr>
              <a:bodyPr/>
              <a:lstStyle/>
              <a:p>
                <a:pPr>
                  <a:defRPr b="1" i="0" strike="noStrike" sz="1300" u="none">
                    <a:solidFill>
                      <a:srgbClr val="1D1D1B"/>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1BAF7A"/>
              </a:solidFill>
              <a:effectLst/>
            </c:spPr>
          </c:dPt>
          <c:dPt>
            <c:idx val="2"/>
            <c:invertIfNegative val="0"/>
            <c:bubble3D val="0"/>
            <c:spPr>
              <a:solidFill>
                <a:srgbClr val="2A78D6"/>
              </a:solidFill>
              <a:effectLst/>
            </c:spPr>
          </c:dPt>
          <c:cat>
            <c:multiLvlStrRef>
              <c:f>Sheet1!$A$2:$A$4</c:f>
              <c:multiLvlStrCache>
                <c:ptCount val="3"/>
                <c:lvl>
                  <c:pt idx="0">
                    <c:v>아모레퍼시픽</c:v>
                  </c:pt>
                  <c:pt idx="1">
                    <c:v>코스맥스</c:v>
                  </c:pt>
                  <c:pt idx="2">
                    <c:v>에이피알</c:v>
                  </c:pt>
                </c:lvl>
              </c:multiLvlStrCache>
            </c:multiLvlStrRef>
          </c:cat>
          <c:val>
            <c:numRef>
              <c:f>Sheet1!$B$2:$B$4</c:f>
              <c:numCache>
                <c:formatCode>General</c:formatCode>
                <c:ptCount val="3"/>
                <c:pt idx="0">
                  <c:v>25.8</c:v>
                </c:pt>
                <c:pt idx="1">
                  <c:v>276.1</c:v>
                </c:pt>
                <c:pt idx="2">
                  <c:v>70.1</c:v>
                </c:pt>
              </c:numCache>
            </c:numRef>
          </c:val>
        </c:ser>
        <c:dLbls>
          <c:numFmt formatCode="0.0" sourceLinked="0"/>
          <c:txPr>
            <a:bodyPr/>
            <a:lstStyle/>
            <a:p>
              <a:pPr>
                <a:defRPr b="1" i="0" strike="noStrike" sz="1300" u="none">
                  <a:solidFill>
                    <a:srgbClr val="1D1D1B"/>
                  </a:solidFill>
                  <a:latin typeface="Malgun Gothic"/>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FCDC6"/>
            </a:solidFill>
            <a:prstDash val="solid"/>
            <a:round/>
          </a:ln>
        </c:spPr>
        <c:txPr>
          <a:bodyPr/>
          <a:lstStyle/>
          <a:p>
            <a:pPr>
              <a:defRPr sz="1100" b="0" i="0" u="none" strike="noStrike">
                <a:solidFill>
                  <a:srgbClr val="6B6A66"/>
                </a:solidFill>
                <a:latin typeface="Malgun Gothic"/>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A66"/>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1D1B"/>
                </a:solidFill>
                <a:latin typeface="Malgun Gothic"/>
              </a:defRPr>
            </a:pPr>
            <a:r>
              <a:rPr sz="1300" b="0" i="0" u="none" strike="noStrike">
                <a:solidFill>
                  <a:srgbClr val="1D1D1B"/>
                </a:solidFill>
                <a:latin typeface="Malgun Gothic"/>
              </a:rPr>
              <a:t>유동비율 (%)</a:t>
            </a:r>
          </a:p>
        </c:rich>
      </c:tx>
      <c:layout/>
      <c:overlay val="0"/>
    </c:title>
    <c:autoTitleDeleted val="0"/>
    <c:plotArea>
      <c:layout/>
      <c:barChart>
        <c:barDir val="col"/>
        <c:grouping val="clustered"/>
        <c:varyColors val="0"/>
        <c:ser>
          <c:idx val="0"/>
          <c:order val="0"/>
          <c:tx>
            <c:strRef>
              <c:f>Sheet1!$B$1</c:f>
              <c:strCache>
                <c:ptCount val="1"/>
                <c:pt idx="0">
                  <c:v>유동비율 (%)</c:v>
                </c:pt>
              </c:strCache>
            </c:strRef>
          </c:tx>
          <c:spPr>
            <a:solidFill>
              <a:srgbClr val="EB6834"/>
            </a:solidFill>
            <a:effectLst/>
          </c:spPr>
          <c:invertIfNegative val="0"/>
          <c:dLbls>
            <c:numFmt formatCode="0.0" sourceLinked="0"/>
            <c:txPr>
              <a:bodyPr/>
              <a:lstStyle/>
              <a:p>
                <a:pPr>
                  <a:defRPr b="1" i="0" strike="noStrike" sz="1300" u="none">
                    <a:solidFill>
                      <a:srgbClr val="1D1D1B"/>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1BAF7A"/>
              </a:solidFill>
              <a:effectLst/>
            </c:spPr>
          </c:dPt>
          <c:dPt>
            <c:idx val="2"/>
            <c:invertIfNegative val="0"/>
            <c:bubble3D val="0"/>
            <c:spPr>
              <a:solidFill>
                <a:srgbClr val="2A78D6"/>
              </a:solidFill>
              <a:effectLst/>
            </c:spPr>
          </c:dPt>
          <c:cat>
            <c:multiLvlStrRef>
              <c:f>Sheet1!$A$2:$A$4</c:f>
              <c:multiLvlStrCache>
                <c:ptCount val="3"/>
                <c:lvl>
                  <c:pt idx="0">
                    <c:v>아모레퍼시픽</c:v>
                  </c:pt>
                  <c:pt idx="1">
                    <c:v>코스맥스</c:v>
                  </c:pt>
                  <c:pt idx="2">
                    <c:v>에이피알</c:v>
                  </c:pt>
                </c:lvl>
              </c:multiLvlStrCache>
            </c:multiLvlStrRef>
          </c:cat>
          <c:val>
            <c:numRef>
              <c:f>Sheet1!$B$2:$B$4</c:f>
              <c:numCache>
                <c:formatCode>General</c:formatCode>
                <c:ptCount val="3"/>
                <c:pt idx="0">
                  <c:v>191</c:v>
                </c:pt>
                <c:pt idx="1">
                  <c:v>90.1</c:v>
                </c:pt>
                <c:pt idx="2">
                  <c:v>229.4</c:v>
                </c:pt>
              </c:numCache>
            </c:numRef>
          </c:val>
        </c:ser>
        <c:dLbls>
          <c:numFmt formatCode="0.0" sourceLinked="0"/>
          <c:txPr>
            <a:bodyPr/>
            <a:lstStyle/>
            <a:p>
              <a:pPr>
                <a:defRPr b="1" i="0" strike="noStrike" sz="1300" u="none">
                  <a:solidFill>
                    <a:srgbClr val="1D1D1B"/>
                  </a:solidFill>
                  <a:latin typeface="Malgun Gothic"/>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FCDC6"/>
            </a:solidFill>
            <a:prstDash val="solid"/>
            <a:round/>
          </a:ln>
        </c:spPr>
        <c:txPr>
          <a:bodyPr/>
          <a:lstStyle/>
          <a:p>
            <a:pPr>
              <a:defRPr sz="1100" b="0" i="0" u="none" strike="noStrike">
                <a:solidFill>
                  <a:srgbClr val="6B6A66"/>
                </a:solidFill>
                <a:latin typeface="Malgun Gothic"/>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A66"/>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1D1B"/>
                </a:solidFill>
                <a:latin typeface="Malgun Gothic"/>
              </a:defRPr>
            </a:pPr>
            <a:r>
              <a:rPr sz="1300" b="0" i="0" u="none" strike="noStrike">
                <a:solidFill>
                  <a:srgbClr val="1D1D1B"/>
                </a:solidFill>
                <a:latin typeface="Malgun Gothic"/>
              </a:rPr>
              <a:t>이자보상배율 (배)</a:t>
            </a:r>
          </a:p>
        </c:rich>
      </c:tx>
      <c:layout/>
      <c:overlay val="0"/>
    </c:title>
    <c:autoTitleDeleted val="0"/>
    <c:plotArea>
      <c:layout/>
      <c:barChart>
        <c:barDir val="col"/>
        <c:grouping val="clustered"/>
        <c:varyColors val="0"/>
        <c:ser>
          <c:idx val="0"/>
          <c:order val="0"/>
          <c:tx>
            <c:strRef>
              <c:f>Sheet1!$B$1</c:f>
              <c:strCache>
                <c:ptCount val="1"/>
                <c:pt idx="0">
                  <c:v>이자보상배율 (배)</c:v>
                </c:pt>
              </c:strCache>
            </c:strRef>
          </c:tx>
          <c:spPr>
            <a:solidFill>
              <a:srgbClr val="EB6834"/>
            </a:solidFill>
            <a:effectLst/>
          </c:spPr>
          <c:invertIfNegative val="0"/>
          <c:dLbls>
            <c:numFmt formatCode="0.0" sourceLinked="0"/>
            <c:txPr>
              <a:bodyPr/>
              <a:lstStyle/>
              <a:p>
                <a:pPr>
                  <a:defRPr b="1" i="0" strike="noStrike" sz="1300" u="none">
                    <a:solidFill>
                      <a:srgbClr val="1D1D1B"/>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1BAF7A"/>
              </a:solidFill>
              <a:effectLst/>
            </c:spPr>
          </c:dPt>
          <c:dPt>
            <c:idx val="2"/>
            <c:invertIfNegative val="0"/>
            <c:bubble3D val="0"/>
            <c:spPr>
              <a:solidFill>
                <a:srgbClr val="2A78D6"/>
              </a:solidFill>
              <a:effectLst/>
            </c:spPr>
          </c:dPt>
          <c:cat>
            <c:multiLvlStrRef>
              <c:f>Sheet1!$A$2:$A$4</c:f>
              <c:multiLvlStrCache>
                <c:ptCount val="3"/>
                <c:lvl>
                  <c:pt idx="0">
                    <c:v>아모레퍼시픽</c:v>
                  </c:pt>
                  <c:pt idx="1">
                    <c:v>코스맥스</c:v>
                  </c:pt>
                  <c:pt idx="2">
                    <c:v>에이피알</c:v>
                  </c:pt>
                </c:lvl>
              </c:multiLvlStrCache>
            </c:multiLvlStrRef>
          </c:cat>
          <c:val>
            <c:numRef>
              <c:f>Sheet1!$B$2:$B$4</c:f>
              <c:numCache>
                <c:formatCode>General</c:formatCode>
                <c:ptCount val="3"/>
                <c:pt idx="0">
                  <c:v>24.7</c:v>
                </c:pt>
                <c:pt idx="1">
                  <c:v>4.3</c:v>
                </c:pt>
                <c:pt idx="2">
                  <c:v>398.5</c:v>
                </c:pt>
              </c:numCache>
            </c:numRef>
          </c:val>
        </c:ser>
        <c:dLbls>
          <c:numFmt formatCode="0.0" sourceLinked="0"/>
          <c:txPr>
            <a:bodyPr/>
            <a:lstStyle/>
            <a:p>
              <a:pPr>
                <a:defRPr b="1" i="0" strike="noStrike" sz="1300" u="none">
                  <a:solidFill>
                    <a:srgbClr val="1D1D1B"/>
                  </a:solidFill>
                  <a:latin typeface="Malgun Gothic"/>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FCDC6"/>
            </a:solidFill>
            <a:prstDash val="solid"/>
            <a:round/>
          </a:ln>
        </c:spPr>
        <c:txPr>
          <a:bodyPr/>
          <a:lstStyle/>
          <a:p>
            <a:pPr>
              <a:defRPr sz="1100" b="0" i="0" u="none" strike="noStrike">
                <a:solidFill>
                  <a:srgbClr val="6B6A66"/>
                </a:solidFill>
                <a:latin typeface="Malgun Gothic"/>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A66"/>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1D1B"/>
                </a:solidFill>
                <a:latin typeface="Malgun Gothic"/>
              </a:defRPr>
            </a:pPr>
            <a:r>
              <a:rPr sz="1300" b="0" i="0" u="none" strike="noStrike">
                <a:solidFill>
                  <a:srgbClr val="1D1D1B"/>
                </a:solidFill>
                <a:latin typeface="Malgun Gothic"/>
              </a:rPr>
              <a:t>현금전환율 (%)</a:t>
            </a:r>
          </a:p>
        </c:rich>
      </c:tx>
      <c:layout/>
      <c:overlay val="0"/>
    </c:title>
    <c:autoTitleDeleted val="0"/>
    <c:plotArea>
      <c:layout/>
      <c:barChart>
        <c:barDir val="col"/>
        <c:grouping val="clustered"/>
        <c:varyColors val="0"/>
        <c:ser>
          <c:idx val="0"/>
          <c:order val="0"/>
          <c:tx>
            <c:strRef>
              <c:f>Sheet1!$B$1</c:f>
              <c:strCache>
                <c:ptCount val="1"/>
                <c:pt idx="0">
                  <c:v>현금전환율 (%)</c:v>
                </c:pt>
              </c:strCache>
            </c:strRef>
          </c:tx>
          <c:spPr>
            <a:solidFill>
              <a:srgbClr val="EB6834"/>
            </a:solidFill>
            <a:effectLst/>
          </c:spPr>
          <c:invertIfNegative val="0"/>
          <c:dLbls>
            <c:numFmt formatCode="0.0" sourceLinked="0"/>
            <c:txPr>
              <a:bodyPr/>
              <a:lstStyle/>
              <a:p>
                <a:pPr>
                  <a:defRPr b="1" i="0" strike="noStrike" sz="1300" u="none">
                    <a:solidFill>
                      <a:srgbClr val="1D1D1B"/>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1BAF7A"/>
              </a:solidFill>
              <a:effectLst/>
            </c:spPr>
          </c:dPt>
          <c:dPt>
            <c:idx val="2"/>
            <c:invertIfNegative val="0"/>
            <c:bubble3D val="0"/>
            <c:spPr>
              <a:solidFill>
                <a:srgbClr val="2A78D6"/>
              </a:solidFill>
              <a:effectLst/>
            </c:spPr>
          </c:dPt>
          <c:cat>
            <c:multiLvlStrRef>
              <c:f>Sheet1!$A$2:$A$4</c:f>
              <c:multiLvlStrCache>
                <c:ptCount val="3"/>
                <c:lvl>
                  <c:pt idx="0">
                    <c:v>아모레퍼시픽</c:v>
                  </c:pt>
                  <c:pt idx="1">
                    <c:v>코스맥스</c:v>
                  </c:pt>
                  <c:pt idx="2">
                    <c:v>에이피알</c:v>
                  </c:pt>
                </c:lvl>
              </c:multiLvlStrCache>
            </c:multiLvlStrRef>
          </c:cat>
          <c:val>
            <c:numRef>
              <c:f>Sheet1!$B$2:$B$4</c:f>
              <c:numCache>
                <c:formatCode>General</c:formatCode>
                <c:ptCount val="3"/>
                <c:pt idx="0">
                  <c:v>129.7</c:v>
                </c:pt>
                <c:pt idx="1">
                  <c:v>74.2</c:v>
                </c:pt>
                <c:pt idx="2">
                  <c:v>54.2</c:v>
                </c:pt>
              </c:numCache>
            </c:numRef>
          </c:val>
        </c:ser>
        <c:dLbls>
          <c:numFmt formatCode="0.0" sourceLinked="0"/>
          <c:txPr>
            <a:bodyPr/>
            <a:lstStyle/>
            <a:p>
              <a:pPr>
                <a:defRPr b="1" i="0" strike="noStrike" sz="1300" u="none">
                  <a:solidFill>
                    <a:srgbClr val="1D1D1B"/>
                  </a:solidFill>
                  <a:latin typeface="Malgun Gothic"/>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FCDC6"/>
            </a:solidFill>
            <a:prstDash val="solid"/>
            <a:round/>
          </a:ln>
        </c:spPr>
        <c:txPr>
          <a:bodyPr/>
          <a:lstStyle/>
          <a:p>
            <a:pPr>
              <a:defRPr sz="1100" b="0" i="0" u="none" strike="noStrike">
                <a:solidFill>
                  <a:srgbClr val="6B6A66"/>
                </a:solidFill>
                <a:latin typeface="Malgun Gothic"/>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A66"/>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1D1B"/>
                </a:solidFill>
                <a:latin typeface="Malgun Gothic"/>
              </a:defRPr>
            </a:pPr>
            <a:r>
              <a:rPr sz="1400" b="0" i="0" u="none" strike="noStrike">
                <a:solidFill>
                  <a:srgbClr val="1D1D1B"/>
                </a:solidFill>
                <a:latin typeface="Malgun Gothic"/>
              </a:rPr>
              <a:t>PER (배)</a:t>
            </a:r>
          </a:p>
        </c:rich>
      </c:tx>
      <c:layout/>
      <c:overlay val="0"/>
    </c:title>
    <c:autoTitleDeleted val="0"/>
    <c:plotArea>
      <c:layout/>
      <c:barChart>
        <c:barDir val="col"/>
        <c:grouping val="clustered"/>
        <c:varyColors val="0"/>
        <c:ser>
          <c:idx val="0"/>
          <c:order val="0"/>
          <c:tx>
            <c:strRef>
              <c:f>Sheet1!$B$1</c:f>
              <c:strCache>
                <c:ptCount val="1"/>
                <c:pt idx="0">
                  <c:v>PER</c:v>
                </c:pt>
              </c:strCache>
            </c:strRef>
          </c:tx>
          <c:spPr>
            <a:solidFill>
              <a:srgbClr val="EB6834"/>
            </a:solidFill>
            <a:effectLst/>
          </c:spPr>
          <c:invertIfNegative val="0"/>
          <c:dLbls>
            <c:numFmt formatCode="0.0&quot;배&quot;" sourceLinked="0"/>
            <c:txPr>
              <a:bodyPr/>
              <a:lstStyle/>
              <a:p>
                <a:pPr>
                  <a:defRPr b="1" i="0" strike="noStrike" sz="1500" u="none">
                    <a:solidFill>
                      <a:srgbClr val="1D1D1B"/>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1BAF7A"/>
              </a:solidFill>
              <a:effectLst/>
            </c:spPr>
          </c:dPt>
          <c:dPt>
            <c:idx val="2"/>
            <c:invertIfNegative val="0"/>
            <c:bubble3D val="0"/>
            <c:spPr>
              <a:solidFill>
                <a:srgbClr val="2A78D6"/>
              </a:solidFill>
              <a:effectLst/>
            </c:spPr>
          </c:dPt>
          <c:cat>
            <c:multiLvlStrRef>
              <c:f>Sheet1!$A$2:$A$4</c:f>
              <c:multiLvlStrCache>
                <c:ptCount val="3"/>
                <c:lvl>
                  <c:pt idx="0">
                    <c:v>아모레퍼시픽</c:v>
                  </c:pt>
                  <c:pt idx="1">
                    <c:v>코스맥스</c:v>
                  </c:pt>
                  <c:pt idx="2">
                    <c:v>에이피알</c:v>
                  </c:pt>
                </c:lvl>
              </c:multiLvlStrCache>
            </c:multiLvlStrRef>
          </c:cat>
          <c:val>
            <c:numRef>
              <c:f>Sheet1!$B$2:$B$4</c:f>
              <c:numCache>
                <c:formatCode>General</c:formatCode>
                <c:ptCount val="3"/>
                <c:pt idx="0">
                  <c:v>34.45</c:v>
                </c:pt>
                <c:pt idx="1">
                  <c:v>17.09</c:v>
                </c:pt>
                <c:pt idx="2">
                  <c:v>31.45</c:v>
                </c:pt>
              </c:numCache>
            </c:numRef>
          </c:val>
        </c:ser>
        <c:dLbls>
          <c:numFmt formatCode="0.0&quot;배&quot;" sourceLinked="0"/>
          <c:txPr>
            <a:bodyPr/>
            <a:lstStyle/>
            <a:p>
              <a:pPr>
                <a:defRPr b="1" i="0" strike="noStrike" sz="1500" u="none">
                  <a:solidFill>
                    <a:srgbClr val="1D1D1B"/>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FCDC6"/>
            </a:solidFill>
            <a:prstDash val="solid"/>
            <a:round/>
          </a:ln>
        </c:spPr>
        <c:txPr>
          <a:bodyPr/>
          <a:lstStyle/>
          <a:p>
            <a:pPr>
              <a:defRPr sz="1200" b="0" i="0" u="none" strike="noStrike">
                <a:solidFill>
                  <a:srgbClr val="6B6A66"/>
                </a:solidFill>
                <a:latin typeface="Malgun Gothic"/>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A66"/>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1D1B"/>
                </a:solidFill>
                <a:latin typeface="Malgun Gothic"/>
              </a:defRPr>
            </a:pPr>
            <a:r>
              <a:rPr sz="1400" b="0" i="0" u="none" strike="noStrike">
                <a:solidFill>
                  <a:srgbClr val="1D1D1B"/>
                </a:solidFill>
                <a:latin typeface="Malgun Gothic"/>
              </a:rPr>
              <a:t>PEG</a:t>
            </a:r>
          </a:p>
        </c:rich>
      </c:tx>
      <c:layout/>
      <c:overlay val="0"/>
    </c:title>
    <c:autoTitleDeleted val="0"/>
    <c:plotArea>
      <c:layout/>
      <c:barChart>
        <c:barDir val="col"/>
        <c:grouping val="clustered"/>
        <c:varyColors val="0"/>
        <c:ser>
          <c:idx val="0"/>
          <c:order val="0"/>
          <c:tx>
            <c:strRef>
              <c:f>Sheet1!$B$1</c:f>
              <c:strCache>
                <c:ptCount val="1"/>
                <c:pt idx="0">
                  <c:v>PEG</c:v>
                </c:pt>
              </c:strCache>
            </c:strRef>
          </c:tx>
          <c:spPr>
            <a:solidFill>
              <a:srgbClr val="EB6834"/>
            </a:solidFill>
            <a:effectLst/>
          </c:spPr>
          <c:invertIfNegative val="0"/>
          <c:dLbls>
            <c:numFmt formatCode="0.00" sourceLinked="0"/>
            <c:txPr>
              <a:bodyPr/>
              <a:lstStyle/>
              <a:p>
                <a:pPr>
                  <a:defRPr b="1" i="0" strike="noStrike" sz="1500" u="none">
                    <a:solidFill>
                      <a:srgbClr val="1D1D1B"/>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2A78D6"/>
              </a:solidFill>
              <a:effectLst/>
            </c:spPr>
          </c:dPt>
          <c:cat>
            <c:multiLvlStrRef>
              <c:f>Sheet1!$A$2:$A$3</c:f>
              <c:multiLvlStrCache>
                <c:ptCount val="2"/>
                <c:lvl>
                  <c:pt idx="0">
                    <c:v>아모레퍼시픽</c:v>
                  </c:pt>
                  <c:pt idx="1">
                    <c:v>에이피알</c:v>
                  </c:pt>
                </c:lvl>
              </c:multiLvlStrCache>
            </c:multiLvlStrRef>
          </c:cat>
          <c:val>
            <c:numRef>
              <c:f>Sheet1!$B$2:$B$3</c:f>
              <c:numCache>
                <c:formatCode>General</c:formatCode>
                <c:ptCount val="2"/>
                <c:pt idx="0">
                  <c:v>1.13</c:v>
                </c:pt>
                <c:pt idx="1">
                  <c:v>0.85</c:v>
                </c:pt>
              </c:numCache>
            </c:numRef>
          </c:val>
        </c:ser>
        <c:dLbls>
          <c:numFmt formatCode="0.00" sourceLinked="0"/>
          <c:txPr>
            <a:bodyPr/>
            <a:lstStyle/>
            <a:p>
              <a:pPr>
                <a:defRPr b="1" i="0" strike="noStrike" sz="1500" u="none">
                  <a:solidFill>
                    <a:srgbClr val="1D1D1B"/>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FCDC6"/>
            </a:solidFill>
            <a:prstDash val="solid"/>
            <a:round/>
          </a:ln>
        </c:spPr>
        <c:txPr>
          <a:bodyPr/>
          <a:lstStyle/>
          <a:p>
            <a:pPr>
              <a:defRPr sz="1200" b="0" i="0" u="none" strike="noStrike">
                <a:solidFill>
                  <a:srgbClr val="6B6A66"/>
                </a:solidFill>
                <a:latin typeface="Malgun Gothic"/>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A66"/>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2조 발표를 맡은 조진영입니다. 저희 주제는 "K-뷰티 수출 붐, 은행의 눈으로 본 3사"입니다. 브랜드 아모레퍼시픽, 제조사 코스맥스, 해외 직판으로 출발한 에이피알 세 회사를 투자자가 아니라 은행의 눈으로 비교했습니다.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최근 1년 동안 화장품 수출은 약 129억 달러입니다. 저희가 재무를 분석한 최근 4분기와 같은 기간입니다. 올해 상반기만 보면 70억 달러로 1년 전보다 27% 늘어 상반기 기준 역대 최대였고, 가장 큰 시장도 중국에서 미국으로 바뀌었습니다. 작년 화장품 무역수지 흑자는 처음으로 100억 달러를 넘었습니다. 그렇다면 은행은 이 붐을 만든 기업들에 얼마나, 어떻게 돈을 빌려줘야 할까요? 이게 저희 질문입니다.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수출이 늘면 은행에는 외화예금과 환전, 수출대금 결제와 무역금융, 환헤지, 설비·운전자금 대출 수요가 함께 늘어납니다. 브랜드가 커지면 그 뒤의 협력사들까지 금융 수요가 생깁니다. 그래서 은행은 이 기업들을 고객으로 잡아야 하는데, 과연 모두 좋은 고객일까요?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K-뷰티를 골랐는지 은행 관점에서 비교했습니다. 반도체와 자동차는 수출은 크지만 은행이 만나는 고객이 소수 대기업이고, K-푸드는 제조와 브랜드를 겸하는 회사가 많습니다. K-뷰티는 브랜드, ODM, 신흥 브랜드가 모두 상장돼 있어서 은행이 실제로 만나는 서로 다른 유형의 고객을 같은 기준으로 비교할 수 있습니다. K-푸드는 같은 틀을 적용할 수 있는 다음 후보입니다.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회사는 밸류체인 위치가 다릅니다. 여기서 위치는 매출이 주로 어디서 나오는지, 즉 주 수익원 기준입니다. 아모레퍼시픽은 자사 브랜드 화장품, 코스맥스는 다른 브랜드 제품을 만들어 주는 ODM, 에이피알은 자사 브랜드 화장품과 뷰티 디바이스를 해외 중심으로 팝니다. 분석은 성장의 질, 상환 체력, 신용 리스크, 시장 평가를 거쳐 은행의 판단으로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시세는 네이버증권에서 BeautifulSoup으로, 재무는 금융감독원 OpenDART API로 받았습니다. 은행 지표를 위해 차입금, 이자, 현금흐름이 들어 있는 전체 재무제표도 추가로 받았습니다. 숫자는 각 회사 실적 발표와 대조해 6개 모두 일치했습니다.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전처리에서 가장 신경 쓴 부분입니다. 한 분기만 보면 일회성 손익 때문에 숫자가 크게 흔들려서, 최근 4분기를 합산했습니다. 은행 지표에 필요한 계정은 회사마다 이름이 달라서 규칙으로 찾고, 어떤 계정을 썼는지 파일로 남겼습니다. 이자비용이 따로 없는 회사는 현금흐름표의 이자 지급액으로 대신했습니다.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진행하면서 막힌 곳과 해결 방법입니다. 첫째, 네이버 금융이 새 사이트로 옮겨 교안 코드로는 값이 안 잡혀서, 개발자도구로 실제 데이터 주소를 찾아 BeautifulSoup으로 파싱했습니다. 둘째, DART 보고서는 누적 금액이라 4분기를 역산했고, 발표치와 대조해 6개 모두 맞는 것을 확인했습니다. 셋째, 코스맥스 차입금이 0으로 나와 계정 목록을 직접 확인해 보니 금융부채로만 공시돼 있어 규칙을 보완했습니다. 넷째, 이자비용 계정이 없는 회사는 현금흐름표 항목으로 대신했고, 다섯째, 장중에 실행하면 오늘 시세는 자동으로 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성장의 질입니다. 같은 붐인데 이익은 에이피알로 이동했습니다. 최근 4분기 합산 영업이익 점유가 23.7%에서 48.7%로 두 배가 됐고, 아모레퍼시픽과 코스맥스의 몫은 줄었습니다.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이익률로 보면 에이피알이 24.8%로 두 회사보다 훨씬 높습니다. 은행 입장에서는 이익률이 높을수록 이자를 감당할 여력이 큽니다. 반대로 코스맥스는 매출이 27.5% 늘었는데 이익 몫은 줄었습니다. 매출이 늘면 운전자금이 더 필요한데 갚을 재원인 이익은 줄고 있는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상환 체력입니다. 은행은 이익 규모보다 "그 이익으로 빚을 갚을 수 있나"를 봅니다. 빚 부담이 가장 큰 곳은 코스맥스로 부채비율 276.1%, 유동비율 90.1%입니다. 유동비율이 100%보다 낮다는 건 1년 안에 갚을 빚이 1년 안에 현금이 될 자산보다 많다는 뜻입니다. 이자보상배율은 아모레퍼시픽 순현금, 코스맥스 4.3배, 에이피알 순현금입니다.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신용 리스크입니다. 에이피알은 매출의 92.0%가 해외라 환율이나 관세, 아마존 같은 채널 정책 변화에 가장 민감합니다. 코스맥스는 증권사들이 유일하게 이익 감소를 예상하는 회사입니다. 주가 변동성도 에이피알이 가장 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시장 평가입니다. PER은 아모레퍼시픽이 34.5배로 가장 높고, 이익 점유 1위인 에이피알은 31.4배, PEG는 PER을 앞으로의 이익 증가율로 나눈 값으로, 성장 속도를 감안한 주가 수준입니다. 1보다 낮을수록 성장에 비해 주가 부담이 작다는 뜻인데, 에이피알이 0.85로 가장 낮습니다. 은행은 이런 시장 신호를 참고는 하지만, 판단은 상환 능력 중심으로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은행의 판단입니다. 상환 능력, 재무 안정성, 현금 창출, 수익성, 편중 리스크 다섯 영역을 1점에서 5점으로 채점하고 가중 평균했습니다. 실제 은행 기준이 아니라 과제용 단순 기준이고, 세 회사끼리 비교한 게 아니라 절대 구간으로 채점했습니다. 비율은 이렇게 정했습니다. 은행이 가장 먼저 묻는 질문이 "이자를 갚을 수 있나"라서 상환 능력에 30%를 주고, 해외 매출은 붐의 원천이면서 위험 요인이라 편중 리스크는 10%로 가장 낮게, 나머지 세 영역은 우열을 가리기 어려워 20%씩 똑같이 나눴습니다. 결과는 아모레퍼시픽 4.30점 A등급, 코스맥스 2.60점 C등급, 에이피알 3.80점 B등급입니다. 가중치를 모두 20%로 똑같이 바꿔도 순위는 그대로입니다.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회사를 투자자의 눈과 은행의 눈으로 보면 순위가 바뀝니다. 투자자 관점에서는 에이피알이 1위지만, 은행 스코어카드로는 아모레퍼시픽이 1위입니다. 순위가 뒤집히는 것 자체가 저희 결론입니다.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은행은 기업마다 다른 금융을 제안해야 합니다. 에이피알에는 환헤지와 해외 결제 같은 외환·자금관리, 코스맥스에는 운전·시설자금 대출과 이익률 약정 관리, 아모레퍼시픽에는 자금 운용과 사업 재편 자금이 핵심입니다. 이 매핑은 재무 특징에서 도출한 가설이고, 실제 거래 현황과는 무관합니다.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결과는 파이썬 Streamlit 앱으로 볼 수 있습니다. 왼쪽에서 종목을 고르면 시세, 재무지표, 은행 여신 지표가 바뀌고, 스코어카드 탭에서는 가중치 슬라이더를 움직이면 등급이 바로 다시 계산됩니다. 은행마다 중요하게 보는 기준이 다를 수 있다는 점을 보여주려고 넣었습니다. (여기서 앱으로 전환해 시연 — 대본 PDF 2장 참고)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같은 수출 붐이라도 은행에게 좋은 고객의 조건은 다릅니다. 성장이 가장 빠른 회사가 곧 가장 안전한 차주는 아니고, 은행은 성장성과 상환 능력, 편중 리스크를 함께 보고 기업마다 다른 금융을 제안해야 합니다. 다만 스코어카드는 과제용 기준이고 금융 제안은 가설이라는 한계가 있습니다.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A22"/>
        </a:solidFill>
      </p:bgPr>
    </p:bg>
    <p:spTree>
      <p:nvGrpSpPr>
        <p:cNvPr id="1" name=""/>
        <p:cNvGrpSpPr/>
        <p:nvPr/>
      </p:nvGrpSpPr>
      <p:grpSpPr>
        <a:xfrm>
          <a:off x="0" y="0"/>
          <a:ext cx="0" cy="0"/>
          <a:chOff x="0" y="0"/>
          <a:chExt cx="0" cy="0"/>
        </a:xfrm>
      </p:grpSpPr>
      <p:sp>
        <p:nvSpPr>
          <p:cNvPr id="2" name="Text 0"/>
          <p:cNvSpPr txBox="1"/>
          <p:nvPr/>
        </p:nvSpPr>
        <p:spPr>
          <a:xfrm>
            <a:off x="640080" y="731520"/>
            <a:ext cx="7315200" cy="320040"/>
          </a:xfrm>
          <a:prstGeom prst="rect">
            <a:avLst/>
          </a:prstGeom>
          <a:noFill/>
          <a:ln/>
        </p:spPr>
        <p:txBody>
          <a:bodyPr wrap="square" lIns="0" tIns="0" rIns="0" bIns="0" rtlCol="0" anchor="t"/>
          <a:lstStyle/>
          <a:p>
            <a:pPr indent="0" marL="0">
              <a:buNone/>
            </a:pPr>
            <a:r>
              <a:rPr lang="en-US" sz="1300" b="1" dirty="0">
                <a:solidFill>
                  <a:srgbClr val="9AA3B2"/>
                </a:solidFill>
                <a:latin typeface="Malgun Gothic" pitchFamily="34" charset="0"/>
                <a:ea typeface="Malgun Gothic" pitchFamily="34" charset="-122"/>
                <a:cs typeface="Malgun Gothic" pitchFamily="34" charset="-120"/>
              </a:rPr>
              <a:t>MODULE 04 · MINI PROJECT 01   |   2조</a:t>
            </a:r>
            <a:endParaRPr lang="en-US" sz="1300" dirty="0"/>
          </a:p>
        </p:txBody>
      </p:sp>
      <p:sp>
        <p:nvSpPr>
          <p:cNvPr id="3" name="Text 1"/>
          <p:cNvSpPr txBox="1"/>
          <p:nvPr/>
        </p:nvSpPr>
        <p:spPr>
          <a:xfrm>
            <a:off x="640080" y="1463040"/>
            <a:ext cx="10515600" cy="1737360"/>
          </a:xfrm>
          <a:prstGeom prst="rect">
            <a:avLst/>
          </a:prstGeom>
          <a:noFill/>
          <a:ln/>
        </p:spPr>
        <p:txBody>
          <a:bodyPr wrap="square" lIns="0" tIns="0" rIns="0" bIns="0" rtlCol="0" anchor="t"/>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K-뷰티 수출 붐,</a:t>
            </a:r>
            <a:endParaRPr lang="en-US" sz="4800" dirty="0"/>
          </a:p>
          <a:p>
            <a:pPr indent="0" marL="0">
              <a:buNone/>
            </a:pPr>
            <a:r>
              <a:rPr lang="en-US" sz="4800" b="1" dirty="0">
                <a:solidFill>
                  <a:srgbClr val="FFFFFF"/>
                </a:solidFill>
                <a:latin typeface="Malgun Gothic" pitchFamily="34" charset="0"/>
                <a:ea typeface="Malgun Gothic" pitchFamily="34" charset="-122"/>
                <a:cs typeface="Malgun Gothic" pitchFamily="34" charset="-120"/>
              </a:rPr>
              <a:t>은행의 눈으로 본 3사</a:t>
            </a:r>
            <a:endParaRPr lang="en-US" sz="4800" dirty="0"/>
          </a:p>
        </p:txBody>
      </p:sp>
      <p:sp>
        <p:nvSpPr>
          <p:cNvPr id="4" name="Text 2"/>
          <p:cNvSpPr txBox="1"/>
          <p:nvPr/>
        </p:nvSpPr>
        <p:spPr>
          <a:xfrm>
            <a:off x="640080" y="3337560"/>
            <a:ext cx="10058400" cy="548640"/>
          </a:xfrm>
          <a:prstGeom prst="rect">
            <a:avLst/>
          </a:prstGeom>
          <a:noFill/>
          <a:ln/>
        </p:spPr>
        <p:txBody>
          <a:bodyPr wrap="square" lIns="0" tIns="0" rIns="0" bIns="0" rtlCol="0" anchor="t"/>
          <a:lstStyle/>
          <a:p>
            <a:pPr indent="0" marL="0">
              <a:buNone/>
            </a:pPr>
            <a:r>
              <a:rPr lang="en-US" sz="2200" dirty="0">
                <a:solidFill>
                  <a:srgbClr val="D5DAE3"/>
                </a:solidFill>
                <a:latin typeface="Malgun Gothic" pitchFamily="34" charset="0"/>
                <a:ea typeface="Malgun Gothic" pitchFamily="34" charset="-122"/>
                <a:cs typeface="Malgun Gothic" pitchFamily="34" charset="-120"/>
              </a:rPr>
              <a:t>이 붐을 만드는 3사는 은행 입장에서 믿을 만한 고객인가?</a:t>
            </a:r>
            <a:endParaRPr lang="en-US" sz="2200" dirty="0"/>
          </a:p>
        </p:txBody>
      </p:sp>
      <p:sp>
        <p:nvSpPr>
          <p:cNvPr id="5" name="Shape 3"/>
          <p:cNvSpPr/>
          <p:nvPr/>
        </p:nvSpPr>
        <p:spPr>
          <a:xfrm>
            <a:off x="640080" y="4315968"/>
            <a:ext cx="201168" cy="201168"/>
          </a:xfrm>
          <a:prstGeom prst="ellipse">
            <a:avLst/>
          </a:prstGeom>
          <a:solidFill>
            <a:srgbClr val="EB6834"/>
          </a:solidFill>
          <a:ln w="12700">
            <a:solidFill>
              <a:srgbClr val="EB6834"/>
            </a:solidFill>
            <a:prstDash val="solid"/>
          </a:ln>
        </p:spPr>
      </p:sp>
      <p:sp>
        <p:nvSpPr>
          <p:cNvPr id="6" name="Text 4"/>
          <p:cNvSpPr txBox="1"/>
          <p:nvPr/>
        </p:nvSpPr>
        <p:spPr>
          <a:xfrm>
            <a:off x="960120" y="4233672"/>
            <a:ext cx="2834640" cy="365760"/>
          </a:xfrm>
          <a:prstGeom prst="rect">
            <a:avLst/>
          </a:prstGeom>
          <a:noFill/>
          <a:ln/>
        </p:spPr>
        <p:txBody>
          <a:bodyPr wrap="square" lIns="0" tIns="0" rIns="0" bIns="0" rtlCol="0" anchor="t"/>
          <a:lstStyle/>
          <a:p>
            <a:pPr indent="0" marL="0">
              <a:buNone/>
            </a:pPr>
            <a:r>
              <a:rPr lang="en-US" sz="1800" b="1" dirty="0">
                <a:solidFill>
                  <a:srgbClr val="FFFFFF"/>
                </a:solidFill>
                <a:latin typeface="Malgun Gothic" pitchFamily="34" charset="0"/>
                <a:ea typeface="Malgun Gothic" pitchFamily="34" charset="-122"/>
                <a:cs typeface="Malgun Gothic" pitchFamily="34" charset="-120"/>
              </a:rPr>
              <a:t>아모레퍼시픽</a:t>
            </a:r>
            <a:endParaRPr lang="en-US" sz="1800" dirty="0"/>
          </a:p>
        </p:txBody>
      </p:sp>
      <p:sp>
        <p:nvSpPr>
          <p:cNvPr id="7" name="Text 5"/>
          <p:cNvSpPr txBox="1"/>
          <p:nvPr/>
        </p:nvSpPr>
        <p:spPr>
          <a:xfrm>
            <a:off x="960120" y="4617720"/>
            <a:ext cx="2926080" cy="320040"/>
          </a:xfrm>
          <a:prstGeom prst="rect">
            <a:avLst/>
          </a:prstGeom>
          <a:noFill/>
          <a:ln/>
        </p:spPr>
        <p:txBody>
          <a:bodyPr wrap="square" lIns="0" tIns="0" rIns="0" bIns="0" rtlCol="0" anchor="t"/>
          <a:lstStyle/>
          <a:p>
            <a:pPr indent="0" marL="0">
              <a:buNone/>
            </a:pPr>
            <a:r>
              <a:rPr lang="en-US" sz="1200" dirty="0">
                <a:solidFill>
                  <a:srgbClr val="9AA3B2"/>
                </a:solidFill>
                <a:latin typeface="Malgun Gothic" pitchFamily="34" charset="0"/>
                <a:ea typeface="Malgun Gothic" pitchFamily="34" charset="-122"/>
                <a:cs typeface="Malgun Gothic" pitchFamily="34" charset="-120"/>
              </a:rPr>
              <a:t>브랜드 · 주 수익원 기준</a:t>
            </a:r>
            <a:endParaRPr lang="en-US" sz="1200" dirty="0"/>
          </a:p>
        </p:txBody>
      </p:sp>
      <p:sp>
        <p:nvSpPr>
          <p:cNvPr id="8" name="Shape 6"/>
          <p:cNvSpPr/>
          <p:nvPr/>
        </p:nvSpPr>
        <p:spPr>
          <a:xfrm>
            <a:off x="3931920" y="4315968"/>
            <a:ext cx="201168" cy="201168"/>
          </a:xfrm>
          <a:prstGeom prst="ellipse">
            <a:avLst/>
          </a:prstGeom>
          <a:solidFill>
            <a:srgbClr val="1BAF7A"/>
          </a:solidFill>
          <a:ln w="12700">
            <a:solidFill>
              <a:srgbClr val="1BAF7A"/>
            </a:solidFill>
            <a:prstDash val="solid"/>
          </a:ln>
        </p:spPr>
      </p:sp>
      <p:sp>
        <p:nvSpPr>
          <p:cNvPr id="9" name="Text 7"/>
          <p:cNvSpPr txBox="1"/>
          <p:nvPr/>
        </p:nvSpPr>
        <p:spPr>
          <a:xfrm>
            <a:off x="4251960" y="4233672"/>
            <a:ext cx="2834640" cy="365760"/>
          </a:xfrm>
          <a:prstGeom prst="rect">
            <a:avLst/>
          </a:prstGeom>
          <a:noFill/>
          <a:ln/>
        </p:spPr>
        <p:txBody>
          <a:bodyPr wrap="square" lIns="0" tIns="0" rIns="0" bIns="0" rtlCol="0" anchor="t"/>
          <a:lstStyle/>
          <a:p>
            <a:pPr indent="0" marL="0">
              <a:buNone/>
            </a:pPr>
            <a:r>
              <a:rPr lang="en-US" sz="1800" b="1" dirty="0">
                <a:solidFill>
                  <a:srgbClr val="FFFFFF"/>
                </a:solidFill>
                <a:latin typeface="Malgun Gothic" pitchFamily="34" charset="0"/>
                <a:ea typeface="Malgun Gothic" pitchFamily="34" charset="-122"/>
                <a:cs typeface="Malgun Gothic" pitchFamily="34" charset="-120"/>
              </a:rPr>
              <a:t>코스맥스</a:t>
            </a:r>
            <a:endParaRPr lang="en-US" sz="1800" dirty="0"/>
          </a:p>
        </p:txBody>
      </p:sp>
      <p:sp>
        <p:nvSpPr>
          <p:cNvPr id="10" name="Text 8"/>
          <p:cNvSpPr txBox="1"/>
          <p:nvPr/>
        </p:nvSpPr>
        <p:spPr>
          <a:xfrm>
            <a:off x="4251960" y="4617720"/>
            <a:ext cx="2926080" cy="320040"/>
          </a:xfrm>
          <a:prstGeom prst="rect">
            <a:avLst/>
          </a:prstGeom>
          <a:noFill/>
          <a:ln/>
        </p:spPr>
        <p:txBody>
          <a:bodyPr wrap="square" lIns="0" tIns="0" rIns="0" bIns="0" rtlCol="0" anchor="t"/>
          <a:lstStyle/>
          <a:p>
            <a:pPr indent="0" marL="0">
              <a:buNone/>
            </a:pPr>
            <a:r>
              <a:rPr lang="en-US" sz="1200" dirty="0">
                <a:solidFill>
                  <a:srgbClr val="9AA3B2"/>
                </a:solidFill>
                <a:latin typeface="Malgun Gothic" pitchFamily="34" charset="0"/>
                <a:ea typeface="Malgun Gothic" pitchFamily="34" charset="-122"/>
                <a:cs typeface="Malgun Gothic" pitchFamily="34" charset="-120"/>
              </a:rPr>
              <a:t>ODM(제조) · 주 수익원 기준</a:t>
            </a:r>
            <a:endParaRPr lang="en-US" sz="1200" dirty="0"/>
          </a:p>
        </p:txBody>
      </p:sp>
      <p:sp>
        <p:nvSpPr>
          <p:cNvPr id="11" name="Shape 9"/>
          <p:cNvSpPr/>
          <p:nvPr/>
        </p:nvSpPr>
        <p:spPr>
          <a:xfrm>
            <a:off x="7223760" y="4315968"/>
            <a:ext cx="201168" cy="201168"/>
          </a:xfrm>
          <a:prstGeom prst="ellipse">
            <a:avLst/>
          </a:prstGeom>
          <a:solidFill>
            <a:srgbClr val="2A78D6"/>
          </a:solidFill>
          <a:ln w="12700">
            <a:solidFill>
              <a:srgbClr val="2A78D6"/>
            </a:solidFill>
            <a:prstDash val="solid"/>
          </a:ln>
        </p:spPr>
      </p:sp>
      <p:sp>
        <p:nvSpPr>
          <p:cNvPr id="12" name="Text 10"/>
          <p:cNvSpPr txBox="1"/>
          <p:nvPr/>
        </p:nvSpPr>
        <p:spPr>
          <a:xfrm>
            <a:off x="7543800" y="4233672"/>
            <a:ext cx="2834640" cy="365760"/>
          </a:xfrm>
          <a:prstGeom prst="rect">
            <a:avLst/>
          </a:prstGeom>
          <a:noFill/>
          <a:ln/>
        </p:spPr>
        <p:txBody>
          <a:bodyPr wrap="square" lIns="0" tIns="0" rIns="0" bIns="0" rtlCol="0" anchor="t"/>
          <a:lstStyle/>
          <a:p>
            <a:pPr indent="0" marL="0">
              <a:buNone/>
            </a:pPr>
            <a:r>
              <a:rPr lang="en-US" sz="1800" b="1" dirty="0">
                <a:solidFill>
                  <a:srgbClr val="FFFFFF"/>
                </a:solidFill>
                <a:latin typeface="Malgun Gothic" pitchFamily="34" charset="0"/>
                <a:ea typeface="Malgun Gothic" pitchFamily="34" charset="-122"/>
                <a:cs typeface="Malgun Gothic" pitchFamily="34" charset="-120"/>
              </a:rPr>
              <a:t>에이피알</a:t>
            </a:r>
            <a:endParaRPr lang="en-US" sz="1800" dirty="0"/>
          </a:p>
        </p:txBody>
      </p:sp>
      <p:sp>
        <p:nvSpPr>
          <p:cNvPr id="13" name="Text 11"/>
          <p:cNvSpPr txBox="1"/>
          <p:nvPr/>
        </p:nvSpPr>
        <p:spPr>
          <a:xfrm>
            <a:off x="7543800" y="4617720"/>
            <a:ext cx="2926080" cy="320040"/>
          </a:xfrm>
          <a:prstGeom prst="rect">
            <a:avLst/>
          </a:prstGeom>
          <a:noFill/>
          <a:ln/>
        </p:spPr>
        <p:txBody>
          <a:bodyPr wrap="square" lIns="0" tIns="0" rIns="0" bIns="0" rtlCol="0" anchor="t"/>
          <a:lstStyle/>
          <a:p>
            <a:pPr indent="0" marL="0">
              <a:buNone/>
            </a:pPr>
            <a:r>
              <a:rPr lang="en-US" sz="1200" dirty="0">
                <a:solidFill>
                  <a:srgbClr val="9AA3B2"/>
                </a:solidFill>
                <a:latin typeface="Malgun Gothic" pitchFamily="34" charset="0"/>
                <a:ea typeface="Malgun Gothic" pitchFamily="34" charset="-122"/>
                <a:cs typeface="Malgun Gothic" pitchFamily="34" charset="-120"/>
              </a:rPr>
              <a:t>글로벌 브랜드(D2C 출발) · 주 수익원 기준</a:t>
            </a:r>
            <a:endParaRPr lang="en-US" sz="1200" dirty="0"/>
          </a:p>
        </p:txBody>
      </p:sp>
      <p:sp>
        <p:nvSpPr>
          <p:cNvPr id="14" name="Text 12"/>
          <p:cNvSpPr txBox="1"/>
          <p:nvPr/>
        </p:nvSpPr>
        <p:spPr>
          <a:xfrm>
            <a:off x="640080" y="5852160"/>
            <a:ext cx="8229600" cy="320040"/>
          </a:xfrm>
          <a:prstGeom prst="rect">
            <a:avLst/>
          </a:prstGeom>
          <a:noFill/>
          <a:ln/>
        </p:spPr>
        <p:txBody>
          <a:bodyPr wrap="square" lIns="0" tIns="0" rIns="0" bIns="0" rtlCol="0" anchor="t"/>
          <a:lstStyle/>
          <a:p>
            <a:pPr indent="0" marL="0">
              <a:buNone/>
            </a:pPr>
            <a:r>
              <a:rPr lang="en-US" sz="1300" dirty="0">
                <a:solidFill>
                  <a:srgbClr val="9AA3B2"/>
                </a:solidFill>
                <a:latin typeface="Malgun Gothic" pitchFamily="34" charset="0"/>
                <a:ea typeface="Malgun Gothic" pitchFamily="34" charset="-122"/>
                <a:cs typeface="Malgun Gothic" pitchFamily="34" charset="-120"/>
              </a:rPr>
              <a:t>원승연(조장) · 조진영(발표) · 정지수 · 조윤호 · 김동민 · 김민지</a:t>
            </a:r>
            <a:endParaRPr lang="en-US" sz="1300" dirty="0"/>
          </a:p>
        </p:txBody>
      </p:sp>
      <p:sp>
        <p:nvSpPr>
          <p:cNvPr id="15" name="Text 13"/>
          <p:cNvSpPr txBox="1"/>
          <p:nvPr/>
        </p:nvSpPr>
        <p:spPr>
          <a:xfrm>
            <a:off x="9357055" y="5852160"/>
            <a:ext cx="2194560" cy="320040"/>
          </a:xfrm>
          <a:prstGeom prst="rect">
            <a:avLst/>
          </a:prstGeom>
          <a:noFill/>
          <a:ln/>
        </p:spPr>
        <p:txBody>
          <a:bodyPr wrap="square" lIns="0" tIns="0" rIns="0" bIns="0" rtlCol="0" anchor="t"/>
          <a:lstStyle/>
          <a:p>
            <a:pPr algn="r" indent="0" marL="0">
              <a:buNone/>
            </a:pPr>
            <a:r>
              <a:rPr lang="en-US" sz="1300" dirty="0">
                <a:solidFill>
                  <a:srgbClr val="9AA3B2"/>
                </a:solidFill>
                <a:latin typeface="Malgun Gothic" pitchFamily="34" charset="0"/>
                <a:ea typeface="Malgun Gothic" pitchFamily="34" charset="-122"/>
                <a:cs typeface="Malgun Gothic" pitchFamily="34" charset="-120"/>
              </a:rPr>
              <a:t>2026. 9. 29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배경 · 나라</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화장품 수출, 최근 1년 129억 달러</a:t>
            </a:r>
            <a:endParaRPr lang="en-US" sz="2800" dirty="0"/>
          </a:p>
        </p:txBody>
      </p:sp>
      <p:sp>
        <p:nvSpPr>
          <p:cNvPr id="5" name="Shape 3"/>
          <p:cNvSpPr/>
          <p:nvPr/>
        </p:nvSpPr>
        <p:spPr>
          <a:xfrm>
            <a:off x="548640" y="1600200"/>
            <a:ext cx="4754880" cy="4434840"/>
          </a:xfrm>
          <a:prstGeom prst="roundRect">
            <a:avLst>
              <a:gd name="adj" fmla="val 2474"/>
            </a:avLst>
          </a:prstGeom>
          <a:solidFill>
            <a:srgbClr val="F4F6F9"/>
          </a:solidFill>
          <a:ln w="12700">
            <a:solidFill>
              <a:srgbClr val="F4F6F9"/>
            </a:solidFill>
            <a:prstDash val="solid"/>
          </a:ln>
        </p:spPr>
      </p:sp>
      <p:sp>
        <p:nvSpPr>
          <p:cNvPr id="6" name="Text 4"/>
          <p:cNvSpPr txBox="1"/>
          <p:nvPr/>
        </p:nvSpPr>
        <p:spPr>
          <a:xfrm>
            <a:off x="914400" y="1874520"/>
            <a:ext cx="4206240" cy="1005840"/>
          </a:xfrm>
          <a:prstGeom prst="rect">
            <a:avLst/>
          </a:prstGeom>
          <a:noFill/>
          <a:ln/>
        </p:spPr>
        <p:txBody>
          <a:bodyPr wrap="square" lIns="0" tIns="0" rIns="0" bIns="0" rtlCol="0" anchor="t"/>
          <a:lstStyle/>
          <a:p>
            <a:pPr indent="0" marL="0">
              <a:buNone/>
            </a:pPr>
            <a:r>
              <a:rPr lang="en-US" sz="5000" b="1" dirty="0">
                <a:solidFill>
                  <a:srgbClr val="2A78D6"/>
                </a:solidFill>
                <a:latin typeface="Malgun Gothic" pitchFamily="34" charset="0"/>
                <a:ea typeface="Malgun Gothic" pitchFamily="34" charset="-122"/>
                <a:cs typeface="Malgun Gothic" pitchFamily="34" charset="-120"/>
              </a:rPr>
              <a:t>129억 달러</a:t>
            </a:r>
            <a:endParaRPr lang="en-US" sz="5000" dirty="0"/>
          </a:p>
        </p:txBody>
      </p:sp>
      <p:sp>
        <p:nvSpPr>
          <p:cNvPr id="7" name="Text 5"/>
          <p:cNvSpPr txBox="1"/>
          <p:nvPr/>
        </p:nvSpPr>
        <p:spPr>
          <a:xfrm>
            <a:off x="914400" y="2971800"/>
            <a:ext cx="4206240" cy="731520"/>
          </a:xfrm>
          <a:prstGeom prst="rect">
            <a:avLst/>
          </a:prstGeom>
          <a:noFill/>
          <a:ln/>
        </p:spPr>
        <p:txBody>
          <a:bodyPr wrap="square" lIns="0" tIns="0" rIns="0" bIns="0" rtlCol="0" anchor="t"/>
          <a:lstStyle/>
          <a:p>
            <a:pPr indent="0" marL="0">
              <a:buNone/>
            </a:pPr>
            <a:r>
              <a:rPr lang="en-US" sz="1500" dirty="0">
                <a:solidFill>
                  <a:srgbClr val="1D1D1B"/>
                </a:solidFill>
                <a:latin typeface="Malgun Gothic" pitchFamily="34" charset="0"/>
                <a:ea typeface="Malgun Gothic" pitchFamily="34" charset="-122"/>
                <a:cs typeface="Malgun Gothic" pitchFamily="34" charset="-120"/>
              </a:rPr>
              <a:t>최근 1년(2025.7~2026.6) 화장품 수출</a:t>
            </a:r>
            <a:endParaRPr lang="en-US" sz="1500" dirty="0"/>
          </a:p>
          <a:p>
            <a:pPr indent="0" marL="0">
              <a:buNone/>
            </a:pPr>
            <a:r>
              <a:rPr lang="en-US" sz="1500" dirty="0">
                <a:solidFill>
                  <a:srgbClr val="1D1D1B"/>
                </a:solidFill>
                <a:latin typeface="Malgun Gothic" pitchFamily="34" charset="0"/>
                <a:ea typeface="Malgun Gothic" pitchFamily="34" charset="-122"/>
                <a:cs typeface="Malgun Gothic" pitchFamily="34" charset="-120"/>
              </a:rPr>
              <a:t>재무 분석 기간(최근 4분기)과 같은 기간</a:t>
            </a:r>
            <a:endParaRPr lang="en-US" sz="1500" dirty="0"/>
          </a:p>
        </p:txBody>
      </p:sp>
      <p:sp>
        <p:nvSpPr>
          <p:cNvPr id="8" name="Text 6"/>
          <p:cNvSpPr txBox="1"/>
          <p:nvPr/>
        </p:nvSpPr>
        <p:spPr>
          <a:xfrm>
            <a:off x="914400" y="3840480"/>
            <a:ext cx="4206240" cy="548640"/>
          </a:xfrm>
          <a:prstGeom prst="rect">
            <a:avLst/>
          </a:prstGeom>
          <a:noFill/>
          <a:ln/>
        </p:spPr>
        <p:txBody>
          <a:bodyPr wrap="square" lIns="0" tIns="0" rIns="0" bIns="0" rtlCol="0" anchor="t"/>
          <a:lstStyle/>
          <a:p>
            <a:pPr indent="0" marL="0">
              <a:buNone/>
            </a:pPr>
            <a:r>
              <a:rPr lang="en-US" sz="1200" dirty="0">
                <a:solidFill>
                  <a:srgbClr val="6B6A66"/>
                </a:solidFill>
                <a:latin typeface="Malgun Gothic" pitchFamily="34" charset="0"/>
                <a:ea typeface="Malgun Gothic" pitchFamily="34" charset="-122"/>
                <a:cs typeface="Malgun Gothic" pitchFamily="34" charset="-120"/>
              </a:rPr>
              <a:t>2026년 상반기 70억 달러 (+27.3%)</a:t>
            </a:r>
            <a:endParaRPr lang="en-US" sz="1200" dirty="0"/>
          </a:p>
          <a:p>
            <a:pPr indent="0" marL="0">
              <a:buNone/>
            </a:pPr>
            <a:r>
              <a:rPr lang="en-US" sz="1200" dirty="0">
                <a:solidFill>
                  <a:srgbClr val="6B6A66"/>
                </a:solidFill>
                <a:latin typeface="Malgun Gothic" pitchFamily="34" charset="0"/>
                <a:ea typeface="Malgun Gothic" pitchFamily="34" charset="-122"/>
                <a:cs typeface="Malgun Gothic" pitchFamily="34" charset="-120"/>
              </a:rPr>
              <a:t>상반기 기준 역대 최대</a:t>
            </a:r>
            <a:endParaRPr lang="en-US" sz="1200" dirty="0"/>
          </a:p>
        </p:txBody>
      </p:sp>
      <p:sp>
        <p:nvSpPr>
          <p:cNvPr id="9" name="Text 7"/>
          <p:cNvSpPr txBox="1"/>
          <p:nvPr/>
        </p:nvSpPr>
        <p:spPr>
          <a:xfrm>
            <a:off x="914400" y="4800600"/>
            <a:ext cx="4206240" cy="822960"/>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그렇다면 은행은 이 붐을 만든 기업들에</a:t>
            </a:r>
            <a:endParaRPr lang="en-US" sz="1500" dirty="0"/>
          </a:p>
          <a:p>
            <a:pPr indent="0" marL="0">
              <a:buNone/>
            </a:pPr>
            <a:r>
              <a:rPr lang="en-US" sz="1500" b="1" dirty="0">
                <a:solidFill>
                  <a:srgbClr val="1D1D1B"/>
                </a:solidFill>
                <a:latin typeface="Malgun Gothic" pitchFamily="34" charset="0"/>
                <a:ea typeface="Malgun Gothic" pitchFamily="34" charset="-122"/>
                <a:cs typeface="Malgun Gothic" pitchFamily="34" charset="-120"/>
              </a:rPr>
              <a:t>얼마나, 어떻게 돈을 빌려줘야 할까?</a:t>
            </a:r>
            <a:endParaRPr lang="en-US" sz="1500" dirty="0"/>
          </a:p>
        </p:txBody>
      </p:sp>
      <p:sp>
        <p:nvSpPr>
          <p:cNvPr id="10" name="Text 8"/>
          <p:cNvSpPr txBox="1"/>
          <p:nvPr/>
        </p:nvSpPr>
        <p:spPr>
          <a:xfrm>
            <a:off x="5760720" y="1600200"/>
            <a:ext cx="5852160" cy="594360"/>
          </a:xfrm>
          <a:prstGeom prst="rect">
            <a:avLst/>
          </a:prstGeom>
          <a:noFill/>
          <a:ln/>
        </p:spPr>
        <p:txBody>
          <a:bodyPr wrap="square" lIns="0" tIns="0" rIns="0" bIns="0" rtlCol="0" anchor="t"/>
          <a:lstStyle/>
          <a:p>
            <a:pPr indent="0" marL="0">
              <a:buNone/>
            </a:pPr>
            <a:r>
              <a:rPr lang="en-US" sz="3000" b="1" dirty="0">
                <a:solidFill>
                  <a:srgbClr val="1D1D1B"/>
                </a:solidFill>
                <a:latin typeface="Malgun Gothic" pitchFamily="34" charset="0"/>
                <a:ea typeface="Malgun Gothic" pitchFamily="34" charset="-122"/>
                <a:cs typeface="Malgun Gothic" pitchFamily="34" charset="-120"/>
              </a:rPr>
              <a:t>101억 달러</a:t>
            </a:r>
            <a:endParaRPr lang="en-US" sz="3000" dirty="0"/>
          </a:p>
        </p:txBody>
      </p:sp>
      <p:sp>
        <p:nvSpPr>
          <p:cNvPr id="11" name="Text 9"/>
          <p:cNvSpPr txBox="1"/>
          <p:nvPr/>
        </p:nvSpPr>
        <p:spPr>
          <a:xfrm>
            <a:off x="5760720" y="2221992"/>
            <a:ext cx="5882335" cy="640080"/>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2025년 화장품 무역수지 흑자</a:t>
            </a:r>
            <a:endParaRPr lang="en-US" sz="1300" dirty="0"/>
          </a:p>
          <a:p>
            <a:pPr indent="0" marL="0">
              <a:buNone/>
            </a:pPr>
            <a:r>
              <a:rPr lang="en-US" sz="1300" dirty="0">
                <a:solidFill>
                  <a:srgbClr val="6B6A66"/>
                </a:solidFill>
                <a:latin typeface="Malgun Gothic" pitchFamily="34" charset="0"/>
                <a:ea typeface="Malgun Gothic" pitchFamily="34" charset="-122"/>
                <a:cs typeface="Malgun Gothic" pitchFamily="34" charset="-120"/>
              </a:rPr>
              <a:t>처음 100억 달러를 넘었고, 수출은 세계 2위</a:t>
            </a:r>
            <a:endParaRPr lang="en-US" sz="1300" dirty="0"/>
          </a:p>
        </p:txBody>
      </p:sp>
      <p:sp>
        <p:nvSpPr>
          <p:cNvPr id="12" name="Text 10"/>
          <p:cNvSpPr txBox="1"/>
          <p:nvPr/>
        </p:nvSpPr>
        <p:spPr>
          <a:xfrm>
            <a:off x="5760720" y="3081528"/>
            <a:ext cx="5852160" cy="594360"/>
          </a:xfrm>
          <a:prstGeom prst="rect">
            <a:avLst/>
          </a:prstGeom>
          <a:noFill/>
          <a:ln/>
        </p:spPr>
        <p:txBody>
          <a:bodyPr wrap="square" lIns="0" tIns="0" rIns="0" bIns="0" rtlCol="0" anchor="t"/>
          <a:lstStyle/>
          <a:p>
            <a:pPr indent="0" marL="0">
              <a:buNone/>
            </a:pPr>
            <a:r>
              <a:rPr lang="en-US" sz="3000" b="1" dirty="0">
                <a:solidFill>
                  <a:srgbClr val="1D1D1B"/>
                </a:solidFill>
                <a:latin typeface="Malgun Gothic" pitchFamily="34" charset="0"/>
                <a:ea typeface="Malgun Gothic" pitchFamily="34" charset="-122"/>
                <a:cs typeface="Malgun Gothic" pitchFamily="34" charset="-120"/>
              </a:rPr>
              <a:t>114억 달러</a:t>
            </a:r>
            <a:endParaRPr lang="en-US" sz="3000" dirty="0"/>
          </a:p>
        </p:txBody>
      </p:sp>
      <p:sp>
        <p:nvSpPr>
          <p:cNvPr id="13" name="Text 11"/>
          <p:cNvSpPr txBox="1"/>
          <p:nvPr/>
        </p:nvSpPr>
        <p:spPr>
          <a:xfrm>
            <a:off x="5760720" y="3703320"/>
            <a:ext cx="5882335" cy="640080"/>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2025년 화장품 수출 (+11.8%)</a:t>
            </a:r>
            <a:endParaRPr lang="en-US" sz="1300" dirty="0"/>
          </a:p>
          <a:p>
            <a:pPr indent="0" marL="0">
              <a:buNone/>
            </a:pPr>
            <a:r>
              <a:rPr lang="en-US" sz="1300" dirty="0">
                <a:solidFill>
                  <a:srgbClr val="6B6A66"/>
                </a:solidFill>
                <a:latin typeface="Malgun Gothic" pitchFamily="34" charset="0"/>
                <a:ea typeface="Malgun Gothic" pitchFamily="34" charset="-122"/>
                <a:cs typeface="Malgun Gothic" pitchFamily="34" charset="-120"/>
              </a:rPr>
              <a:t>미국 22억 · 중국 20억 · 일본 11억 달러</a:t>
            </a:r>
            <a:endParaRPr lang="en-US" sz="1300" dirty="0"/>
          </a:p>
        </p:txBody>
      </p:sp>
      <p:sp>
        <p:nvSpPr>
          <p:cNvPr id="14" name="Text 12"/>
          <p:cNvSpPr txBox="1"/>
          <p:nvPr/>
        </p:nvSpPr>
        <p:spPr>
          <a:xfrm>
            <a:off x="5760720" y="4562856"/>
            <a:ext cx="5852160" cy="594360"/>
          </a:xfrm>
          <a:prstGeom prst="rect">
            <a:avLst/>
          </a:prstGeom>
          <a:noFill/>
          <a:ln/>
        </p:spPr>
        <p:txBody>
          <a:bodyPr wrap="square" lIns="0" tIns="0" rIns="0" bIns="0" rtlCol="0" anchor="t"/>
          <a:lstStyle/>
          <a:p>
            <a:pPr indent="0" marL="0">
              <a:buNone/>
            </a:pPr>
            <a:r>
              <a:rPr lang="en-US" sz="3000" b="1" dirty="0">
                <a:solidFill>
                  <a:srgbClr val="1D1D1B"/>
                </a:solidFill>
                <a:latin typeface="Malgun Gothic" pitchFamily="34" charset="0"/>
                <a:ea typeface="Malgun Gothic" pitchFamily="34" charset="-122"/>
                <a:cs typeface="Malgun Gothic" pitchFamily="34" charset="-120"/>
              </a:rPr>
              <a:t>미국 +41.5%</a:t>
            </a:r>
            <a:endParaRPr lang="en-US" sz="3000" dirty="0"/>
          </a:p>
        </p:txBody>
      </p:sp>
      <p:sp>
        <p:nvSpPr>
          <p:cNvPr id="15" name="Text 13"/>
          <p:cNvSpPr txBox="1"/>
          <p:nvPr/>
        </p:nvSpPr>
        <p:spPr>
          <a:xfrm>
            <a:off x="5760720" y="5184648"/>
            <a:ext cx="5882335" cy="640080"/>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2026년 상반기 대미 수출 14.5억 달러 (중국 −6.6%)</a:t>
            </a:r>
            <a:endParaRPr lang="en-US" sz="1300" dirty="0"/>
          </a:p>
          <a:p>
            <a:pPr indent="0" marL="0">
              <a:buNone/>
            </a:pPr>
            <a:r>
              <a:rPr lang="en-US" sz="1300" dirty="0">
                <a:solidFill>
                  <a:srgbClr val="6B6A66"/>
                </a:solidFill>
                <a:latin typeface="Malgun Gothic" pitchFamily="34" charset="0"/>
                <a:ea typeface="Malgun Gothic" pitchFamily="34" charset="-122"/>
                <a:cs typeface="Malgun Gothic" pitchFamily="34" charset="-120"/>
              </a:rPr>
              <a:t>1위 시장이 중국에서 미국으로 바뀌며 수출 지역이 넓어짐</a:t>
            </a:r>
            <a:endParaRPr lang="en-US" sz="1300" dirty="0"/>
          </a:p>
        </p:txBody>
      </p:sp>
      <p:sp>
        <p:nvSpPr>
          <p:cNvPr id="16" name="Text 14"/>
          <p:cNvSpPr txBox="1"/>
          <p:nvPr/>
        </p:nvSpPr>
        <p:spPr>
          <a:xfrm>
            <a:off x="548640" y="6254496"/>
            <a:ext cx="10545775" cy="374904"/>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출처: 식품의약품안전처 발표 — 2025년 연간·흑자(뉴스핌 2026.5.22), 2026년 상반기(한국경제 2026.7.2)</a:t>
            </a:r>
            <a:endParaRPr lang="en-US" sz="900" dirty="0"/>
          </a:p>
          <a:p>
            <a:pPr indent="0" marL="0">
              <a:buNone/>
            </a:pPr>
            <a:r>
              <a:rPr lang="en-US" sz="900" dirty="0">
                <a:solidFill>
                  <a:srgbClr val="6B6A66"/>
                </a:solidFill>
                <a:latin typeface="Malgun Gothic" pitchFamily="34" charset="0"/>
                <a:ea typeface="Malgun Gothic" pitchFamily="34" charset="-122"/>
                <a:cs typeface="Malgun Gothic" pitchFamily="34" charset="-120"/>
              </a:rPr>
              <a:t>최근 1년 = 2025년 연간 114억 − 2025년 상반기 55억 + 2026년 상반기 70억 (식약처 발표치로 계산)</a:t>
            </a:r>
            <a:endParaRPr lang="en-US" sz="900" dirty="0"/>
          </a:p>
        </p:txBody>
      </p:sp>
      <p:sp>
        <p:nvSpPr>
          <p:cNvPr id="17" name="Text 15"/>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배경 · 은행</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수출이 늘면 은행 수요도 늘어난다</a:t>
            </a:r>
            <a:endParaRPr lang="en-US" sz="2800" dirty="0"/>
          </a:p>
        </p:txBody>
      </p:sp>
      <p:sp>
        <p:nvSpPr>
          <p:cNvPr id="5" name="Shape 3"/>
          <p:cNvSpPr/>
          <p:nvPr/>
        </p:nvSpPr>
        <p:spPr>
          <a:xfrm>
            <a:off x="548640" y="1572768"/>
            <a:ext cx="5120640" cy="640080"/>
          </a:xfrm>
          <a:prstGeom prst="roundRect">
            <a:avLst>
              <a:gd name="adj" fmla="val 17143"/>
            </a:avLst>
          </a:prstGeom>
          <a:solidFill>
            <a:srgbClr val="F4F6F9"/>
          </a:solidFill>
          <a:ln w="12700">
            <a:solidFill>
              <a:srgbClr val="F4F6F9"/>
            </a:solidFill>
            <a:prstDash val="solid"/>
          </a:ln>
        </p:spPr>
      </p:sp>
      <p:sp>
        <p:nvSpPr>
          <p:cNvPr id="6" name="Text 4"/>
          <p:cNvSpPr txBox="1"/>
          <p:nvPr/>
        </p:nvSpPr>
        <p:spPr>
          <a:xfrm>
            <a:off x="822960" y="1572768"/>
            <a:ext cx="4663440" cy="640080"/>
          </a:xfrm>
          <a:prstGeom prst="rect">
            <a:avLst/>
          </a:prstGeom>
          <a:noFill/>
          <a:ln/>
        </p:spPr>
        <p:txBody>
          <a:bodyPr wrap="square" lIns="0" tIns="0" rIns="0" bIns="0" rtlCol="0" anchor="ctr"/>
          <a:lstStyle/>
          <a:p>
            <a:pPr indent="0" marL="0">
              <a:buNone/>
            </a:pPr>
            <a:r>
              <a:rPr lang="en-US" sz="1500" dirty="0">
                <a:solidFill>
                  <a:srgbClr val="1D1D1B"/>
                </a:solidFill>
                <a:latin typeface="Malgun Gothic" pitchFamily="34" charset="0"/>
                <a:ea typeface="Malgun Gothic" pitchFamily="34" charset="-122"/>
                <a:cs typeface="Malgun Gothic" pitchFamily="34" charset="-120"/>
              </a:rPr>
              <a:t>외화 유입</a:t>
            </a:r>
            <a:endParaRPr lang="en-US" sz="1500" dirty="0"/>
          </a:p>
        </p:txBody>
      </p:sp>
      <p:sp>
        <p:nvSpPr>
          <p:cNvPr id="7" name="Text 5"/>
          <p:cNvSpPr txBox="1"/>
          <p:nvPr/>
        </p:nvSpPr>
        <p:spPr>
          <a:xfrm>
            <a:off x="5760720" y="1572768"/>
            <a:ext cx="457200" cy="640080"/>
          </a:xfrm>
          <a:prstGeom prst="rect">
            <a:avLst/>
          </a:prstGeom>
          <a:noFill/>
          <a:ln/>
        </p:spPr>
        <p:txBody>
          <a:bodyPr wrap="square" lIns="0" tIns="0" rIns="0" bIns="0" rtlCol="0" anchor="ctr"/>
          <a:lstStyle/>
          <a:p>
            <a:pPr algn="ctr" indent="0" marL="0">
              <a:buNone/>
            </a:pPr>
            <a:r>
              <a:rPr lang="en-US" sz="2000" dirty="0">
                <a:solidFill>
                  <a:srgbClr val="6B6A66"/>
                </a:solidFill>
                <a:latin typeface="Malgun Gothic" pitchFamily="34" charset="0"/>
                <a:ea typeface="Malgun Gothic" pitchFamily="34" charset="-122"/>
                <a:cs typeface="Malgun Gothic" pitchFamily="34" charset="-120"/>
              </a:rPr>
              <a:t>→</a:t>
            </a:r>
            <a:endParaRPr lang="en-US" sz="2000" dirty="0"/>
          </a:p>
        </p:txBody>
      </p:sp>
      <p:sp>
        <p:nvSpPr>
          <p:cNvPr id="8" name="Shape 6"/>
          <p:cNvSpPr/>
          <p:nvPr/>
        </p:nvSpPr>
        <p:spPr>
          <a:xfrm>
            <a:off x="6309360" y="1572768"/>
            <a:ext cx="5333695" cy="640080"/>
          </a:xfrm>
          <a:prstGeom prst="roundRect">
            <a:avLst>
              <a:gd name="adj" fmla="val 17143"/>
            </a:avLst>
          </a:prstGeom>
          <a:solidFill>
            <a:srgbClr val="E6EFFB"/>
          </a:solidFill>
          <a:ln w="12700">
            <a:solidFill>
              <a:srgbClr val="E6EFFB"/>
            </a:solidFill>
            <a:prstDash val="solid"/>
          </a:ln>
        </p:spPr>
      </p:sp>
      <p:sp>
        <p:nvSpPr>
          <p:cNvPr id="9" name="Text 7"/>
          <p:cNvSpPr txBox="1"/>
          <p:nvPr/>
        </p:nvSpPr>
        <p:spPr>
          <a:xfrm>
            <a:off x="6583680" y="1572768"/>
            <a:ext cx="4785055" cy="64008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외화예금 · 환전</a:t>
            </a:r>
            <a:endParaRPr lang="en-US" sz="1500" dirty="0"/>
          </a:p>
        </p:txBody>
      </p:sp>
      <p:sp>
        <p:nvSpPr>
          <p:cNvPr id="10" name="Shape 8"/>
          <p:cNvSpPr/>
          <p:nvPr/>
        </p:nvSpPr>
        <p:spPr>
          <a:xfrm>
            <a:off x="548640" y="2359152"/>
            <a:ext cx="5120640" cy="640080"/>
          </a:xfrm>
          <a:prstGeom prst="roundRect">
            <a:avLst>
              <a:gd name="adj" fmla="val 17143"/>
            </a:avLst>
          </a:prstGeom>
          <a:solidFill>
            <a:srgbClr val="F4F6F9"/>
          </a:solidFill>
          <a:ln w="12700">
            <a:solidFill>
              <a:srgbClr val="F4F6F9"/>
            </a:solidFill>
            <a:prstDash val="solid"/>
          </a:ln>
        </p:spPr>
      </p:sp>
      <p:sp>
        <p:nvSpPr>
          <p:cNvPr id="11" name="Text 9"/>
          <p:cNvSpPr txBox="1"/>
          <p:nvPr/>
        </p:nvSpPr>
        <p:spPr>
          <a:xfrm>
            <a:off x="822960" y="2359152"/>
            <a:ext cx="4663440" cy="640080"/>
          </a:xfrm>
          <a:prstGeom prst="rect">
            <a:avLst/>
          </a:prstGeom>
          <a:noFill/>
          <a:ln/>
        </p:spPr>
        <p:txBody>
          <a:bodyPr wrap="square" lIns="0" tIns="0" rIns="0" bIns="0" rtlCol="0" anchor="ctr"/>
          <a:lstStyle/>
          <a:p>
            <a:pPr indent="0" marL="0">
              <a:buNone/>
            </a:pPr>
            <a:r>
              <a:rPr lang="en-US" sz="1500" dirty="0">
                <a:solidFill>
                  <a:srgbClr val="1D1D1B"/>
                </a:solidFill>
                <a:latin typeface="Malgun Gothic" pitchFamily="34" charset="0"/>
                <a:ea typeface="Malgun Gothic" pitchFamily="34" charset="-122"/>
                <a:cs typeface="Malgun Gothic" pitchFamily="34" charset="-120"/>
              </a:rPr>
              <a:t>수출대금 결제</a:t>
            </a:r>
            <a:endParaRPr lang="en-US" sz="1500" dirty="0"/>
          </a:p>
        </p:txBody>
      </p:sp>
      <p:sp>
        <p:nvSpPr>
          <p:cNvPr id="12" name="Text 10"/>
          <p:cNvSpPr txBox="1"/>
          <p:nvPr/>
        </p:nvSpPr>
        <p:spPr>
          <a:xfrm>
            <a:off x="5760720" y="2359152"/>
            <a:ext cx="457200" cy="640080"/>
          </a:xfrm>
          <a:prstGeom prst="rect">
            <a:avLst/>
          </a:prstGeom>
          <a:noFill/>
          <a:ln/>
        </p:spPr>
        <p:txBody>
          <a:bodyPr wrap="square" lIns="0" tIns="0" rIns="0" bIns="0" rtlCol="0" anchor="ctr"/>
          <a:lstStyle/>
          <a:p>
            <a:pPr algn="ctr" indent="0" marL="0">
              <a:buNone/>
            </a:pPr>
            <a:r>
              <a:rPr lang="en-US" sz="2000" dirty="0">
                <a:solidFill>
                  <a:srgbClr val="6B6A66"/>
                </a:solidFill>
                <a:latin typeface="Malgun Gothic" pitchFamily="34" charset="0"/>
                <a:ea typeface="Malgun Gothic" pitchFamily="34" charset="-122"/>
                <a:cs typeface="Malgun Gothic" pitchFamily="34" charset="-120"/>
              </a:rPr>
              <a:t>→</a:t>
            </a:r>
            <a:endParaRPr lang="en-US" sz="2000" dirty="0"/>
          </a:p>
        </p:txBody>
      </p:sp>
      <p:sp>
        <p:nvSpPr>
          <p:cNvPr id="13" name="Shape 11"/>
          <p:cNvSpPr/>
          <p:nvPr/>
        </p:nvSpPr>
        <p:spPr>
          <a:xfrm>
            <a:off x="6309360" y="2359152"/>
            <a:ext cx="5333695" cy="640080"/>
          </a:xfrm>
          <a:prstGeom prst="roundRect">
            <a:avLst>
              <a:gd name="adj" fmla="val 17143"/>
            </a:avLst>
          </a:prstGeom>
          <a:solidFill>
            <a:srgbClr val="E6EFFB"/>
          </a:solidFill>
          <a:ln w="12700">
            <a:solidFill>
              <a:srgbClr val="E6EFFB"/>
            </a:solidFill>
            <a:prstDash val="solid"/>
          </a:ln>
        </p:spPr>
      </p:sp>
      <p:sp>
        <p:nvSpPr>
          <p:cNvPr id="14" name="Text 12"/>
          <p:cNvSpPr txBox="1"/>
          <p:nvPr/>
        </p:nvSpPr>
        <p:spPr>
          <a:xfrm>
            <a:off x="6583680" y="2359152"/>
            <a:ext cx="4785055" cy="64008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수출환어음 매입 · 무역금융</a:t>
            </a:r>
            <a:endParaRPr lang="en-US" sz="1500" dirty="0"/>
          </a:p>
        </p:txBody>
      </p:sp>
      <p:sp>
        <p:nvSpPr>
          <p:cNvPr id="15" name="Shape 13"/>
          <p:cNvSpPr/>
          <p:nvPr/>
        </p:nvSpPr>
        <p:spPr>
          <a:xfrm>
            <a:off x="548640" y="3145536"/>
            <a:ext cx="5120640" cy="640080"/>
          </a:xfrm>
          <a:prstGeom prst="roundRect">
            <a:avLst>
              <a:gd name="adj" fmla="val 17143"/>
            </a:avLst>
          </a:prstGeom>
          <a:solidFill>
            <a:srgbClr val="F4F6F9"/>
          </a:solidFill>
          <a:ln w="12700">
            <a:solidFill>
              <a:srgbClr val="F4F6F9"/>
            </a:solidFill>
            <a:prstDash val="solid"/>
          </a:ln>
        </p:spPr>
      </p:sp>
      <p:sp>
        <p:nvSpPr>
          <p:cNvPr id="16" name="Text 14"/>
          <p:cNvSpPr txBox="1"/>
          <p:nvPr/>
        </p:nvSpPr>
        <p:spPr>
          <a:xfrm>
            <a:off x="822960" y="3145536"/>
            <a:ext cx="4663440" cy="640080"/>
          </a:xfrm>
          <a:prstGeom prst="rect">
            <a:avLst/>
          </a:prstGeom>
          <a:noFill/>
          <a:ln/>
        </p:spPr>
        <p:txBody>
          <a:bodyPr wrap="square" lIns="0" tIns="0" rIns="0" bIns="0" rtlCol="0" anchor="ctr"/>
          <a:lstStyle/>
          <a:p>
            <a:pPr indent="0" marL="0">
              <a:buNone/>
            </a:pPr>
            <a:r>
              <a:rPr lang="en-US" sz="1500" dirty="0">
                <a:solidFill>
                  <a:srgbClr val="1D1D1B"/>
                </a:solidFill>
                <a:latin typeface="Malgun Gothic" pitchFamily="34" charset="0"/>
                <a:ea typeface="Malgun Gothic" pitchFamily="34" charset="-122"/>
                <a:cs typeface="Malgun Gothic" pitchFamily="34" charset="-120"/>
              </a:rPr>
              <a:t>환율 노출</a:t>
            </a:r>
            <a:endParaRPr lang="en-US" sz="1500" dirty="0"/>
          </a:p>
        </p:txBody>
      </p:sp>
      <p:sp>
        <p:nvSpPr>
          <p:cNvPr id="17" name="Text 15"/>
          <p:cNvSpPr txBox="1"/>
          <p:nvPr/>
        </p:nvSpPr>
        <p:spPr>
          <a:xfrm>
            <a:off x="5760720" y="3145536"/>
            <a:ext cx="457200" cy="640080"/>
          </a:xfrm>
          <a:prstGeom prst="rect">
            <a:avLst/>
          </a:prstGeom>
          <a:noFill/>
          <a:ln/>
        </p:spPr>
        <p:txBody>
          <a:bodyPr wrap="square" lIns="0" tIns="0" rIns="0" bIns="0" rtlCol="0" anchor="ctr"/>
          <a:lstStyle/>
          <a:p>
            <a:pPr algn="ctr" indent="0" marL="0">
              <a:buNone/>
            </a:pPr>
            <a:r>
              <a:rPr lang="en-US" sz="2000" dirty="0">
                <a:solidFill>
                  <a:srgbClr val="6B6A66"/>
                </a:solidFill>
                <a:latin typeface="Malgun Gothic" pitchFamily="34" charset="0"/>
                <a:ea typeface="Malgun Gothic" pitchFamily="34" charset="-122"/>
                <a:cs typeface="Malgun Gothic" pitchFamily="34" charset="-120"/>
              </a:rPr>
              <a:t>→</a:t>
            </a:r>
            <a:endParaRPr lang="en-US" sz="2000" dirty="0"/>
          </a:p>
        </p:txBody>
      </p:sp>
      <p:sp>
        <p:nvSpPr>
          <p:cNvPr id="18" name="Shape 16"/>
          <p:cNvSpPr/>
          <p:nvPr/>
        </p:nvSpPr>
        <p:spPr>
          <a:xfrm>
            <a:off x="6309360" y="3145536"/>
            <a:ext cx="5333695" cy="640080"/>
          </a:xfrm>
          <a:prstGeom prst="roundRect">
            <a:avLst>
              <a:gd name="adj" fmla="val 17143"/>
            </a:avLst>
          </a:prstGeom>
          <a:solidFill>
            <a:srgbClr val="E6EFFB"/>
          </a:solidFill>
          <a:ln w="12700">
            <a:solidFill>
              <a:srgbClr val="E6EFFB"/>
            </a:solidFill>
            <a:prstDash val="solid"/>
          </a:ln>
        </p:spPr>
      </p:sp>
      <p:sp>
        <p:nvSpPr>
          <p:cNvPr id="19" name="Text 17"/>
          <p:cNvSpPr txBox="1"/>
          <p:nvPr/>
        </p:nvSpPr>
        <p:spPr>
          <a:xfrm>
            <a:off x="6583680" y="3145536"/>
            <a:ext cx="4785055" cy="64008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선물환 등 환헤지 상품</a:t>
            </a:r>
            <a:endParaRPr lang="en-US" sz="1500" dirty="0"/>
          </a:p>
        </p:txBody>
      </p:sp>
      <p:sp>
        <p:nvSpPr>
          <p:cNvPr id="20" name="Shape 18"/>
          <p:cNvSpPr/>
          <p:nvPr/>
        </p:nvSpPr>
        <p:spPr>
          <a:xfrm>
            <a:off x="548640" y="3931920"/>
            <a:ext cx="5120640" cy="640080"/>
          </a:xfrm>
          <a:prstGeom prst="roundRect">
            <a:avLst>
              <a:gd name="adj" fmla="val 17143"/>
            </a:avLst>
          </a:prstGeom>
          <a:solidFill>
            <a:srgbClr val="F4F6F9"/>
          </a:solidFill>
          <a:ln w="12700">
            <a:solidFill>
              <a:srgbClr val="F4F6F9"/>
            </a:solidFill>
            <a:prstDash val="solid"/>
          </a:ln>
        </p:spPr>
      </p:sp>
      <p:sp>
        <p:nvSpPr>
          <p:cNvPr id="21" name="Text 19"/>
          <p:cNvSpPr txBox="1"/>
          <p:nvPr/>
        </p:nvSpPr>
        <p:spPr>
          <a:xfrm>
            <a:off x="822960" y="3931920"/>
            <a:ext cx="4663440" cy="640080"/>
          </a:xfrm>
          <a:prstGeom prst="rect">
            <a:avLst/>
          </a:prstGeom>
          <a:noFill/>
          <a:ln/>
        </p:spPr>
        <p:txBody>
          <a:bodyPr wrap="square" lIns="0" tIns="0" rIns="0" bIns="0" rtlCol="0" anchor="ctr"/>
          <a:lstStyle/>
          <a:p>
            <a:pPr indent="0" marL="0">
              <a:buNone/>
            </a:pPr>
            <a:r>
              <a:rPr lang="en-US" sz="1500" dirty="0">
                <a:solidFill>
                  <a:srgbClr val="1D1D1B"/>
                </a:solidFill>
                <a:latin typeface="Malgun Gothic" pitchFamily="34" charset="0"/>
                <a:ea typeface="Malgun Gothic" pitchFamily="34" charset="-122"/>
                <a:cs typeface="Malgun Gothic" pitchFamily="34" charset="-120"/>
              </a:rPr>
              <a:t>생산 확대</a:t>
            </a:r>
            <a:endParaRPr lang="en-US" sz="1500" dirty="0"/>
          </a:p>
        </p:txBody>
      </p:sp>
      <p:sp>
        <p:nvSpPr>
          <p:cNvPr id="22" name="Text 20"/>
          <p:cNvSpPr txBox="1"/>
          <p:nvPr/>
        </p:nvSpPr>
        <p:spPr>
          <a:xfrm>
            <a:off x="5760720" y="3931920"/>
            <a:ext cx="457200" cy="640080"/>
          </a:xfrm>
          <a:prstGeom prst="rect">
            <a:avLst/>
          </a:prstGeom>
          <a:noFill/>
          <a:ln/>
        </p:spPr>
        <p:txBody>
          <a:bodyPr wrap="square" lIns="0" tIns="0" rIns="0" bIns="0" rtlCol="0" anchor="ctr"/>
          <a:lstStyle/>
          <a:p>
            <a:pPr algn="ctr" indent="0" marL="0">
              <a:buNone/>
            </a:pPr>
            <a:r>
              <a:rPr lang="en-US" sz="2000" dirty="0">
                <a:solidFill>
                  <a:srgbClr val="6B6A66"/>
                </a:solidFill>
                <a:latin typeface="Malgun Gothic" pitchFamily="34" charset="0"/>
                <a:ea typeface="Malgun Gothic" pitchFamily="34" charset="-122"/>
                <a:cs typeface="Malgun Gothic" pitchFamily="34" charset="-120"/>
              </a:rPr>
              <a:t>→</a:t>
            </a:r>
            <a:endParaRPr lang="en-US" sz="2000" dirty="0"/>
          </a:p>
        </p:txBody>
      </p:sp>
      <p:sp>
        <p:nvSpPr>
          <p:cNvPr id="23" name="Shape 21"/>
          <p:cNvSpPr/>
          <p:nvPr/>
        </p:nvSpPr>
        <p:spPr>
          <a:xfrm>
            <a:off x="6309360" y="3931920"/>
            <a:ext cx="5333695" cy="640080"/>
          </a:xfrm>
          <a:prstGeom prst="roundRect">
            <a:avLst>
              <a:gd name="adj" fmla="val 17143"/>
            </a:avLst>
          </a:prstGeom>
          <a:solidFill>
            <a:srgbClr val="E6EFFB"/>
          </a:solidFill>
          <a:ln w="12700">
            <a:solidFill>
              <a:srgbClr val="E6EFFB"/>
            </a:solidFill>
            <a:prstDash val="solid"/>
          </a:ln>
        </p:spPr>
      </p:sp>
      <p:sp>
        <p:nvSpPr>
          <p:cNvPr id="24" name="Text 22"/>
          <p:cNvSpPr txBox="1"/>
          <p:nvPr/>
        </p:nvSpPr>
        <p:spPr>
          <a:xfrm>
            <a:off x="6583680" y="3931920"/>
            <a:ext cx="4785055" cy="64008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시설자금 · 운전자금 대출</a:t>
            </a:r>
            <a:endParaRPr lang="en-US" sz="1500" dirty="0"/>
          </a:p>
        </p:txBody>
      </p:sp>
      <p:sp>
        <p:nvSpPr>
          <p:cNvPr id="25" name="Shape 23"/>
          <p:cNvSpPr/>
          <p:nvPr/>
        </p:nvSpPr>
        <p:spPr>
          <a:xfrm>
            <a:off x="548640" y="4718304"/>
            <a:ext cx="5120640" cy="640080"/>
          </a:xfrm>
          <a:prstGeom prst="roundRect">
            <a:avLst>
              <a:gd name="adj" fmla="val 17143"/>
            </a:avLst>
          </a:prstGeom>
          <a:solidFill>
            <a:srgbClr val="F4F6F9"/>
          </a:solidFill>
          <a:ln w="12700">
            <a:solidFill>
              <a:srgbClr val="F4F6F9"/>
            </a:solidFill>
            <a:prstDash val="solid"/>
          </a:ln>
        </p:spPr>
      </p:sp>
      <p:sp>
        <p:nvSpPr>
          <p:cNvPr id="26" name="Text 24"/>
          <p:cNvSpPr txBox="1"/>
          <p:nvPr/>
        </p:nvSpPr>
        <p:spPr>
          <a:xfrm>
            <a:off x="822960" y="4718304"/>
            <a:ext cx="4663440" cy="640080"/>
          </a:xfrm>
          <a:prstGeom prst="rect">
            <a:avLst/>
          </a:prstGeom>
          <a:noFill/>
          <a:ln/>
        </p:spPr>
        <p:txBody>
          <a:bodyPr wrap="square" lIns="0" tIns="0" rIns="0" bIns="0" rtlCol="0" anchor="ctr"/>
          <a:lstStyle/>
          <a:p>
            <a:pPr indent="0" marL="0">
              <a:buNone/>
            </a:pPr>
            <a:r>
              <a:rPr lang="en-US" sz="1500" dirty="0">
                <a:solidFill>
                  <a:srgbClr val="1D1D1B"/>
                </a:solidFill>
                <a:latin typeface="Malgun Gothic" pitchFamily="34" charset="0"/>
                <a:ea typeface="Malgun Gothic" pitchFamily="34" charset="-122"/>
                <a:cs typeface="Malgun Gothic" pitchFamily="34" charset="-120"/>
              </a:rPr>
              <a:t>브랜드 성장 → 용기·원료·OEM 협력사 매출 증가</a:t>
            </a:r>
            <a:endParaRPr lang="en-US" sz="1500" dirty="0"/>
          </a:p>
        </p:txBody>
      </p:sp>
      <p:sp>
        <p:nvSpPr>
          <p:cNvPr id="27" name="Text 25"/>
          <p:cNvSpPr txBox="1"/>
          <p:nvPr/>
        </p:nvSpPr>
        <p:spPr>
          <a:xfrm>
            <a:off x="5760720" y="4718304"/>
            <a:ext cx="457200" cy="640080"/>
          </a:xfrm>
          <a:prstGeom prst="rect">
            <a:avLst/>
          </a:prstGeom>
          <a:noFill/>
          <a:ln/>
        </p:spPr>
        <p:txBody>
          <a:bodyPr wrap="square" lIns="0" tIns="0" rIns="0" bIns="0" rtlCol="0" anchor="ctr"/>
          <a:lstStyle/>
          <a:p>
            <a:pPr algn="ctr" indent="0" marL="0">
              <a:buNone/>
            </a:pPr>
            <a:r>
              <a:rPr lang="en-US" sz="2000" dirty="0">
                <a:solidFill>
                  <a:srgbClr val="6B6A66"/>
                </a:solidFill>
                <a:latin typeface="Malgun Gothic" pitchFamily="34" charset="0"/>
                <a:ea typeface="Malgun Gothic" pitchFamily="34" charset="-122"/>
                <a:cs typeface="Malgun Gothic" pitchFamily="34" charset="-120"/>
              </a:rPr>
              <a:t>→</a:t>
            </a:r>
            <a:endParaRPr lang="en-US" sz="2000" dirty="0"/>
          </a:p>
        </p:txBody>
      </p:sp>
      <p:sp>
        <p:nvSpPr>
          <p:cNvPr id="28" name="Shape 26"/>
          <p:cNvSpPr/>
          <p:nvPr/>
        </p:nvSpPr>
        <p:spPr>
          <a:xfrm>
            <a:off x="6309360" y="4718304"/>
            <a:ext cx="5333695" cy="640080"/>
          </a:xfrm>
          <a:prstGeom prst="roundRect">
            <a:avLst>
              <a:gd name="adj" fmla="val 17143"/>
            </a:avLst>
          </a:prstGeom>
          <a:solidFill>
            <a:srgbClr val="E6EFFB"/>
          </a:solidFill>
          <a:ln w="12700">
            <a:solidFill>
              <a:srgbClr val="E6EFFB"/>
            </a:solidFill>
            <a:prstDash val="solid"/>
          </a:ln>
        </p:spPr>
      </p:sp>
      <p:sp>
        <p:nvSpPr>
          <p:cNvPr id="29" name="Text 27"/>
          <p:cNvSpPr txBox="1"/>
          <p:nvPr/>
        </p:nvSpPr>
        <p:spPr>
          <a:xfrm>
            <a:off x="6583680" y="4718304"/>
            <a:ext cx="4785055" cy="640080"/>
          </a:xfrm>
          <a:prstGeom prst="rect">
            <a:avLst/>
          </a:prstGeom>
          <a:noFill/>
          <a:ln/>
        </p:spPr>
        <p:txBody>
          <a:bodyPr wrap="square" lIns="0" tIns="0" rIns="0" bIns="0" rtlCol="0" anchor="ctr"/>
          <a:lstStyle/>
          <a:p>
            <a:pPr indent="0" marL="0">
              <a:buNone/>
            </a:pPr>
            <a:r>
              <a:rPr lang="en-US" sz="1500" b="1" dirty="0">
                <a:solidFill>
                  <a:srgbClr val="2A78D6"/>
                </a:solidFill>
                <a:latin typeface="Malgun Gothic" pitchFamily="34" charset="0"/>
                <a:ea typeface="Malgun Gothic" pitchFamily="34" charset="-122"/>
                <a:cs typeface="Malgun Gothic" pitchFamily="34" charset="-120"/>
              </a:rPr>
              <a:t>중소기업 금융 · 공급망 금융</a:t>
            </a:r>
            <a:endParaRPr lang="en-US" sz="1500" dirty="0"/>
          </a:p>
        </p:txBody>
      </p:sp>
      <p:sp>
        <p:nvSpPr>
          <p:cNvPr id="30" name="Text 28"/>
          <p:cNvSpPr txBox="1"/>
          <p:nvPr/>
        </p:nvSpPr>
        <p:spPr>
          <a:xfrm>
            <a:off x="548640" y="5669280"/>
            <a:ext cx="11094415" cy="457200"/>
          </a:xfrm>
          <a:prstGeom prst="rect">
            <a:avLst/>
          </a:prstGeom>
          <a:noFill/>
          <a:ln/>
        </p:spPr>
        <p:txBody>
          <a:bodyPr wrap="square" lIns="0" tIns="0" rIns="0" bIns="0" rtlCol="0" anchor="t"/>
          <a:lstStyle/>
          <a:p>
            <a:pPr algn="ctr" indent="0" marL="0">
              <a:buNone/>
            </a:pPr>
            <a:r>
              <a:rPr lang="en-US" sz="1700" b="1" dirty="0">
                <a:solidFill>
                  <a:srgbClr val="1D1D1B"/>
                </a:solidFill>
                <a:latin typeface="Malgun Gothic" pitchFamily="34" charset="0"/>
                <a:ea typeface="Malgun Gothic" pitchFamily="34" charset="-122"/>
                <a:cs typeface="Malgun Gothic" pitchFamily="34" charset="-120"/>
              </a:rPr>
              <a:t>그래서 은행은 이 붐을 만드는 기업들을 고객으로 잡아야 한다. 그런데 모두 좋은 고객일까?</a:t>
            </a:r>
            <a:endParaRPr lang="en-US" sz="1700" dirty="0"/>
          </a:p>
        </p:txBody>
      </p:sp>
      <p:sp>
        <p:nvSpPr>
          <p:cNvPr id="31" name="Text 29"/>
          <p:cNvSpPr txBox="1"/>
          <p:nvPr/>
        </p:nvSpPr>
        <p:spPr>
          <a:xfrm>
            <a:off x="548640" y="6400800"/>
            <a:ext cx="10545775" cy="228600"/>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OEM = 주문자 상표 부착 생산 (다른 회사 브랜드로 제품을 만들어 납품) · ODM = 제조자개발생산 (고객사 브랜드 제품을 개발부터 생산까지 맡음)</a:t>
            </a:r>
            <a:endParaRPr lang="en-US" sz="900" dirty="0"/>
          </a:p>
        </p:txBody>
      </p:sp>
      <p:sp>
        <p:nvSpPr>
          <p:cNvPr id="32" name="Text 30"/>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선정 이유 · 은행 관점 정성 비교</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왜 K-뷰티인가</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377440"/>
                <a:gridCol w="2834640"/>
                <a:gridCol w="2834640"/>
                <a:gridCol w="3044952"/>
              </a:tblGrid>
              <a:tr h="548640">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기준</a:t>
                      </a:r>
                      <a:endParaRPr lang="en-US" sz="15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5B67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반도체 · 자동차</a:t>
                      </a:r>
                      <a:endParaRPr lang="en-US" sz="15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5B67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K-푸드</a:t>
                      </a:r>
                      <a:endParaRPr lang="en-US" sz="15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5B6780"/>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K-뷰티</a:t>
                      </a:r>
                      <a:endParaRPr lang="en-US" sz="15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2A78D6"/>
                    </a:solidFill>
                  </a:tcPr>
                </a:tc>
              </a:tr>
              <a:tr h="868680">
                <a:tc>
                  <a:txBody>
                    <a:bodyPr/>
                    <a:lstStyle/>
                    <a:p>
                      <a:pPr algn="ctr" indent="0" marL="0">
                        <a:buNone/>
                      </a:pPr>
                      <a:r>
                        <a:rPr lang="en-US" sz="1400" b="1" dirty="0">
                          <a:solidFill>
                            <a:srgbClr val="1D1D1B"/>
                          </a:solidFill>
                          <a:latin typeface="Malgun Gothic" pitchFamily="34" charset="0"/>
                          <a:ea typeface="Malgun Gothic" pitchFamily="34" charset="-122"/>
                          <a:cs typeface="Malgun Gothic" pitchFamily="34" charset="-120"/>
                        </a:rPr>
                        <a:t>수출 증가</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4F6F9"/>
                    </a:solidFill>
                  </a:tcPr>
                </a:tc>
                <a:tc>
                  <a:txBody>
                    <a:bodyPr/>
                    <a:lstStyle/>
                    <a:p>
                      <a:pPr algn="ctr" indent="0" marL="0">
                        <a:buNone/>
                      </a:pPr>
                      <a:r>
                        <a:rPr lang="en-US" sz="1400" dirty="0">
                          <a:solidFill>
                            <a:srgbClr val="1D1D1B"/>
                          </a:solidFill>
                          <a:latin typeface="Malgun Gothic" pitchFamily="34" charset="0"/>
                          <a:ea typeface="Malgun Gothic" pitchFamily="34" charset="-122"/>
                          <a:cs typeface="Malgun Gothic" pitchFamily="34" charset="-120"/>
                        </a:rPr>
                        <a:t>큼</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D1B"/>
                          </a:solidFill>
                          <a:latin typeface="Malgun Gothic" pitchFamily="34" charset="0"/>
                          <a:ea typeface="Malgun Gothic" pitchFamily="34" charset="-122"/>
                          <a:cs typeface="Malgun Gothic" pitchFamily="34" charset="-120"/>
                        </a:rPr>
                        <a:t>큼</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A78D6"/>
                          </a:solidFill>
                          <a:latin typeface="Malgun Gothic" pitchFamily="34" charset="0"/>
                          <a:ea typeface="Malgun Gothic" pitchFamily="34" charset="-122"/>
                          <a:cs typeface="Malgun Gothic" pitchFamily="34" charset="-120"/>
                        </a:rPr>
                        <a:t>큼</a:t>
                      </a:r>
                      <a:endParaRPr lang="en-US" sz="1400" dirty="0">
                        <a:latin typeface="Malgun Gothic" charset="0"/>
                        <a:ea typeface="Malgun Gothic" charset="0"/>
                        <a:cs typeface="Malgun Gothic" charset="0"/>
                      </a:endParaRPr>
                    </a:p>
                    <a:p>
                      <a:pPr algn="ctr" indent="0" marL="0">
                        <a:buNone/>
                      </a:pPr>
                      <a:r>
                        <a:rPr lang="en-US" sz="1400" b="1" dirty="0">
                          <a:solidFill>
                            <a:srgbClr val="2A78D6"/>
                          </a:solidFill>
                          <a:latin typeface="Malgun Gothic" pitchFamily="34" charset="0"/>
                          <a:ea typeface="Malgun Gothic" pitchFamily="34" charset="-122"/>
                          <a:cs typeface="Malgun Gothic" pitchFamily="34" charset="-120"/>
                        </a:rPr>
                        <a:t>(2026 상반기 화장품 +27.3%)</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E6EFFB"/>
                    </a:solidFill>
                  </a:tcPr>
                </a:tc>
              </a:tr>
              <a:tr h="960120">
                <a:tc>
                  <a:txBody>
                    <a:bodyPr/>
                    <a:lstStyle/>
                    <a:p>
                      <a:pPr algn="ctr" indent="0" marL="0">
                        <a:buNone/>
                      </a:pPr>
                      <a:r>
                        <a:rPr lang="en-US" sz="1400" b="1" dirty="0">
                          <a:solidFill>
                            <a:srgbClr val="1D1D1B"/>
                          </a:solidFill>
                          <a:latin typeface="Malgun Gothic" pitchFamily="34" charset="0"/>
                          <a:ea typeface="Malgun Gothic" pitchFamily="34" charset="-122"/>
                          <a:cs typeface="Malgun Gothic" pitchFamily="34" charset="-120"/>
                        </a:rPr>
                        <a:t>은행이 만나는</a:t>
                      </a:r>
                      <a:endParaRPr lang="en-US" sz="1400" dirty="0">
                        <a:latin typeface="Malgun Gothic" charset="0"/>
                        <a:ea typeface="Malgun Gothic" charset="0"/>
                        <a:cs typeface="Malgun Gothic" charset="0"/>
                      </a:endParaRPr>
                    </a:p>
                    <a:p>
                      <a:pPr algn="ctr" indent="0" marL="0">
                        <a:buNone/>
                      </a:pPr>
                      <a:r>
                        <a:rPr lang="en-US" sz="1400" b="1" dirty="0">
                          <a:solidFill>
                            <a:srgbClr val="1D1D1B"/>
                          </a:solidFill>
                          <a:latin typeface="Malgun Gothic" pitchFamily="34" charset="0"/>
                          <a:ea typeface="Malgun Gothic" pitchFamily="34" charset="-122"/>
                          <a:cs typeface="Malgun Gothic" pitchFamily="34" charset="-120"/>
                        </a:rPr>
                        <a:t>기업 유형</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4F6F9"/>
                    </a:solidFill>
                  </a:tcPr>
                </a:tc>
                <a:tc>
                  <a:txBody>
                    <a:bodyPr/>
                    <a:lstStyle/>
                    <a:p>
                      <a:pPr algn="ctr" indent="0" marL="0">
                        <a:buNone/>
                      </a:pPr>
                      <a:r>
                        <a:rPr lang="en-US" sz="1400" dirty="0">
                          <a:solidFill>
                            <a:srgbClr val="1D1D1B"/>
                          </a:solidFill>
                          <a:latin typeface="Malgun Gothic" pitchFamily="34" charset="0"/>
                          <a:ea typeface="Malgun Gothic" pitchFamily="34" charset="-122"/>
                          <a:cs typeface="Malgun Gothic" pitchFamily="34" charset="-120"/>
                        </a:rPr>
                        <a:t>소수 대기업 중심</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D1B"/>
                          </a:solidFill>
                          <a:latin typeface="Malgun Gothic" pitchFamily="34" charset="0"/>
                          <a:ea typeface="Malgun Gothic" pitchFamily="34" charset="-122"/>
                          <a:cs typeface="Malgun Gothic" pitchFamily="34" charset="-120"/>
                        </a:rPr>
                        <a:t>제조 · 브랜드</a:t>
                      </a:r>
                      <a:endParaRPr lang="en-US" sz="1400" dirty="0">
                        <a:latin typeface="Malgun Gothic" charset="0"/>
                        <a:ea typeface="Malgun Gothic" charset="0"/>
                        <a:cs typeface="Malgun Gothic" charset="0"/>
                      </a:endParaRPr>
                    </a:p>
                    <a:p>
                      <a:pPr algn="ctr" indent="0" marL="0">
                        <a:buNone/>
                      </a:pPr>
                      <a:r>
                        <a:rPr lang="en-US" sz="1400" dirty="0">
                          <a:solidFill>
                            <a:srgbClr val="1D1D1B"/>
                          </a:solidFill>
                          <a:latin typeface="Malgun Gothic" pitchFamily="34" charset="0"/>
                          <a:ea typeface="Malgun Gothic" pitchFamily="34" charset="-122"/>
                          <a:cs typeface="Malgun Gothic" pitchFamily="34" charset="-120"/>
                        </a:rPr>
                        <a:t>겸업 중심</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A78D6"/>
                          </a:solidFill>
                          <a:latin typeface="Malgun Gothic" pitchFamily="34" charset="0"/>
                          <a:ea typeface="Malgun Gothic" pitchFamily="34" charset="-122"/>
                          <a:cs typeface="Malgun Gothic" pitchFamily="34" charset="-120"/>
                        </a:rPr>
                        <a:t>브랜드 · ODM · 신흥 브랜드</a:t>
                      </a:r>
                      <a:endParaRPr lang="en-US" sz="1400" dirty="0">
                        <a:latin typeface="Malgun Gothic" charset="0"/>
                        <a:ea typeface="Malgun Gothic" charset="0"/>
                        <a:cs typeface="Malgun Gothic" charset="0"/>
                      </a:endParaRPr>
                    </a:p>
                    <a:p>
                      <a:pPr algn="ctr" indent="0" marL="0">
                        <a:buNone/>
                      </a:pPr>
                      <a:r>
                        <a:rPr lang="en-US" sz="1400" b="1" dirty="0">
                          <a:solidFill>
                            <a:srgbClr val="2A78D6"/>
                          </a:solidFill>
                          <a:latin typeface="Malgun Gothic" pitchFamily="34" charset="0"/>
                          <a:ea typeface="Malgun Gothic" pitchFamily="34" charset="-122"/>
                          <a:cs typeface="Malgun Gothic" pitchFamily="34" charset="-120"/>
                        </a:rPr>
                        <a:t>모두 상장</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E6EFFB"/>
                    </a:solidFill>
                  </a:tcPr>
                </a:tc>
              </a:tr>
              <a:tr h="960120">
                <a:tc>
                  <a:txBody>
                    <a:bodyPr/>
                    <a:lstStyle/>
                    <a:p>
                      <a:pPr algn="ctr" indent="0" marL="0">
                        <a:buNone/>
                      </a:pPr>
                      <a:r>
                        <a:rPr lang="en-US" sz="1400" b="1" dirty="0">
                          <a:solidFill>
                            <a:srgbClr val="1D1D1B"/>
                          </a:solidFill>
                          <a:latin typeface="Malgun Gothic" pitchFamily="34" charset="0"/>
                          <a:ea typeface="Malgun Gothic" pitchFamily="34" charset="-122"/>
                          <a:cs typeface="Malgun Gothic" pitchFamily="34" charset="-120"/>
                        </a:rPr>
                        <a:t>같은 기준으로</a:t>
                      </a:r>
                      <a:endParaRPr lang="en-US" sz="1400" dirty="0">
                        <a:latin typeface="Malgun Gothic" charset="0"/>
                        <a:ea typeface="Malgun Gothic" charset="0"/>
                        <a:cs typeface="Malgun Gothic" charset="0"/>
                      </a:endParaRPr>
                    </a:p>
                    <a:p>
                      <a:pPr algn="ctr" indent="0" marL="0">
                        <a:buNone/>
                      </a:pPr>
                      <a:r>
                        <a:rPr lang="en-US" sz="1400" b="1" dirty="0">
                          <a:solidFill>
                            <a:srgbClr val="1D1D1B"/>
                          </a:solidFill>
                          <a:latin typeface="Malgun Gothic" pitchFamily="34" charset="0"/>
                          <a:ea typeface="Malgun Gothic" pitchFamily="34" charset="-122"/>
                          <a:cs typeface="Malgun Gothic" pitchFamily="34" charset="-120"/>
                        </a:rPr>
                        <a:t>비교할 수 있나</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4F6F9"/>
                    </a:solidFill>
                  </a:tcPr>
                </a:tc>
                <a:tc>
                  <a:txBody>
                    <a:bodyPr/>
                    <a:lstStyle/>
                    <a:p>
                      <a:pPr algn="ctr" indent="0" marL="0">
                        <a:buNone/>
                      </a:pPr>
                      <a:r>
                        <a:rPr lang="en-US" sz="1400" dirty="0">
                          <a:solidFill>
                            <a:srgbClr val="1D1D1B"/>
                          </a:solidFill>
                          <a:latin typeface="Malgun Gothic" pitchFamily="34" charset="0"/>
                          <a:ea typeface="Malgun Gothic" pitchFamily="34" charset="-122"/>
                          <a:cs typeface="Malgun Gothic" pitchFamily="34" charset="-120"/>
                        </a:rPr>
                        <a:t>기업 규모 차이가 커</a:t>
                      </a:r>
                      <a:endParaRPr lang="en-US" sz="1400" dirty="0">
                        <a:latin typeface="Malgun Gothic" charset="0"/>
                        <a:ea typeface="Malgun Gothic" charset="0"/>
                        <a:cs typeface="Malgun Gothic" charset="0"/>
                      </a:endParaRPr>
                    </a:p>
                    <a:p>
                      <a:pPr algn="ctr" indent="0" marL="0">
                        <a:buNone/>
                      </a:pPr>
                      <a:r>
                        <a:rPr lang="en-US" sz="1400" dirty="0">
                          <a:solidFill>
                            <a:srgbClr val="1D1D1B"/>
                          </a:solidFill>
                          <a:latin typeface="Malgun Gothic" pitchFamily="34" charset="0"/>
                          <a:ea typeface="Malgun Gothic" pitchFamily="34" charset="-122"/>
                          <a:cs typeface="Malgun Gothic" pitchFamily="34" charset="-120"/>
                        </a:rPr>
                        <a:t>비교가 어려움</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D1B"/>
                          </a:solidFill>
                          <a:latin typeface="Malgun Gothic" pitchFamily="34" charset="0"/>
                          <a:ea typeface="Malgun Gothic" pitchFamily="34" charset="-122"/>
                          <a:cs typeface="Malgun Gothic" pitchFamily="34" charset="-120"/>
                        </a:rPr>
                        <a:t>가능</a:t>
                      </a:r>
                      <a:endParaRPr lang="en-US" sz="1400" dirty="0">
                        <a:latin typeface="Malgun Gothic" charset="0"/>
                        <a:ea typeface="Malgun Gothic" charset="0"/>
                        <a:cs typeface="Malgun Gothic" charset="0"/>
                      </a:endParaRPr>
                    </a:p>
                    <a:p>
                      <a:pPr algn="ctr" indent="0" marL="0">
                        <a:buNone/>
                      </a:pPr>
                      <a:r>
                        <a:rPr lang="en-US" sz="1400" dirty="0">
                          <a:solidFill>
                            <a:srgbClr val="1D1D1B"/>
                          </a:solidFill>
                          <a:latin typeface="Malgun Gothic" pitchFamily="34" charset="0"/>
                          <a:ea typeface="Malgun Gothic" pitchFamily="34" charset="-122"/>
                          <a:cs typeface="Malgun Gothic" pitchFamily="34" charset="-120"/>
                        </a:rPr>
                        <a:t>(차순위 · 확장 후보)</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A78D6"/>
                          </a:solidFill>
                          <a:latin typeface="Malgun Gothic" pitchFamily="34" charset="0"/>
                          <a:ea typeface="Malgun Gothic" pitchFamily="34" charset="-122"/>
                          <a:cs typeface="Malgun Gothic" pitchFamily="34" charset="-120"/>
                        </a:rPr>
                        <a:t>밸류체인 위치가 다른</a:t>
                      </a:r>
                      <a:endParaRPr lang="en-US" sz="1400" dirty="0">
                        <a:latin typeface="Malgun Gothic" charset="0"/>
                        <a:ea typeface="Malgun Gothic" charset="0"/>
                        <a:cs typeface="Malgun Gothic" charset="0"/>
                      </a:endParaRPr>
                    </a:p>
                    <a:p>
                      <a:pPr algn="ctr" indent="0" marL="0">
                        <a:buNone/>
                      </a:pPr>
                      <a:r>
                        <a:rPr lang="en-US" sz="1400" b="1" dirty="0">
                          <a:solidFill>
                            <a:srgbClr val="2A78D6"/>
                          </a:solidFill>
                          <a:latin typeface="Malgun Gothic" pitchFamily="34" charset="0"/>
                          <a:ea typeface="Malgun Gothic" pitchFamily="34" charset="-122"/>
                          <a:cs typeface="Malgun Gothic" pitchFamily="34" charset="-120"/>
                        </a:rPr>
                        <a:t>3사를 한 틀로 비교</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E6EFFB"/>
                    </a:solidFill>
                  </a:tcPr>
                </a:tc>
              </a:tr>
            </a:tbl>
          </a:graphicData>
        </a:graphic>
      </p:graphicFrame>
      <p:sp>
        <p:nvSpPr>
          <p:cNvPr id="6" name="Text 3"/>
          <p:cNvSpPr txBox="1"/>
          <p:nvPr/>
        </p:nvSpPr>
        <p:spPr>
          <a:xfrm>
            <a:off x="548640" y="5166360"/>
            <a:ext cx="11094415" cy="685800"/>
          </a:xfrm>
          <a:prstGeom prst="rect">
            <a:avLst/>
          </a:prstGeom>
          <a:noFill/>
          <a:ln/>
        </p:spPr>
        <p:txBody>
          <a:bodyPr wrap="square" lIns="0" tIns="0" rIns="0" bIns="0" rtlCol="0" anchor="t"/>
          <a:lstStyle/>
          <a:p>
            <a:pPr algn="ctr" indent="0" marL="0">
              <a:buNone/>
            </a:pPr>
            <a:r>
              <a:rPr lang="en-US" sz="1500" b="1" dirty="0">
                <a:solidFill>
                  <a:srgbClr val="1D1D1B"/>
                </a:solidFill>
                <a:latin typeface="Malgun Gothic" pitchFamily="34" charset="0"/>
                <a:ea typeface="Malgun Gothic" pitchFamily="34" charset="-122"/>
                <a:cs typeface="Malgun Gothic" pitchFamily="34" charset="-120"/>
              </a:rPr>
              <a:t>은행이 실제로 만나는 서로 다른 유형의 기업고객을 같은 기준으로 비교할 수 있어 K-뷰티를 골랐다.</a:t>
            </a:r>
            <a:endParaRPr lang="en-US" sz="1500" dirty="0"/>
          </a:p>
          <a:p>
            <a:pPr algn="ctr" indent="0" marL="0">
              <a:buNone/>
            </a:pPr>
            <a:r>
              <a:rPr lang="en-US" sz="1500" b="1" dirty="0">
                <a:solidFill>
                  <a:srgbClr val="1D1D1B"/>
                </a:solidFill>
                <a:latin typeface="Malgun Gothic" pitchFamily="34" charset="0"/>
                <a:ea typeface="Malgun Gothic" pitchFamily="34" charset="-122"/>
                <a:cs typeface="Malgun Gothic" pitchFamily="34" charset="-120"/>
              </a:rPr>
              <a:t>K-푸드(삼양식품 · 농심 · 오뚜기)는 같은 틀을 적용할 수 있는 차순위 후보다.</a:t>
            </a:r>
            <a:endParaRPr lang="en-US" sz="1500" dirty="0"/>
          </a:p>
        </p:txBody>
      </p:sp>
      <p:sp>
        <p:nvSpPr>
          <p:cNvPr id="7" name="Text 4"/>
          <p:cNvSpPr txBox="1"/>
          <p:nvPr/>
        </p:nvSpPr>
        <p:spPr>
          <a:xfrm>
            <a:off x="548640" y="6400800"/>
            <a:ext cx="10545775" cy="228600"/>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정성 비교는 팀의 판단 기준이며, 수출 증가는 식약처 발표 인용 · ODM = 제조자개발생산 (고객사 브랜드 제품을 개발부터 생산까지 맡음)</a:t>
            </a:r>
            <a:endParaRPr lang="en-US" sz="900" dirty="0"/>
          </a:p>
        </p:txBody>
      </p:sp>
      <p:sp>
        <p:nvSpPr>
          <p:cNvPr id="8" name="Text 5"/>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분석 대상</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같은 붐, 주 수익원이 다른 3사</a:t>
            </a:r>
            <a:endParaRPr lang="en-US" sz="2800" dirty="0"/>
          </a:p>
        </p:txBody>
      </p:sp>
      <p:sp>
        <p:nvSpPr>
          <p:cNvPr id="5" name="Shape 3"/>
          <p:cNvSpPr/>
          <p:nvPr/>
        </p:nvSpPr>
        <p:spPr>
          <a:xfrm>
            <a:off x="548640" y="1554480"/>
            <a:ext cx="3484778" cy="3566160"/>
          </a:xfrm>
          <a:prstGeom prst="roundRect">
            <a:avLst>
              <a:gd name="adj" fmla="val 3149"/>
            </a:avLst>
          </a:prstGeom>
          <a:solidFill>
            <a:srgbClr val="FFFFFF"/>
          </a:solidFill>
          <a:ln w="12700">
            <a:solidFill>
              <a:srgbClr val="E4E2DC"/>
            </a:solidFill>
            <a:prstDash val="solid"/>
          </a:ln>
        </p:spPr>
      </p:sp>
      <p:sp>
        <p:nvSpPr>
          <p:cNvPr id="6" name="Shape 4"/>
          <p:cNvSpPr/>
          <p:nvPr/>
        </p:nvSpPr>
        <p:spPr>
          <a:xfrm>
            <a:off x="868680" y="1938528"/>
            <a:ext cx="201168" cy="201168"/>
          </a:xfrm>
          <a:prstGeom prst="ellipse">
            <a:avLst/>
          </a:prstGeom>
          <a:solidFill>
            <a:srgbClr val="EB6834"/>
          </a:solidFill>
          <a:ln w="12700">
            <a:solidFill>
              <a:srgbClr val="EB6834"/>
            </a:solidFill>
            <a:prstDash val="solid"/>
          </a:ln>
        </p:spPr>
      </p:sp>
      <p:sp>
        <p:nvSpPr>
          <p:cNvPr id="7" name="Text 5"/>
          <p:cNvSpPr txBox="1"/>
          <p:nvPr/>
        </p:nvSpPr>
        <p:spPr>
          <a:xfrm>
            <a:off x="1188720" y="1828800"/>
            <a:ext cx="2570378" cy="411480"/>
          </a:xfrm>
          <a:prstGeom prst="rect">
            <a:avLst/>
          </a:prstGeom>
          <a:noFill/>
          <a:ln/>
        </p:spPr>
        <p:txBody>
          <a:bodyPr wrap="square" lIns="0" tIns="0" rIns="0" bIns="0" rtlCol="0" anchor="t"/>
          <a:lstStyle/>
          <a:p>
            <a:pPr indent="0" marL="0">
              <a:buNone/>
            </a:pPr>
            <a:r>
              <a:rPr lang="en-US" sz="2000" b="1" dirty="0">
                <a:solidFill>
                  <a:srgbClr val="1D1D1B"/>
                </a:solidFill>
                <a:latin typeface="Malgun Gothic" pitchFamily="34" charset="0"/>
                <a:ea typeface="Malgun Gothic" pitchFamily="34" charset="-122"/>
                <a:cs typeface="Malgun Gothic" pitchFamily="34" charset="-120"/>
              </a:rPr>
              <a:t>아모레퍼시픽</a:t>
            </a:r>
            <a:endParaRPr lang="en-US" sz="2000" dirty="0"/>
          </a:p>
        </p:txBody>
      </p:sp>
      <p:sp>
        <p:nvSpPr>
          <p:cNvPr id="8" name="Text 6"/>
          <p:cNvSpPr txBox="1"/>
          <p:nvPr/>
        </p:nvSpPr>
        <p:spPr>
          <a:xfrm>
            <a:off x="868680" y="2331720"/>
            <a:ext cx="2844698" cy="274320"/>
          </a:xfrm>
          <a:prstGeom prst="rect">
            <a:avLst/>
          </a:prstGeom>
          <a:noFill/>
          <a:ln/>
        </p:spPr>
        <p:txBody>
          <a:bodyPr wrap="square" lIns="0" tIns="0" rIns="0" bIns="0" rtlCol="0" anchor="t"/>
          <a:lstStyle/>
          <a:p>
            <a:pPr indent="0" marL="0">
              <a:buNone/>
            </a:pPr>
            <a:r>
              <a:rPr lang="en-US" sz="1150" dirty="0">
                <a:solidFill>
                  <a:srgbClr val="6B6A66"/>
                </a:solidFill>
                <a:latin typeface="Malgun Gothic" pitchFamily="34" charset="0"/>
                <a:ea typeface="Malgun Gothic" pitchFamily="34" charset="-122"/>
                <a:cs typeface="Malgun Gothic" pitchFamily="34" charset="-120"/>
              </a:rPr>
              <a:t>090430 · 코스피 · 시가총액 8.3조원</a:t>
            </a:r>
            <a:endParaRPr lang="en-US" sz="1150" dirty="0"/>
          </a:p>
        </p:txBody>
      </p:sp>
      <p:sp>
        <p:nvSpPr>
          <p:cNvPr id="9" name="Text 7"/>
          <p:cNvSpPr txBox="1"/>
          <p:nvPr/>
        </p:nvSpPr>
        <p:spPr>
          <a:xfrm>
            <a:off x="868680" y="2743200"/>
            <a:ext cx="2844698" cy="365760"/>
          </a:xfrm>
          <a:prstGeom prst="rect">
            <a:avLst/>
          </a:prstGeom>
          <a:noFill/>
          <a:ln/>
        </p:spPr>
        <p:txBody>
          <a:bodyPr wrap="square" lIns="0" tIns="0" rIns="0" bIns="0" rtlCol="0" anchor="t"/>
          <a:lstStyle/>
          <a:p>
            <a:pPr indent="0" marL="0">
              <a:buNone/>
            </a:pPr>
            <a:r>
              <a:rPr lang="en-US" sz="1600" b="1" dirty="0">
                <a:solidFill>
                  <a:srgbClr val="EB6834"/>
                </a:solidFill>
                <a:latin typeface="Malgun Gothic" pitchFamily="34" charset="0"/>
                <a:ea typeface="Malgun Gothic" pitchFamily="34" charset="-122"/>
                <a:cs typeface="Malgun Gothic" pitchFamily="34" charset="-120"/>
              </a:rPr>
              <a:t>브랜드</a:t>
            </a:r>
            <a:endParaRPr lang="en-US" sz="1600" dirty="0"/>
          </a:p>
        </p:txBody>
      </p:sp>
      <p:sp>
        <p:nvSpPr>
          <p:cNvPr id="10" name="Text 8"/>
          <p:cNvSpPr txBox="1"/>
          <p:nvPr/>
        </p:nvSpPr>
        <p:spPr>
          <a:xfrm>
            <a:off x="868680" y="3127248"/>
            <a:ext cx="2844698" cy="228600"/>
          </a:xfrm>
          <a:prstGeom prst="rect">
            <a:avLst/>
          </a:prstGeom>
          <a:noFill/>
          <a:ln/>
        </p:spPr>
        <p:txBody>
          <a:bodyPr wrap="square" lIns="0" tIns="0" rIns="0" bIns="0" rtlCol="0" anchor="t"/>
          <a:lstStyle/>
          <a:p>
            <a:pPr indent="0" marL="0">
              <a:buNone/>
            </a:pPr>
            <a:r>
              <a:rPr lang="en-US" sz="1050" b="1" dirty="0">
                <a:solidFill>
                  <a:srgbClr val="6B6A66"/>
                </a:solidFill>
                <a:latin typeface="Malgun Gothic" pitchFamily="34" charset="0"/>
                <a:ea typeface="Malgun Gothic" pitchFamily="34" charset="-122"/>
                <a:cs typeface="Malgun Gothic" pitchFamily="34" charset="-120"/>
              </a:rPr>
              <a:t>주 수익원</a:t>
            </a:r>
            <a:endParaRPr lang="en-US" sz="1050" dirty="0"/>
          </a:p>
        </p:txBody>
      </p:sp>
      <p:sp>
        <p:nvSpPr>
          <p:cNvPr id="11" name="Text 9"/>
          <p:cNvSpPr txBox="1"/>
          <p:nvPr/>
        </p:nvSpPr>
        <p:spPr>
          <a:xfrm>
            <a:off x="868680" y="3364992"/>
            <a:ext cx="2844698" cy="502920"/>
          </a:xfrm>
          <a:prstGeom prst="rect">
            <a:avLst/>
          </a:prstGeom>
          <a:noFill/>
          <a:ln/>
        </p:spPr>
        <p:txBody>
          <a:bodyPr wrap="square" lIns="0" tIns="0" rIns="0" bIns="0" rtlCol="0" anchor="t"/>
          <a:lstStyle/>
          <a:p>
            <a:pPr indent="0" marL="0">
              <a:buNone/>
            </a:pPr>
            <a:r>
              <a:rPr lang="en-US" sz="1250" dirty="0">
                <a:solidFill>
                  <a:srgbClr val="1D1D1B"/>
                </a:solidFill>
                <a:latin typeface="Malgun Gothic" pitchFamily="34" charset="0"/>
                <a:ea typeface="Malgun Gothic" pitchFamily="34" charset="-122"/>
                <a:cs typeface="Malgun Gothic" pitchFamily="34" charset="-120"/>
              </a:rPr>
              <a:t>자사 브랜드 화장품 판매</a:t>
            </a:r>
            <a:endParaRPr lang="en-US" sz="1250" dirty="0"/>
          </a:p>
          <a:p>
            <a:pPr indent="0" marL="0">
              <a:buNone/>
            </a:pPr>
            <a:r>
              <a:rPr lang="en-US" sz="1250" dirty="0">
                <a:solidFill>
                  <a:srgbClr val="1D1D1B"/>
                </a:solidFill>
                <a:latin typeface="Malgun Gothic" pitchFamily="34" charset="0"/>
                <a:ea typeface="Malgun Gothic" pitchFamily="34" charset="-122"/>
                <a:cs typeface="Malgun Gothic" pitchFamily="34" charset="-120"/>
              </a:rPr>
              <a:t>(국내·면세·해외)</a:t>
            </a:r>
            <a:endParaRPr lang="en-US" sz="1250" dirty="0"/>
          </a:p>
        </p:txBody>
      </p:sp>
      <p:sp>
        <p:nvSpPr>
          <p:cNvPr id="12" name="Shape 10"/>
          <p:cNvSpPr/>
          <p:nvPr/>
        </p:nvSpPr>
        <p:spPr>
          <a:xfrm>
            <a:off x="868680" y="3977640"/>
            <a:ext cx="2844698" cy="0"/>
          </a:xfrm>
          <a:prstGeom prst="line">
            <a:avLst/>
          </a:prstGeom>
          <a:noFill/>
          <a:ln w="12700">
            <a:solidFill>
              <a:srgbClr val="E4E2DC"/>
            </a:solidFill>
            <a:prstDash val="solid"/>
          </a:ln>
        </p:spPr>
      </p:sp>
      <p:sp>
        <p:nvSpPr>
          <p:cNvPr id="13" name="Text 11"/>
          <p:cNvSpPr txBox="1"/>
          <p:nvPr/>
        </p:nvSpPr>
        <p:spPr>
          <a:xfrm>
            <a:off x="868680" y="4096512"/>
            <a:ext cx="2844698" cy="228600"/>
          </a:xfrm>
          <a:prstGeom prst="rect">
            <a:avLst/>
          </a:prstGeom>
          <a:noFill/>
          <a:ln/>
        </p:spPr>
        <p:txBody>
          <a:bodyPr wrap="square" lIns="0" tIns="0" rIns="0" bIns="0" rtlCol="0" anchor="t"/>
          <a:lstStyle/>
          <a:p>
            <a:pPr indent="0" marL="0">
              <a:buNone/>
            </a:pPr>
            <a:r>
              <a:rPr lang="en-US" sz="1050" b="1" dirty="0">
                <a:solidFill>
                  <a:srgbClr val="2A78D6"/>
                </a:solidFill>
                <a:latin typeface="Malgun Gothic" pitchFamily="34" charset="0"/>
                <a:ea typeface="Malgun Gothic" pitchFamily="34" charset="-122"/>
                <a:cs typeface="Malgun Gothic" pitchFamily="34" charset="-120"/>
              </a:rPr>
              <a:t>은행 관점</a:t>
            </a:r>
            <a:endParaRPr lang="en-US" sz="1050" dirty="0"/>
          </a:p>
        </p:txBody>
      </p:sp>
      <p:sp>
        <p:nvSpPr>
          <p:cNvPr id="14" name="Text 12"/>
          <p:cNvSpPr txBox="1"/>
          <p:nvPr/>
        </p:nvSpPr>
        <p:spPr>
          <a:xfrm>
            <a:off x="868680" y="4334256"/>
            <a:ext cx="2844698" cy="731520"/>
          </a:xfrm>
          <a:prstGeom prst="rect">
            <a:avLst/>
          </a:prstGeom>
          <a:noFill/>
          <a:ln/>
        </p:spPr>
        <p:txBody>
          <a:bodyPr wrap="square" lIns="0" tIns="0" rIns="0" bIns="0" rtlCol="0" anchor="t"/>
          <a:lstStyle/>
          <a:p>
            <a:pPr indent="0" marL="0">
              <a:buNone/>
            </a:pPr>
            <a:r>
              <a:rPr lang="en-US" sz="1250" dirty="0">
                <a:solidFill>
                  <a:srgbClr val="1D1D1B"/>
                </a:solidFill>
                <a:latin typeface="Malgun Gothic" pitchFamily="34" charset="0"/>
                <a:ea typeface="Malgun Gothic" pitchFamily="34" charset="-122"/>
                <a:cs typeface="Malgun Gothic" pitchFamily="34" charset="-120"/>
              </a:rPr>
              <a:t>빚 부담이 적은 대형 브랜드사</a:t>
            </a:r>
            <a:endParaRPr lang="en-US" sz="1250" dirty="0"/>
          </a:p>
          <a:p>
            <a:pPr indent="0" marL="0">
              <a:buNone/>
            </a:pPr>
            <a:r>
              <a:rPr lang="en-US" sz="1250" dirty="0">
                <a:solidFill>
                  <a:srgbClr val="1D1D1B"/>
                </a:solidFill>
                <a:latin typeface="Malgun Gothic" pitchFamily="34" charset="0"/>
                <a:ea typeface="Malgun Gothic" pitchFamily="34" charset="-122"/>
                <a:cs typeface="Malgun Gothic" pitchFamily="34" charset="-120"/>
              </a:rPr>
              <a:t>부채비율 25.8%</a:t>
            </a:r>
            <a:endParaRPr lang="en-US" sz="1250" dirty="0"/>
          </a:p>
        </p:txBody>
      </p:sp>
      <p:sp>
        <p:nvSpPr>
          <p:cNvPr id="15" name="Shape 13"/>
          <p:cNvSpPr/>
          <p:nvPr/>
        </p:nvSpPr>
        <p:spPr>
          <a:xfrm>
            <a:off x="4353458" y="1554480"/>
            <a:ext cx="3484778" cy="3566160"/>
          </a:xfrm>
          <a:prstGeom prst="roundRect">
            <a:avLst>
              <a:gd name="adj" fmla="val 3149"/>
            </a:avLst>
          </a:prstGeom>
          <a:solidFill>
            <a:srgbClr val="FFFFFF"/>
          </a:solidFill>
          <a:ln w="12700">
            <a:solidFill>
              <a:srgbClr val="E4E2DC"/>
            </a:solidFill>
            <a:prstDash val="solid"/>
          </a:ln>
        </p:spPr>
      </p:sp>
      <p:sp>
        <p:nvSpPr>
          <p:cNvPr id="16" name="Shape 14"/>
          <p:cNvSpPr/>
          <p:nvPr/>
        </p:nvSpPr>
        <p:spPr>
          <a:xfrm>
            <a:off x="4673498" y="1938528"/>
            <a:ext cx="201168" cy="201168"/>
          </a:xfrm>
          <a:prstGeom prst="ellipse">
            <a:avLst/>
          </a:prstGeom>
          <a:solidFill>
            <a:srgbClr val="1BAF7A"/>
          </a:solidFill>
          <a:ln w="12700">
            <a:solidFill>
              <a:srgbClr val="1BAF7A"/>
            </a:solidFill>
            <a:prstDash val="solid"/>
          </a:ln>
        </p:spPr>
      </p:sp>
      <p:sp>
        <p:nvSpPr>
          <p:cNvPr id="17" name="Text 15"/>
          <p:cNvSpPr txBox="1"/>
          <p:nvPr/>
        </p:nvSpPr>
        <p:spPr>
          <a:xfrm>
            <a:off x="4993538" y="1828800"/>
            <a:ext cx="2570378" cy="411480"/>
          </a:xfrm>
          <a:prstGeom prst="rect">
            <a:avLst/>
          </a:prstGeom>
          <a:noFill/>
          <a:ln/>
        </p:spPr>
        <p:txBody>
          <a:bodyPr wrap="square" lIns="0" tIns="0" rIns="0" bIns="0" rtlCol="0" anchor="t"/>
          <a:lstStyle/>
          <a:p>
            <a:pPr indent="0" marL="0">
              <a:buNone/>
            </a:pPr>
            <a:r>
              <a:rPr lang="en-US" sz="2000" b="1" dirty="0">
                <a:solidFill>
                  <a:srgbClr val="1D1D1B"/>
                </a:solidFill>
                <a:latin typeface="Malgun Gothic" pitchFamily="34" charset="0"/>
                <a:ea typeface="Malgun Gothic" pitchFamily="34" charset="-122"/>
                <a:cs typeface="Malgun Gothic" pitchFamily="34" charset="-120"/>
              </a:rPr>
              <a:t>코스맥스</a:t>
            </a:r>
            <a:endParaRPr lang="en-US" sz="2000" dirty="0"/>
          </a:p>
        </p:txBody>
      </p:sp>
      <p:sp>
        <p:nvSpPr>
          <p:cNvPr id="18" name="Text 16"/>
          <p:cNvSpPr txBox="1"/>
          <p:nvPr/>
        </p:nvSpPr>
        <p:spPr>
          <a:xfrm>
            <a:off x="4673498" y="2331720"/>
            <a:ext cx="2844698" cy="274320"/>
          </a:xfrm>
          <a:prstGeom prst="rect">
            <a:avLst/>
          </a:prstGeom>
          <a:noFill/>
          <a:ln/>
        </p:spPr>
        <p:txBody>
          <a:bodyPr wrap="square" lIns="0" tIns="0" rIns="0" bIns="0" rtlCol="0" anchor="t"/>
          <a:lstStyle/>
          <a:p>
            <a:pPr indent="0" marL="0">
              <a:buNone/>
            </a:pPr>
            <a:r>
              <a:rPr lang="en-US" sz="1150" dirty="0">
                <a:solidFill>
                  <a:srgbClr val="6B6A66"/>
                </a:solidFill>
                <a:latin typeface="Malgun Gothic" pitchFamily="34" charset="0"/>
                <a:ea typeface="Malgun Gothic" pitchFamily="34" charset="-122"/>
                <a:cs typeface="Malgun Gothic" pitchFamily="34" charset="-120"/>
              </a:rPr>
              <a:t>192820 · 코스피 · 시가총액 3.1조원</a:t>
            </a:r>
            <a:endParaRPr lang="en-US" sz="1150" dirty="0"/>
          </a:p>
        </p:txBody>
      </p:sp>
      <p:sp>
        <p:nvSpPr>
          <p:cNvPr id="19" name="Text 17"/>
          <p:cNvSpPr txBox="1"/>
          <p:nvPr/>
        </p:nvSpPr>
        <p:spPr>
          <a:xfrm>
            <a:off x="4673498" y="2743200"/>
            <a:ext cx="2844698" cy="365760"/>
          </a:xfrm>
          <a:prstGeom prst="rect">
            <a:avLst/>
          </a:prstGeom>
          <a:noFill/>
          <a:ln/>
        </p:spPr>
        <p:txBody>
          <a:bodyPr wrap="square" lIns="0" tIns="0" rIns="0" bIns="0" rtlCol="0" anchor="t"/>
          <a:lstStyle/>
          <a:p>
            <a:pPr indent="0" marL="0">
              <a:buNone/>
            </a:pPr>
            <a:r>
              <a:rPr lang="en-US" sz="1600" b="1" dirty="0">
                <a:solidFill>
                  <a:srgbClr val="1BAF7A"/>
                </a:solidFill>
                <a:latin typeface="Malgun Gothic" pitchFamily="34" charset="0"/>
                <a:ea typeface="Malgun Gothic" pitchFamily="34" charset="-122"/>
                <a:cs typeface="Malgun Gothic" pitchFamily="34" charset="-120"/>
              </a:rPr>
              <a:t>ODM(제조)</a:t>
            </a:r>
            <a:endParaRPr lang="en-US" sz="1600" dirty="0"/>
          </a:p>
        </p:txBody>
      </p:sp>
      <p:sp>
        <p:nvSpPr>
          <p:cNvPr id="20" name="Text 18"/>
          <p:cNvSpPr txBox="1"/>
          <p:nvPr/>
        </p:nvSpPr>
        <p:spPr>
          <a:xfrm>
            <a:off x="4673498" y="3127248"/>
            <a:ext cx="2844698" cy="228600"/>
          </a:xfrm>
          <a:prstGeom prst="rect">
            <a:avLst/>
          </a:prstGeom>
          <a:noFill/>
          <a:ln/>
        </p:spPr>
        <p:txBody>
          <a:bodyPr wrap="square" lIns="0" tIns="0" rIns="0" bIns="0" rtlCol="0" anchor="t"/>
          <a:lstStyle/>
          <a:p>
            <a:pPr indent="0" marL="0">
              <a:buNone/>
            </a:pPr>
            <a:r>
              <a:rPr lang="en-US" sz="1050" b="1" dirty="0">
                <a:solidFill>
                  <a:srgbClr val="6B6A66"/>
                </a:solidFill>
                <a:latin typeface="Malgun Gothic" pitchFamily="34" charset="0"/>
                <a:ea typeface="Malgun Gothic" pitchFamily="34" charset="-122"/>
                <a:cs typeface="Malgun Gothic" pitchFamily="34" charset="-120"/>
              </a:rPr>
              <a:t>주 수익원</a:t>
            </a:r>
            <a:endParaRPr lang="en-US" sz="1050" dirty="0"/>
          </a:p>
        </p:txBody>
      </p:sp>
      <p:sp>
        <p:nvSpPr>
          <p:cNvPr id="21" name="Text 19"/>
          <p:cNvSpPr txBox="1"/>
          <p:nvPr/>
        </p:nvSpPr>
        <p:spPr>
          <a:xfrm>
            <a:off x="4673498" y="3364992"/>
            <a:ext cx="2844698" cy="502920"/>
          </a:xfrm>
          <a:prstGeom prst="rect">
            <a:avLst/>
          </a:prstGeom>
          <a:noFill/>
          <a:ln/>
        </p:spPr>
        <p:txBody>
          <a:bodyPr wrap="square" lIns="0" tIns="0" rIns="0" bIns="0" rtlCol="0" anchor="t"/>
          <a:lstStyle/>
          <a:p>
            <a:pPr indent="0" marL="0">
              <a:buNone/>
            </a:pPr>
            <a:r>
              <a:rPr lang="en-US" sz="1250" dirty="0">
                <a:solidFill>
                  <a:srgbClr val="1D1D1B"/>
                </a:solidFill>
                <a:latin typeface="Malgun Gothic" pitchFamily="34" charset="0"/>
                <a:ea typeface="Malgun Gothic" pitchFamily="34" charset="-122"/>
                <a:cs typeface="Malgun Gothic" pitchFamily="34" charset="-120"/>
              </a:rPr>
              <a:t>고객사 브랜드 제품의</a:t>
            </a:r>
            <a:endParaRPr lang="en-US" sz="1250" dirty="0"/>
          </a:p>
          <a:p>
            <a:pPr indent="0" marL="0">
              <a:buNone/>
            </a:pPr>
            <a:r>
              <a:rPr lang="en-US" sz="1250" dirty="0">
                <a:solidFill>
                  <a:srgbClr val="1D1D1B"/>
                </a:solidFill>
                <a:latin typeface="Malgun Gothic" pitchFamily="34" charset="0"/>
                <a:ea typeface="Malgun Gothic" pitchFamily="34" charset="-122"/>
                <a:cs typeface="Malgun Gothic" pitchFamily="34" charset="-120"/>
              </a:rPr>
              <a:t>개발·생산 (ODM 수주)</a:t>
            </a:r>
            <a:endParaRPr lang="en-US" sz="1250" dirty="0"/>
          </a:p>
        </p:txBody>
      </p:sp>
      <p:sp>
        <p:nvSpPr>
          <p:cNvPr id="22" name="Shape 20"/>
          <p:cNvSpPr/>
          <p:nvPr/>
        </p:nvSpPr>
        <p:spPr>
          <a:xfrm>
            <a:off x="4673498" y="3977640"/>
            <a:ext cx="2844698" cy="0"/>
          </a:xfrm>
          <a:prstGeom prst="line">
            <a:avLst/>
          </a:prstGeom>
          <a:noFill/>
          <a:ln w="12700">
            <a:solidFill>
              <a:srgbClr val="E4E2DC"/>
            </a:solidFill>
            <a:prstDash val="solid"/>
          </a:ln>
        </p:spPr>
      </p:sp>
      <p:sp>
        <p:nvSpPr>
          <p:cNvPr id="23" name="Text 21"/>
          <p:cNvSpPr txBox="1"/>
          <p:nvPr/>
        </p:nvSpPr>
        <p:spPr>
          <a:xfrm>
            <a:off x="4673498" y="4096512"/>
            <a:ext cx="2844698" cy="228600"/>
          </a:xfrm>
          <a:prstGeom prst="rect">
            <a:avLst/>
          </a:prstGeom>
          <a:noFill/>
          <a:ln/>
        </p:spPr>
        <p:txBody>
          <a:bodyPr wrap="square" lIns="0" tIns="0" rIns="0" bIns="0" rtlCol="0" anchor="t"/>
          <a:lstStyle/>
          <a:p>
            <a:pPr indent="0" marL="0">
              <a:buNone/>
            </a:pPr>
            <a:r>
              <a:rPr lang="en-US" sz="1050" b="1" dirty="0">
                <a:solidFill>
                  <a:srgbClr val="2A78D6"/>
                </a:solidFill>
                <a:latin typeface="Malgun Gothic" pitchFamily="34" charset="0"/>
                <a:ea typeface="Malgun Gothic" pitchFamily="34" charset="-122"/>
                <a:cs typeface="Malgun Gothic" pitchFamily="34" charset="-120"/>
              </a:rPr>
              <a:t>은행 관점</a:t>
            </a:r>
            <a:endParaRPr lang="en-US" sz="1050" dirty="0"/>
          </a:p>
        </p:txBody>
      </p:sp>
      <p:sp>
        <p:nvSpPr>
          <p:cNvPr id="24" name="Text 22"/>
          <p:cNvSpPr txBox="1"/>
          <p:nvPr/>
        </p:nvSpPr>
        <p:spPr>
          <a:xfrm>
            <a:off x="4673498" y="4334256"/>
            <a:ext cx="2844698" cy="731520"/>
          </a:xfrm>
          <a:prstGeom prst="rect">
            <a:avLst/>
          </a:prstGeom>
          <a:noFill/>
          <a:ln/>
        </p:spPr>
        <p:txBody>
          <a:bodyPr wrap="square" lIns="0" tIns="0" rIns="0" bIns="0" rtlCol="0" anchor="t"/>
          <a:lstStyle/>
          <a:p>
            <a:pPr indent="0" marL="0">
              <a:buNone/>
            </a:pPr>
            <a:r>
              <a:rPr lang="en-US" sz="1250" dirty="0">
                <a:solidFill>
                  <a:srgbClr val="1D1D1B"/>
                </a:solidFill>
                <a:latin typeface="Malgun Gothic" pitchFamily="34" charset="0"/>
                <a:ea typeface="Malgun Gothic" pitchFamily="34" charset="-122"/>
                <a:cs typeface="Malgun Gothic" pitchFamily="34" charset="-120"/>
              </a:rPr>
              <a:t>설비·운전자금 수요가 큰 제조사</a:t>
            </a:r>
            <a:endParaRPr lang="en-US" sz="1250" dirty="0"/>
          </a:p>
          <a:p>
            <a:pPr indent="0" marL="0">
              <a:buNone/>
            </a:pPr>
            <a:r>
              <a:rPr lang="en-US" sz="1250" dirty="0">
                <a:solidFill>
                  <a:srgbClr val="1D1D1B"/>
                </a:solidFill>
                <a:latin typeface="Malgun Gothic" pitchFamily="34" charset="0"/>
                <a:ea typeface="Malgun Gothic" pitchFamily="34" charset="-122"/>
                <a:cs typeface="Malgun Gothic" pitchFamily="34" charset="-120"/>
              </a:rPr>
              <a:t>부채비율 276.1%</a:t>
            </a:r>
            <a:endParaRPr lang="en-US" sz="1250" dirty="0"/>
          </a:p>
          <a:p>
            <a:pPr indent="0" marL="0">
              <a:buNone/>
            </a:pPr>
            <a:r>
              <a:rPr lang="en-US" sz="1250" dirty="0">
                <a:solidFill>
                  <a:srgbClr val="1D1D1B"/>
                </a:solidFill>
                <a:latin typeface="Malgun Gothic" pitchFamily="34" charset="0"/>
                <a:ea typeface="Malgun Gothic" pitchFamily="34" charset="-122"/>
                <a:cs typeface="Malgun Gothic" pitchFamily="34" charset="-120"/>
              </a:rPr>
              <a:t>유동비율 90.1%</a:t>
            </a:r>
            <a:endParaRPr lang="en-US" sz="1250" dirty="0"/>
          </a:p>
        </p:txBody>
      </p:sp>
      <p:sp>
        <p:nvSpPr>
          <p:cNvPr id="25" name="Shape 23"/>
          <p:cNvSpPr/>
          <p:nvPr/>
        </p:nvSpPr>
        <p:spPr>
          <a:xfrm>
            <a:off x="8158277" y="1554480"/>
            <a:ext cx="3484778" cy="3566160"/>
          </a:xfrm>
          <a:prstGeom prst="roundRect">
            <a:avLst>
              <a:gd name="adj" fmla="val 3149"/>
            </a:avLst>
          </a:prstGeom>
          <a:solidFill>
            <a:srgbClr val="FFFFFF"/>
          </a:solidFill>
          <a:ln w="12700">
            <a:solidFill>
              <a:srgbClr val="E4E2DC"/>
            </a:solidFill>
            <a:prstDash val="solid"/>
          </a:ln>
        </p:spPr>
      </p:sp>
      <p:sp>
        <p:nvSpPr>
          <p:cNvPr id="26" name="Shape 24"/>
          <p:cNvSpPr/>
          <p:nvPr/>
        </p:nvSpPr>
        <p:spPr>
          <a:xfrm>
            <a:off x="8478317" y="1938528"/>
            <a:ext cx="201168" cy="201168"/>
          </a:xfrm>
          <a:prstGeom prst="ellipse">
            <a:avLst/>
          </a:prstGeom>
          <a:solidFill>
            <a:srgbClr val="2A78D6"/>
          </a:solidFill>
          <a:ln w="12700">
            <a:solidFill>
              <a:srgbClr val="2A78D6"/>
            </a:solidFill>
            <a:prstDash val="solid"/>
          </a:ln>
        </p:spPr>
      </p:sp>
      <p:sp>
        <p:nvSpPr>
          <p:cNvPr id="27" name="Text 25"/>
          <p:cNvSpPr txBox="1"/>
          <p:nvPr/>
        </p:nvSpPr>
        <p:spPr>
          <a:xfrm>
            <a:off x="8798357" y="1828800"/>
            <a:ext cx="2570378" cy="411480"/>
          </a:xfrm>
          <a:prstGeom prst="rect">
            <a:avLst/>
          </a:prstGeom>
          <a:noFill/>
          <a:ln/>
        </p:spPr>
        <p:txBody>
          <a:bodyPr wrap="square" lIns="0" tIns="0" rIns="0" bIns="0" rtlCol="0" anchor="t"/>
          <a:lstStyle/>
          <a:p>
            <a:pPr indent="0" marL="0">
              <a:buNone/>
            </a:pPr>
            <a:r>
              <a:rPr lang="en-US" sz="2000" b="1" dirty="0">
                <a:solidFill>
                  <a:srgbClr val="1D1D1B"/>
                </a:solidFill>
                <a:latin typeface="Malgun Gothic" pitchFamily="34" charset="0"/>
                <a:ea typeface="Malgun Gothic" pitchFamily="34" charset="-122"/>
                <a:cs typeface="Malgun Gothic" pitchFamily="34" charset="-120"/>
              </a:rPr>
              <a:t>에이피알</a:t>
            </a:r>
            <a:endParaRPr lang="en-US" sz="2000" dirty="0"/>
          </a:p>
        </p:txBody>
      </p:sp>
      <p:sp>
        <p:nvSpPr>
          <p:cNvPr id="28" name="Text 26"/>
          <p:cNvSpPr txBox="1"/>
          <p:nvPr/>
        </p:nvSpPr>
        <p:spPr>
          <a:xfrm>
            <a:off x="8478317" y="2331720"/>
            <a:ext cx="2844698" cy="274320"/>
          </a:xfrm>
          <a:prstGeom prst="rect">
            <a:avLst/>
          </a:prstGeom>
          <a:noFill/>
          <a:ln/>
        </p:spPr>
        <p:txBody>
          <a:bodyPr wrap="square" lIns="0" tIns="0" rIns="0" bIns="0" rtlCol="0" anchor="t"/>
          <a:lstStyle/>
          <a:p>
            <a:pPr indent="0" marL="0">
              <a:buNone/>
            </a:pPr>
            <a:r>
              <a:rPr lang="en-US" sz="1150" dirty="0">
                <a:solidFill>
                  <a:srgbClr val="6B6A66"/>
                </a:solidFill>
                <a:latin typeface="Malgun Gothic" pitchFamily="34" charset="0"/>
                <a:ea typeface="Malgun Gothic" pitchFamily="34" charset="-122"/>
                <a:cs typeface="Malgun Gothic" pitchFamily="34" charset="-120"/>
              </a:rPr>
              <a:t>278470 · 코스피 · 시가총액 13.8조원</a:t>
            </a:r>
            <a:endParaRPr lang="en-US" sz="1150" dirty="0"/>
          </a:p>
        </p:txBody>
      </p:sp>
      <p:sp>
        <p:nvSpPr>
          <p:cNvPr id="29" name="Text 27"/>
          <p:cNvSpPr txBox="1"/>
          <p:nvPr/>
        </p:nvSpPr>
        <p:spPr>
          <a:xfrm>
            <a:off x="8478317" y="2743200"/>
            <a:ext cx="2844698" cy="365760"/>
          </a:xfrm>
          <a:prstGeom prst="rect">
            <a:avLst/>
          </a:prstGeom>
          <a:noFill/>
          <a:ln/>
        </p:spPr>
        <p:txBody>
          <a:bodyPr wrap="square" lIns="0" tIns="0" rIns="0" bIns="0" rtlCol="0" anchor="t"/>
          <a:lstStyle/>
          <a:p>
            <a:pPr indent="0" marL="0">
              <a:buNone/>
            </a:pPr>
            <a:r>
              <a:rPr lang="en-US" sz="1600" b="1" dirty="0">
                <a:solidFill>
                  <a:srgbClr val="2A78D6"/>
                </a:solidFill>
                <a:latin typeface="Malgun Gothic" pitchFamily="34" charset="0"/>
                <a:ea typeface="Malgun Gothic" pitchFamily="34" charset="-122"/>
                <a:cs typeface="Malgun Gothic" pitchFamily="34" charset="-120"/>
              </a:rPr>
              <a:t>글로벌 브랜드(D2C 출발)</a:t>
            </a:r>
            <a:endParaRPr lang="en-US" sz="1600" dirty="0"/>
          </a:p>
        </p:txBody>
      </p:sp>
      <p:sp>
        <p:nvSpPr>
          <p:cNvPr id="30" name="Text 28"/>
          <p:cNvSpPr txBox="1"/>
          <p:nvPr/>
        </p:nvSpPr>
        <p:spPr>
          <a:xfrm>
            <a:off x="8478317" y="3127248"/>
            <a:ext cx="2844698" cy="228600"/>
          </a:xfrm>
          <a:prstGeom prst="rect">
            <a:avLst/>
          </a:prstGeom>
          <a:noFill/>
          <a:ln/>
        </p:spPr>
        <p:txBody>
          <a:bodyPr wrap="square" lIns="0" tIns="0" rIns="0" bIns="0" rtlCol="0" anchor="t"/>
          <a:lstStyle/>
          <a:p>
            <a:pPr indent="0" marL="0">
              <a:buNone/>
            </a:pPr>
            <a:r>
              <a:rPr lang="en-US" sz="1050" b="1" dirty="0">
                <a:solidFill>
                  <a:srgbClr val="6B6A66"/>
                </a:solidFill>
                <a:latin typeface="Malgun Gothic" pitchFamily="34" charset="0"/>
                <a:ea typeface="Malgun Gothic" pitchFamily="34" charset="-122"/>
                <a:cs typeface="Malgun Gothic" pitchFamily="34" charset="-120"/>
              </a:rPr>
              <a:t>주 수익원</a:t>
            </a:r>
            <a:endParaRPr lang="en-US" sz="1050" dirty="0"/>
          </a:p>
        </p:txBody>
      </p:sp>
      <p:sp>
        <p:nvSpPr>
          <p:cNvPr id="31" name="Text 29"/>
          <p:cNvSpPr txBox="1"/>
          <p:nvPr/>
        </p:nvSpPr>
        <p:spPr>
          <a:xfrm>
            <a:off x="8478317" y="3364992"/>
            <a:ext cx="2844698" cy="502920"/>
          </a:xfrm>
          <a:prstGeom prst="rect">
            <a:avLst/>
          </a:prstGeom>
          <a:noFill/>
          <a:ln/>
        </p:spPr>
        <p:txBody>
          <a:bodyPr wrap="square" lIns="0" tIns="0" rIns="0" bIns="0" rtlCol="0" anchor="t"/>
          <a:lstStyle/>
          <a:p>
            <a:pPr indent="0" marL="0">
              <a:buNone/>
            </a:pPr>
            <a:r>
              <a:rPr lang="en-US" sz="1250" dirty="0">
                <a:solidFill>
                  <a:srgbClr val="1D1D1B"/>
                </a:solidFill>
                <a:latin typeface="Malgun Gothic" pitchFamily="34" charset="0"/>
                <a:ea typeface="Malgun Gothic" pitchFamily="34" charset="-122"/>
                <a:cs typeface="Malgun Gothic" pitchFamily="34" charset="-120"/>
              </a:rPr>
              <a:t>자사 브랜드 화장품과</a:t>
            </a:r>
            <a:endParaRPr lang="en-US" sz="1250" dirty="0"/>
          </a:p>
          <a:p>
            <a:pPr indent="0" marL="0">
              <a:buNone/>
            </a:pPr>
            <a:r>
              <a:rPr lang="en-US" sz="1250" dirty="0">
                <a:solidFill>
                  <a:srgbClr val="1D1D1B"/>
                </a:solidFill>
                <a:latin typeface="Malgun Gothic" pitchFamily="34" charset="0"/>
                <a:ea typeface="Malgun Gothic" pitchFamily="34" charset="-122"/>
                <a:cs typeface="Malgun Gothic" pitchFamily="34" charset="-120"/>
              </a:rPr>
              <a:t>뷰티 디바이스 판매 (해외 중심)</a:t>
            </a:r>
            <a:endParaRPr lang="en-US" sz="1250" dirty="0"/>
          </a:p>
        </p:txBody>
      </p:sp>
      <p:sp>
        <p:nvSpPr>
          <p:cNvPr id="32" name="Shape 30"/>
          <p:cNvSpPr/>
          <p:nvPr/>
        </p:nvSpPr>
        <p:spPr>
          <a:xfrm>
            <a:off x="8478317" y="3977640"/>
            <a:ext cx="2844698" cy="0"/>
          </a:xfrm>
          <a:prstGeom prst="line">
            <a:avLst/>
          </a:prstGeom>
          <a:noFill/>
          <a:ln w="12700">
            <a:solidFill>
              <a:srgbClr val="E4E2DC"/>
            </a:solidFill>
            <a:prstDash val="solid"/>
          </a:ln>
        </p:spPr>
      </p:sp>
      <p:sp>
        <p:nvSpPr>
          <p:cNvPr id="33" name="Text 31"/>
          <p:cNvSpPr txBox="1"/>
          <p:nvPr/>
        </p:nvSpPr>
        <p:spPr>
          <a:xfrm>
            <a:off x="8478317" y="4096512"/>
            <a:ext cx="2844698" cy="228600"/>
          </a:xfrm>
          <a:prstGeom prst="rect">
            <a:avLst/>
          </a:prstGeom>
          <a:noFill/>
          <a:ln/>
        </p:spPr>
        <p:txBody>
          <a:bodyPr wrap="square" lIns="0" tIns="0" rIns="0" bIns="0" rtlCol="0" anchor="t"/>
          <a:lstStyle/>
          <a:p>
            <a:pPr indent="0" marL="0">
              <a:buNone/>
            </a:pPr>
            <a:r>
              <a:rPr lang="en-US" sz="1050" b="1" dirty="0">
                <a:solidFill>
                  <a:srgbClr val="2A78D6"/>
                </a:solidFill>
                <a:latin typeface="Malgun Gothic" pitchFamily="34" charset="0"/>
                <a:ea typeface="Malgun Gothic" pitchFamily="34" charset="-122"/>
                <a:cs typeface="Malgun Gothic" pitchFamily="34" charset="-120"/>
              </a:rPr>
              <a:t>은행 관점</a:t>
            </a:r>
            <a:endParaRPr lang="en-US" sz="1050" dirty="0"/>
          </a:p>
        </p:txBody>
      </p:sp>
      <p:sp>
        <p:nvSpPr>
          <p:cNvPr id="34" name="Text 32"/>
          <p:cNvSpPr txBox="1"/>
          <p:nvPr/>
        </p:nvSpPr>
        <p:spPr>
          <a:xfrm>
            <a:off x="8478317" y="4334256"/>
            <a:ext cx="2844698" cy="731520"/>
          </a:xfrm>
          <a:prstGeom prst="rect">
            <a:avLst/>
          </a:prstGeom>
          <a:noFill/>
          <a:ln/>
        </p:spPr>
        <p:txBody>
          <a:bodyPr wrap="square" lIns="0" tIns="0" rIns="0" bIns="0" rtlCol="0" anchor="t"/>
          <a:lstStyle/>
          <a:p>
            <a:pPr indent="0" marL="0">
              <a:buNone/>
            </a:pPr>
            <a:r>
              <a:rPr lang="en-US" sz="1250" dirty="0">
                <a:solidFill>
                  <a:srgbClr val="1D1D1B"/>
                </a:solidFill>
                <a:latin typeface="Malgun Gothic" pitchFamily="34" charset="0"/>
                <a:ea typeface="Malgun Gothic" pitchFamily="34" charset="-122"/>
                <a:cs typeface="Malgun Gothic" pitchFamily="34" charset="-120"/>
              </a:rPr>
              <a:t>해외 매출 중심으로 급성장</a:t>
            </a:r>
            <a:endParaRPr lang="en-US" sz="1250" dirty="0"/>
          </a:p>
          <a:p>
            <a:pPr indent="0" marL="0">
              <a:buNone/>
            </a:pPr>
            <a:r>
              <a:rPr lang="en-US" sz="1250" dirty="0">
                <a:solidFill>
                  <a:srgbClr val="1D1D1B"/>
                </a:solidFill>
                <a:latin typeface="Malgun Gothic" pitchFamily="34" charset="0"/>
                <a:ea typeface="Malgun Gothic" pitchFamily="34" charset="-122"/>
                <a:cs typeface="Malgun Gothic" pitchFamily="34" charset="-120"/>
              </a:rPr>
              <a:t>해외 비중 92.0%</a:t>
            </a:r>
            <a:endParaRPr lang="en-US" sz="1250" dirty="0"/>
          </a:p>
          <a:p>
            <a:pPr indent="0" marL="0">
              <a:buNone/>
            </a:pPr>
            <a:r>
              <a:rPr lang="en-US" sz="1250" dirty="0">
                <a:solidFill>
                  <a:srgbClr val="1D1D1B"/>
                </a:solidFill>
                <a:latin typeface="Malgun Gothic" pitchFamily="34" charset="0"/>
                <a:ea typeface="Malgun Gothic" pitchFamily="34" charset="-122"/>
                <a:cs typeface="Malgun Gothic" pitchFamily="34" charset="-120"/>
              </a:rPr>
              <a:t>매출 +134.2% (전년 동기 대비)</a:t>
            </a:r>
            <a:endParaRPr lang="en-US" sz="1250" dirty="0"/>
          </a:p>
        </p:txBody>
      </p:sp>
      <p:sp>
        <p:nvSpPr>
          <p:cNvPr id="35" name="Shape 33"/>
          <p:cNvSpPr/>
          <p:nvPr/>
        </p:nvSpPr>
        <p:spPr>
          <a:xfrm>
            <a:off x="548640" y="5440680"/>
            <a:ext cx="1970166" cy="548640"/>
          </a:xfrm>
          <a:prstGeom prst="roundRect">
            <a:avLst>
              <a:gd name="adj" fmla="val 20000"/>
            </a:avLst>
          </a:prstGeom>
          <a:solidFill>
            <a:srgbClr val="F4F6F9"/>
          </a:solidFill>
          <a:ln w="12700">
            <a:solidFill>
              <a:srgbClr val="F4F6F9"/>
            </a:solidFill>
            <a:prstDash val="solid"/>
          </a:ln>
        </p:spPr>
      </p:sp>
      <p:sp>
        <p:nvSpPr>
          <p:cNvPr id="36" name="Text 34"/>
          <p:cNvSpPr txBox="1"/>
          <p:nvPr/>
        </p:nvSpPr>
        <p:spPr>
          <a:xfrm>
            <a:off x="548640" y="5440680"/>
            <a:ext cx="1970166" cy="548640"/>
          </a:xfrm>
          <a:prstGeom prst="rect">
            <a:avLst/>
          </a:prstGeom>
          <a:noFill/>
          <a:ln/>
        </p:spPr>
        <p:txBody>
          <a:bodyPr wrap="square" lIns="0" tIns="0" rIns="0" bIns="0" rtlCol="0" anchor="ctr"/>
          <a:lstStyle/>
          <a:p>
            <a:pPr algn="ctr" indent="0" marL="0">
              <a:buNone/>
            </a:pPr>
            <a:r>
              <a:rPr lang="en-US" sz="1400" b="1" dirty="0">
                <a:solidFill>
                  <a:srgbClr val="1D1D1B"/>
                </a:solidFill>
                <a:latin typeface="Malgun Gothic" pitchFamily="34" charset="0"/>
                <a:ea typeface="Malgun Gothic" pitchFamily="34" charset="-122"/>
                <a:cs typeface="Malgun Gothic" pitchFamily="34" charset="-120"/>
              </a:rPr>
              <a:t>성장의 질</a:t>
            </a:r>
            <a:endParaRPr lang="en-US" sz="1400" dirty="0"/>
          </a:p>
        </p:txBody>
      </p:sp>
      <p:sp>
        <p:nvSpPr>
          <p:cNvPr id="37" name="Text 35"/>
          <p:cNvSpPr txBox="1"/>
          <p:nvPr/>
        </p:nvSpPr>
        <p:spPr>
          <a:xfrm>
            <a:off x="2518806" y="5440680"/>
            <a:ext cx="310896" cy="548640"/>
          </a:xfrm>
          <a:prstGeom prst="rect">
            <a:avLst/>
          </a:prstGeom>
          <a:noFill/>
          <a:ln/>
        </p:spPr>
        <p:txBody>
          <a:bodyPr wrap="square" lIns="0" tIns="0" rIns="0" bIns="0" rtlCol="0" anchor="ctr"/>
          <a:lstStyle/>
          <a:p>
            <a:pPr algn="ctr" indent="0" marL="0">
              <a:buNone/>
            </a:pPr>
            <a:r>
              <a:rPr lang="en-US" sz="2000" b="1" dirty="0">
                <a:solidFill>
                  <a:srgbClr val="6B6A66"/>
                </a:solidFill>
                <a:latin typeface="Malgun Gothic" pitchFamily="34" charset="0"/>
                <a:ea typeface="Malgun Gothic" pitchFamily="34" charset="-122"/>
                <a:cs typeface="Malgun Gothic" pitchFamily="34" charset="-120"/>
              </a:rPr>
              <a:t>›</a:t>
            </a:r>
            <a:endParaRPr lang="en-US" sz="2000" dirty="0"/>
          </a:p>
        </p:txBody>
      </p:sp>
      <p:sp>
        <p:nvSpPr>
          <p:cNvPr id="38" name="Shape 36"/>
          <p:cNvSpPr/>
          <p:nvPr/>
        </p:nvSpPr>
        <p:spPr>
          <a:xfrm>
            <a:off x="2829702" y="5440680"/>
            <a:ext cx="1970166" cy="548640"/>
          </a:xfrm>
          <a:prstGeom prst="roundRect">
            <a:avLst>
              <a:gd name="adj" fmla="val 20000"/>
            </a:avLst>
          </a:prstGeom>
          <a:solidFill>
            <a:srgbClr val="F4F6F9"/>
          </a:solidFill>
          <a:ln w="12700">
            <a:solidFill>
              <a:srgbClr val="F4F6F9"/>
            </a:solidFill>
            <a:prstDash val="solid"/>
          </a:ln>
        </p:spPr>
      </p:sp>
      <p:sp>
        <p:nvSpPr>
          <p:cNvPr id="39" name="Text 37"/>
          <p:cNvSpPr txBox="1"/>
          <p:nvPr/>
        </p:nvSpPr>
        <p:spPr>
          <a:xfrm>
            <a:off x="2829702" y="5440680"/>
            <a:ext cx="1970166" cy="548640"/>
          </a:xfrm>
          <a:prstGeom prst="rect">
            <a:avLst/>
          </a:prstGeom>
          <a:noFill/>
          <a:ln/>
        </p:spPr>
        <p:txBody>
          <a:bodyPr wrap="square" lIns="0" tIns="0" rIns="0" bIns="0" rtlCol="0" anchor="ctr"/>
          <a:lstStyle/>
          <a:p>
            <a:pPr algn="ctr" indent="0" marL="0">
              <a:buNone/>
            </a:pPr>
            <a:r>
              <a:rPr lang="en-US" sz="1400" b="1" dirty="0">
                <a:solidFill>
                  <a:srgbClr val="1D1D1B"/>
                </a:solidFill>
                <a:latin typeface="Malgun Gothic" pitchFamily="34" charset="0"/>
                <a:ea typeface="Malgun Gothic" pitchFamily="34" charset="-122"/>
                <a:cs typeface="Malgun Gothic" pitchFamily="34" charset="-120"/>
              </a:rPr>
              <a:t>상환 체력</a:t>
            </a:r>
            <a:endParaRPr lang="en-US" sz="1400" dirty="0"/>
          </a:p>
        </p:txBody>
      </p:sp>
      <p:sp>
        <p:nvSpPr>
          <p:cNvPr id="40" name="Text 38"/>
          <p:cNvSpPr txBox="1"/>
          <p:nvPr/>
        </p:nvSpPr>
        <p:spPr>
          <a:xfrm>
            <a:off x="4799868" y="5440680"/>
            <a:ext cx="310896" cy="548640"/>
          </a:xfrm>
          <a:prstGeom prst="rect">
            <a:avLst/>
          </a:prstGeom>
          <a:noFill/>
          <a:ln/>
        </p:spPr>
        <p:txBody>
          <a:bodyPr wrap="square" lIns="0" tIns="0" rIns="0" bIns="0" rtlCol="0" anchor="ctr"/>
          <a:lstStyle/>
          <a:p>
            <a:pPr algn="ctr" indent="0" marL="0">
              <a:buNone/>
            </a:pPr>
            <a:r>
              <a:rPr lang="en-US" sz="2000" b="1" dirty="0">
                <a:solidFill>
                  <a:srgbClr val="6B6A66"/>
                </a:solidFill>
                <a:latin typeface="Malgun Gothic" pitchFamily="34" charset="0"/>
                <a:ea typeface="Malgun Gothic" pitchFamily="34" charset="-122"/>
                <a:cs typeface="Malgun Gothic" pitchFamily="34" charset="-120"/>
              </a:rPr>
              <a:t>›</a:t>
            </a:r>
            <a:endParaRPr lang="en-US" sz="2000" dirty="0"/>
          </a:p>
        </p:txBody>
      </p:sp>
      <p:sp>
        <p:nvSpPr>
          <p:cNvPr id="41" name="Shape 39"/>
          <p:cNvSpPr/>
          <p:nvPr/>
        </p:nvSpPr>
        <p:spPr>
          <a:xfrm>
            <a:off x="5110764" y="5440680"/>
            <a:ext cx="1970166" cy="548640"/>
          </a:xfrm>
          <a:prstGeom prst="roundRect">
            <a:avLst>
              <a:gd name="adj" fmla="val 20000"/>
            </a:avLst>
          </a:prstGeom>
          <a:solidFill>
            <a:srgbClr val="F4F6F9"/>
          </a:solidFill>
          <a:ln w="12700">
            <a:solidFill>
              <a:srgbClr val="F4F6F9"/>
            </a:solidFill>
            <a:prstDash val="solid"/>
          </a:ln>
        </p:spPr>
      </p:sp>
      <p:sp>
        <p:nvSpPr>
          <p:cNvPr id="42" name="Text 40"/>
          <p:cNvSpPr txBox="1"/>
          <p:nvPr/>
        </p:nvSpPr>
        <p:spPr>
          <a:xfrm>
            <a:off x="5110764" y="5440680"/>
            <a:ext cx="1970166" cy="548640"/>
          </a:xfrm>
          <a:prstGeom prst="rect">
            <a:avLst/>
          </a:prstGeom>
          <a:noFill/>
          <a:ln/>
        </p:spPr>
        <p:txBody>
          <a:bodyPr wrap="square" lIns="0" tIns="0" rIns="0" bIns="0" rtlCol="0" anchor="ctr"/>
          <a:lstStyle/>
          <a:p>
            <a:pPr algn="ctr" indent="0" marL="0">
              <a:buNone/>
            </a:pPr>
            <a:r>
              <a:rPr lang="en-US" sz="1400" b="1" dirty="0">
                <a:solidFill>
                  <a:srgbClr val="1D1D1B"/>
                </a:solidFill>
                <a:latin typeface="Malgun Gothic" pitchFamily="34" charset="0"/>
                <a:ea typeface="Malgun Gothic" pitchFamily="34" charset="-122"/>
                <a:cs typeface="Malgun Gothic" pitchFamily="34" charset="-120"/>
              </a:rPr>
              <a:t>신용 리스크</a:t>
            </a:r>
            <a:endParaRPr lang="en-US" sz="1400" dirty="0"/>
          </a:p>
        </p:txBody>
      </p:sp>
      <p:sp>
        <p:nvSpPr>
          <p:cNvPr id="43" name="Text 41"/>
          <p:cNvSpPr txBox="1"/>
          <p:nvPr/>
        </p:nvSpPr>
        <p:spPr>
          <a:xfrm>
            <a:off x="7080931" y="5440680"/>
            <a:ext cx="310896" cy="548640"/>
          </a:xfrm>
          <a:prstGeom prst="rect">
            <a:avLst/>
          </a:prstGeom>
          <a:noFill/>
          <a:ln/>
        </p:spPr>
        <p:txBody>
          <a:bodyPr wrap="square" lIns="0" tIns="0" rIns="0" bIns="0" rtlCol="0" anchor="ctr"/>
          <a:lstStyle/>
          <a:p>
            <a:pPr algn="ctr" indent="0" marL="0">
              <a:buNone/>
            </a:pPr>
            <a:r>
              <a:rPr lang="en-US" sz="2000" b="1" dirty="0">
                <a:solidFill>
                  <a:srgbClr val="6B6A66"/>
                </a:solidFill>
                <a:latin typeface="Malgun Gothic" pitchFamily="34" charset="0"/>
                <a:ea typeface="Malgun Gothic" pitchFamily="34" charset="-122"/>
                <a:cs typeface="Malgun Gothic" pitchFamily="34" charset="-120"/>
              </a:rPr>
              <a:t>›</a:t>
            </a:r>
            <a:endParaRPr lang="en-US" sz="2000" dirty="0"/>
          </a:p>
        </p:txBody>
      </p:sp>
      <p:sp>
        <p:nvSpPr>
          <p:cNvPr id="44" name="Shape 42"/>
          <p:cNvSpPr/>
          <p:nvPr/>
        </p:nvSpPr>
        <p:spPr>
          <a:xfrm>
            <a:off x="7391827" y="5440680"/>
            <a:ext cx="1970166" cy="548640"/>
          </a:xfrm>
          <a:prstGeom prst="roundRect">
            <a:avLst>
              <a:gd name="adj" fmla="val 20000"/>
            </a:avLst>
          </a:prstGeom>
          <a:solidFill>
            <a:srgbClr val="F4F6F9"/>
          </a:solidFill>
          <a:ln w="12700">
            <a:solidFill>
              <a:srgbClr val="F4F6F9"/>
            </a:solidFill>
            <a:prstDash val="solid"/>
          </a:ln>
        </p:spPr>
      </p:sp>
      <p:sp>
        <p:nvSpPr>
          <p:cNvPr id="45" name="Text 43"/>
          <p:cNvSpPr txBox="1"/>
          <p:nvPr/>
        </p:nvSpPr>
        <p:spPr>
          <a:xfrm>
            <a:off x="7391827" y="5440680"/>
            <a:ext cx="1970166" cy="548640"/>
          </a:xfrm>
          <a:prstGeom prst="rect">
            <a:avLst/>
          </a:prstGeom>
          <a:noFill/>
          <a:ln/>
        </p:spPr>
        <p:txBody>
          <a:bodyPr wrap="square" lIns="0" tIns="0" rIns="0" bIns="0" rtlCol="0" anchor="ctr"/>
          <a:lstStyle/>
          <a:p>
            <a:pPr algn="ctr" indent="0" marL="0">
              <a:buNone/>
            </a:pPr>
            <a:r>
              <a:rPr lang="en-US" sz="1400" b="1" dirty="0">
                <a:solidFill>
                  <a:srgbClr val="1D1D1B"/>
                </a:solidFill>
                <a:latin typeface="Malgun Gothic" pitchFamily="34" charset="0"/>
                <a:ea typeface="Malgun Gothic" pitchFamily="34" charset="-122"/>
                <a:cs typeface="Malgun Gothic" pitchFamily="34" charset="-120"/>
              </a:rPr>
              <a:t>시장 평가</a:t>
            </a:r>
            <a:endParaRPr lang="en-US" sz="1400" dirty="0"/>
          </a:p>
        </p:txBody>
      </p:sp>
      <p:sp>
        <p:nvSpPr>
          <p:cNvPr id="46" name="Text 44"/>
          <p:cNvSpPr txBox="1"/>
          <p:nvPr/>
        </p:nvSpPr>
        <p:spPr>
          <a:xfrm>
            <a:off x="9361993" y="5440680"/>
            <a:ext cx="310896" cy="548640"/>
          </a:xfrm>
          <a:prstGeom prst="rect">
            <a:avLst/>
          </a:prstGeom>
          <a:noFill/>
          <a:ln/>
        </p:spPr>
        <p:txBody>
          <a:bodyPr wrap="square" lIns="0" tIns="0" rIns="0" bIns="0" rtlCol="0" anchor="ctr"/>
          <a:lstStyle/>
          <a:p>
            <a:pPr algn="ctr" indent="0" marL="0">
              <a:buNone/>
            </a:pPr>
            <a:r>
              <a:rPr lang="en-US" sz="2000" b="1" dirty="0">
                <a:solidFill>
                  <a:srgbClr val="6B6A66"/>
                </a:solidFill>
                <a:latin typeface="Malgun Gothic" pitchFamily="34" charset="0"/>
                <a:ea typeface="Malgun Gothic" pitchFamily="34" charset="-122"/>
                <a:cs typeface="Malgun Gothic" pitchFamily="34" charset="-120"/>
              </a:rPr>
              <a:t>›</a:t>
            </a:r>
            <a:endParaRPr lang="en-US" sz="2000" dirty="0"/>
          </a:p>
        </p:txBody>
      </p:sp>
      <p:sp>
        <p:nvSpPr>
          <p:cNvPr id="47" name="Shape 45"/>
          <p:cNvSpPr/>
          <p:nvPr/>
        </p:nvSpPr>
        <p:spPr>
          <a:xfrm>
            <a:off x="9672889" y="5440680"/>
            <a:ext cx="1970166" cy="548640"/>
          </a:xfrm>
          <a:prstGeom prst="roundRect">
            <a:avLst>
              <a:gd name="adj" fmla="val 20000"/>
            </a:avLst>
          </a:prstGeom>
          <a:solidFill>
            <a:srgbClr val="2A78D6"/>
          </a:solidFill>
          <a:ln w="12700">
            <a:solidFill>
              <a:srgbClr val="2A78D6"/>
            </a:solidFill>
            <a:prstDash val="solid"/>
          </a:ln>
        </p:spPr>
      </p:sp>
      <p:sp>
        <p:nvSpPr>
          <p:cNvPr id="48" name="Text 46"/>
          <p:cNvSpPr txBox="1"/>
          <p:nvPr/>
        </p:nvSpPr>
        <p:spPr>
          <a:xfrm>
            <a:off x="9672889" y="5440680"/>
            <a:ext cx="1970166"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은행의 판단</a:t>
            </a:r>
            <a:endParaRPr lang="en-US" sz="1400" dirty="0"/>
          </a:p>
        </p:txBody>
      </p:sp>
      <p:sp>
        <p:nvSpPr>
          <p:cNvPr id="49" name="Text 47"/>
          <p:cNvSpPr txBox="1"/>
          <p:nvPr/>
        </p:nvSpPr>
        <p:spPr>
          <a:xfrm>
            <a:off x="548640" y="6254496"/>
            <a:ext cx="10545775" cy="374904"/>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밸류체인 위치는 각 사의 매출이 주로 어디서 나오는지(주 수익원) 기준. 에이피알은 아마존·오프라인으로도 팔아 "D2C 출발"로 표기</a:t>
            </a:r>
            <a:endParaRPr lang="en-US" sz="900" dirty="0"/>
          </a:p>
          <a:p>
            <a:pPr indent="0" marL="0">
              <a:buNone/>
            </a:pPr>
            <a:r>
              <a:rPr lang="en-US" sz="900" dirty="0">
                <a:solidFill>
                  <a:srgbClr val="6B6A66"/>
                </a:solidFill>
                <a:latin typeface="Malgun Gothic" pitchFamily="34" charset="0"/>
                <a:ea typeface="Malgun Gothic" pitchFamily="34" charset="-122"/>
                <a:cs typeface="Malgun Gothic" pitchFamily="34" charset="-120"/>
              </a:rPr>
              <a:t>ODM = 제조자개발생산 (고객사 브랜드 제품을 개발·생산) · D2C(Direct to Consumer) = 자사몰 등으로 소비자에게 직접 판매 · 코스피 = 한국거래소 유가증권시장</a:t>
            </a:r>
            <a:endParaRPr lang="en-US" sz="900" dirty="0"/>
          </a:p>
        </p:txBody>
      </p:sp>
      <p:sp>
        <p:nvSpPr>
          <p:cNvPr id="50" name="Text 48"/>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데이터</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네이버증권 + OpenDART로 수집</a:t>
            </a:r>
            <a:endParaRPr lang="en-US" sz="2800" dirty="0"/>
          </a:p>
        </p:txBody>
      </p:sp>
      <p:sp>
        <p:nvSpPr>
          <p:cNvPr id="5" name="Shape 3"/>
          <p:cNvSpPr/>
          <p:nvPr/>
        </p:nvSpPr>
        <p:spPr>
          <a:xfrm>
            <a:off x="548640" y="1572768"/>
            <a:ext cx="5852160" cy="914400"/>
          </a:xfrm>
          <a:prstGeom prst="roundRect">
            <a:avLst>
              <a:gd name="adj" fmla="val 12000"/>
            </a:avLst>
          </a:prstGeom>
          <a:solidFill>
            <a:srgbClr val="FFFFFF"/>
          </a:solidFill>
          <a:ln w="12700">
            <a:solidFill>
              <a:srgbClr val="E4E2DC"/>
            </a:solidFill>
            <a:prstDash val="solid"/>
          </a:ln>
        </p:spPr>
      </p:sp>
      <p:sp>
        <p:nvSpPr>
          <p:cNvPr id="6" name="Text 4"/>
          <p:cNvSpPr txBox="1"/>
          <p:nvPr/>
        </p:nvSpPr>
        <p:spPr>
          <a:xfrm>
            <a:off x="777240" y="1709928"/>
            <a:ext cx="3291840" cy="320040"/>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네이버증권</a:t>
            </a:r>
            <a:endParaRPr lang="en-US" sz="1500" dirty="0"/>
          </a:p>
        </p:txBody>
      </p:sp>
      <p:sp>
        <p:nvSpPr>
          <p:cNvPr id="7" name="Text 5"/>
          <p:cNvSpPr txBox="1"/>
          <p:nvPr/>
        </p:nvSpPr>
        <p:spPr>
          <a:xfrm>
            <a:off x="4114800" y="1737360"/>
            <a:ext cx="2103120" cy="274320"/>
          </a:xfrm>
          <a:prstGeom prst="rect">
            <a:avLst/>
          </a:prstGeom>
          <a:noFill/>
          <a:ln/>
        </p:spPr>
        <p:txBody>
          <a:bodyPr wrap="square" lIns="0" tIns="0" rIns="0" bIns="0" rtlCol="0" anchor="t"/>
          <a:lstStyle/>
          <a:p>
            <a:pPr algn="r" indent="0" marL="0">
              <a:buNone/>
            </a:pPr>
            <a:r>
              <a:rPr lang="en-US" sz="1100" b="1" dirty="0">
                <a:solidFill>
                  <a:srgbClr val="2A78D6"/>
                </a:solidFill>
                <a:latin typeface="Malgun Gothic" pitchFamily="34" charset="0"/>
                <a:ea typeface="Malgun Gothic" pitchFamily="34" charset="-122"/>
                <a:cs typeface="Malgun Gothic" pitchFamily="34" charset="-120"/>
              </a:rPr>
              <a:t>requests + BeautifulSoup</a:t>
            </a:r>
            <a:endParaRPr lang="en-US" sz="1100" dirty="0"/>
          </a:p>
        </p:txBody>
      </p:sp>
      <p:sp>
        <p:nvSpPr>
          <p:cNvPr id="8" name="Text 6"/>
          <p:cNvSpPr txBox="1"/>
          <p:nvPr/>
        </p:nvSpPr>
        <p:spPr>
          <a:xfrm>
            <a:off x="777240" y="2084832"/>
            <a:ext cx="5486400" cy="320040"/>
          </a:xfrm>
          <a:prstGeom prst="rect">
            <a:avLst/>
          </a:prstGeom>
          <a:noFill/>
          <a:ln/>
        </p:spPr>
        <p:txBody>
          <a:bodyPr wrap="square" lIns="0" tIns="0" rIns="0" bIns="0" rtlCol="0" anchor="t"/>
          <a:lstStyle/>
          <a:p>
            <a:pPr indent="0" marL="0">
              <a:buNone/>
            </a:pPr>
            <a:r>
              <a:rPr lang="en-US" sz="1200" dirty="0">
                <a:solidFill>
                  <a:srgbClr val="6B6A66"/>
                </a:solidFill>
                <a:latin typeface="Malgun Gothic" pitchFamily="34" charset="0"/>
                <a:ea typeface="Malgun Gothic" pitchFamily="34" charset="-122"/>
                <a:cs typeface="Malgun Gothic" pitchFamily="34" charset="-120"/>
              </a:rPr>
              <a:t>일별 시세 1년 · 시가총액 · PER · 추정 PER · PBR</a:t>
            </a:r>
            <a:endParaRPr lang="en-US" sz="1200" dirty="0"/>
          </a:p>
        </p:txBody>
      </p:sp>
      <p:sp>
        <p:nvSpPr>
          <p:cNvPr id="9" name="Shape 7"/>
          <p:cNvSpPr/>
          <p:nvPr/>
        </p:nvSpPr>
        <p:spPr>
          <a:xfrm>
            <a:off x="548640" y="2670048"/>
            <a:ext cx="5852160" cy="914400"/>
          </a:xfrm>
          <a:prstGeom prst="roundRect">
            <a:avLst>
              <a:gd name="adj" fmla="val 12000"/>
            </a:avLst>
          </a:prstGeom>
          <a:solidFill>
            <a:srgbClr val="FFFFFF"/>
          </a:solidFill>
          <a:ln w="12700">
            <a:solidFill>
              <a:srgbClr val="E4E2DC"/>
            </a:solidFill>
            <a:prstDash val="solid"/>
          </a:ln>
        </p:spPr>
      </p:sp>
      <p:sp>
        <p:nvSpPr>
          <p:cNvPr id="10" name="Text 8"/>
          <p:cNvSpPr txBox="1"/>
          <p:nvPr/>
        </p:nvSpPr>
        <p:spPr>
          <a:xfrm>
            <a:off x="777240" y="2807208"/>
            <a:ext cx="3291840" cy="320040"/>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OpenDART 주요계정</a:t>
            </a:r>
            <a:endParaRPr lang="en-US" sz="1500" dirty="0"/>
          </a:p>
        </p:txBody>
      </p:sp>
      <p:sp>
        <p:nvSpPr>
          <p:cNvPr id="11" name="Text 9"/>
          <p:cNvSpPr txBox="1"/>
          <p:nvPr/>
        </p:nvSpPr>
        <p:spPr>
          <a:xfrm>
            <a:off x="4114800" y="2834640"/>
            <a:ext cx="2103120" cy="274320"/>
          </a:xfrm>
          <a:prstGeom prst="rect">
            <a:avLst/>
          </a:prstGeom>
          <a:noFill/>
          <a:ln/>
        </p:spPr>
        <p:txBody>
          <a:bodyPr wrap="square" lIns="0" tIns="0" rIns="0" bIns="0" rtlCol="0" anchor="t"/>
          <a:lstStyle/>
          <a:p>
            <a:pPr algn="r" indent="0" marL="0">
              <a:buNone/>
            </a:pPr>
            <a:r>
              <a:rPr lang="en-US" sz="1100" b="1" dirty="0">
                <a:solidFill>
                  <a:srgbClr val="2A78D6"/>
                </a:solidFill>
                <a:latin typeface="Malgun Gothic" pitchFamily="34" charset="0"/>
                <a:ea typeface="Malgun Gothic" pitchFamily="34" charset="-122"/>
                <a:cs typeface="Malgun Gothic" pitchFamily="34" charset="-120"/>
              </a:rPr>
              <a:t>REST API</a:t>
            </a:r>
            <a:endParaRPr lang="en-US" sz="1100" dirty="0"/>
          </a:p>
        </p:txBody>
      </p:sp>
      <p:sp>
        <p:nvSpPr>
          <p:cNvPr id="12" name="Text 10"/>
          <p:cNvSpPr txBox="1"/>
          <p:nvPr/>
        </p:nvSpPr>
        <p:spPr>
          <a:xfrm>
            <a:off x="777240" y="3182112"/>
            <a:ext cx="5486400" cy="320040"/>
          </a:xfrm>
          <a:prstGeom prst="rect">
            <a:avLst/>
          </a:prstGeom>
          <a:noFill/>
          <a:ln/>
        </p:spPr>
        <p:txBody>
          <a:bodyPr wrap="square" lIns="0" tIns="0" rIns="0" bIns="0" rtlCol="0" anchor="t"/>
          <a:lstStyle/>
          <a:p>
            <a:pPr indent="0" marL="0">
              <a:buNone/>
            </a:pPr>
            <a:r>
              <a:rPr lang="en-US" sz="1200" dirty="0">
                <a:solidFill>
                  <a:srgbClr val="6B6A66"/>
                </a:solidFill>
                <a:latin typeface="Malgun Gothic" pitchFamily="34" charset="0"/>
                <a:ea typeface="Malgun Gothic" pitchFamily="34" charset="-122"/>
                <a:cs typeface="Malgun Gothic" pitchFamily="34" charset="-120"/>
              </a:rPr>
              <a:t>분기 재무 2024Q1~2026Q2 · 매출 · 이익 · 자본 · 부채</a:t>
            </a:r>
            <a:endParaRPr lang="en-US" sz="1200" dirty="0"/>
          </a:p>
        </p:txBody>
      </p:sp>
      <p:sp>
        <p:nvSpPr>
          <p:cNvPr id="13" name="Shape 11"/>
          <p:cNvSpPr/>
          <p:nvPr/>
        </p:nvSpPr>
        <p:spPr>
          <a:xfrm>
            <a:off x="548640" y="3767328"/>
            <a:ext cx="5852160" cy="914400"/>
          </a:xfrm>
          <a:prstGeom prst="roundRect">
            <a:avLst>
              <a:gd name="adj" fmla="val 12000"/>
            </a:avLst>
          </a:prstGeom>
          <a:solidFill>
            <a:srgbClr val="FFFFFF"/>
          </a:solidFill>
          <a:ln w="12700">
            <a:solidFill>
              <a:srgbClr val="E4E2DC"/>
            </a:solidFill>
            <a:prstDash val="solid"/>
          </a:ln>
        </p:spPr>
      </p:sp>
      <p:sp>
        <p:nvSpPr>
          <p:cNvPr id="14" name="Text 12"/>
          <p:cNvSpPr txBox="1"/>
          <p:nvPr/>
        </p:nvSpPr>
        <p:spPr>
          <a:xfrm>
            <a:off x="777240" y="3904488"/>
            <a:ext cx="3291840" cy="320040"/>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OpenDART 전체 재무제표</a:t>
            </a:r>
            <a:endParaRPr lang="en-US" sz="1500" dirty="0"/>
          </a:p>
        </p:txBody>
      </p:sp>
      <p:sp>
        <p:nvSpPr>
          <p:cNvPr id="15" name="Text 13"/>
          <p:cNvSpPr txBox="1"/>
          <p:nvPr/>
        </p:nvSpPr>
        <p:spPr>
          <a:xfrm>
            <a:off x="4114800" y="3931920"/>
            <a:ext cx="2103120" cy="274320"/>
          </a:xfrm>
          <a:prstGeom prst="rect">
            <a:avLst/>
          </a:prstGeom>
          <a:noFill/>
          <a:ln/>
        </p:spPr>
        <p:txBody>
          <a:bodyPr wrap="square" lIns="0" tIns="0" rIns="0" bIns="0" rtlCol="0" anchor="t"/>
          <a:lstStyle/>
          <a:p>
            <a:pPr algn="r" indent="0" marL="0">
              <a:buNone/>
            </a:pPr>
            <a:r>
              <a:rPr lang="en-US" sz="1100" b="1" dirty="0">
                <a:solidFill>
                  <a:srgbClr val="2A78D6"/>
                </a:solidFill>
                <a:latin typeface="Malgun Gothic" pitchFamily="34" charset="0"/>
                <a:ea typeface="Malgun Gothic" pitchFamily="34" charset="-122"/>
                <a:cs typeface="Malgun Gothic" pitchFamily="34" charset="-120"/>
              </a:rPr>
              <a:t>REST API</a:t>
            </a:r>
            <a:endParaRPr lang="en-US" sz="1100" dirty="0"/>
          </a:p>
        </p:txBody>
      </p:sp>
      <p:sp>
        <p:nvSpPr>
          <p:cNvPr id="16" name="Text 14"/>
          <p:cNvSpPr txBox="1"/>
          <p:nvPr/>
        </p:nvSpPr>
        <p:spPr>
          <a:xfrm>
            <a:off x="777240" y="4279392"/>
            <a:ext cx="5486400" cy="320040"/>
          </a:xfrm>
          <a:prstGeom prst="rect">
            <a:avLst/>
          </a:prstGeom>
          <a:noFill/>
          <a:ln/>
        </p:spPr>
        <p:txBody>
          <a:bodyPr wrap="square" lIns="0" tIns="0" rIns="0" bIns="0" rtlCol="0" anchor="t"/>
          <a:lstStyle/>
          <a:p>
            <a:pPr indent="0" marL="0">
              <a:buNone/>
            </a:pPr>
            <a:r>
              <a:rPr lang="en-US" sz="1200" dirty="0">
                <a:solidFill>
                  <a:srgbClr val="6B6A66"/>
                </a:solidFill>
                <a:latin typeface="Malgun Gothic" pitchFamily="34" charset="0"/>
                <a:ea typeface="Malgun Gothic" pitchFamily="34" charset="-122"/>
                <a:cs typeface="Malgun Gothic" pitchFamily="34" charset="-120"/>
              </a:rPr>
              <a:t>차입금 · 이자 · 현금흐름 · 매출채권 · 재고 (은행 지표)</a:t>
            </a:r>
            <a:endParaRPr lang="en-US" sz="1200" dirty="0"/>
          </a:p>
        </p:txBody>
      </p:sp>
      <p:sp>
        <p:nvSpPr>
          <p:cNvPr id="17" name="Shape 15"/>
          <p:cNvSpPr/>
          <p:nvPr/>
        </p:nvSpPr>
        <p:spPr>
          <a:xfrm>
            <a:off x="548640" y="4864608"/>
            <a:ext cx="5852160" cy="914400"/>
          </a:xfrm>
          <a:prstGeom prst="roundRect">
            <a:avLst>
              <a:gd name="adj" fmla="val 12000"/>
            </a:avLst>
          </a:prstGeom>
          <a:solidFill>
            <a:srgbClr val="FFFFFF"/>
          </a:solidFill>
          <a:ln w="12700">
            <a:solidFill>
              <a:srgbClr val="E4E2DC"/>
            </a:solidFill>
            <a:prstDash val="solid"/>
          </a:ln>
        </p:spPr>
      </p:sp>
      <p:sp>
        <p:nvSpPr>
          <p:cNvPr id="18" name="Text 16"/>
          <p:cNvSpPr txBox="1"/>
          <p:nvPr/>
        </p:nvSpPr>
        <p:spPr>
          <a:xfrm>
            <a:off x="777240" y="5001768"/>
            <a:ext cx="3291840" cy="320040"/>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각 사 IR</a:t>
            </a:r>
            <a:endParaRPr lang="en-US" sz="1500" dirty="0"/>
          </a:p>
        </p:txBody>
      </p:sp>
      <p:sp>
        <p:nvSpPr>
          <p:cNvPr id="19" name="Text 17"/>
          <p:cNvSpPr txBox="1"/>
          <p:nvPr/>
        </p:nvSpPr>
        <p:spPr>
          <a:xfrm>
            <a:off x="4114800" y="5029200"/>
            <a:ext cx="2103120" cy="274320"/>
          </a:xfrm>
          <a:prstGeom prst="rect">
            <a:avLst/>
          </a:prstGeom>
          <a:noFill/>
          <a:ln/>
        </p:spPr>
        <p:txBody>
          <a:bodyPr wrap="square" lIns="0" tIns="0" rIns="0" bIns="0" rtlCol="0" anchor="t"/>
          <a:lstStyle/>
          <a:p>
            <a:pPr algn="r" indent="0" marL="0">
              <a:buNone/>
            </a:pPr>
            <a:r>
              <a:rPr lang="en-US" sz="1100" b="1" dirty="0">
                <a:solidFill>
                  <a:srgbClr val="2A78D6"/>
                </a:solidFill>
                <a:latin typeface="Malgun Gothic" pitchFamily="34" charset="0"/>
                <a:ea typeface="Malgun Gothic" pitchFamily="34" charset="-122"/>
                <a:cs typeface="Malgun Gothic" pitchFamily="34" charset="-120"/>
              </a:rPr>
              <a:t>수기 입력</a:t>
            </a:r>
            <a:endParaRPr lang="en-US" sz="1100" dirty="0"/>
          </a:p>
        </p:txBody>
      </p:sp>
      <p:sp>
        <p:nvSpPr>
          <p:cNvPr id="20" name="Text 18"/>
          <p:cNvSpPr txBox="1"/>
          <p:nvPr/>
        </p:nvSpPr>
        <p:spPr>
          <a:xfrm>
            <a:off x="777240" y="5376672"/>
            <a:ext cx="5486400" cy="320040"/>
          </a:xfrm>
          <a:prstGeom prst="rect">
            <a:avLst/>
          </a:prstGeom>
          <a:noFill/>
          <a:ln/>
        </p:spPr>
        <p:txBody>
          <a:bodyPr wrap="square" lIns="0" tIns="0" rIns="0" bIns="0" rtlCol="0" anchor="t"/>
          <a:lstStyle/>
          <a:p>
            <a:pPr indent="0" marL="0">
              <a:buNone/>
            </a:pPr>
            <a:r>
              <a:rPr lang="en-US" sz="1200" dirty="0">
                <a:solidFill>
                  <a:srgbClr val="6B6A66"/>
                </a:solidFill>
                <a:latin typeface="Malgun Gothic" pitchFamily="34" charset="0"/>
                <a:ea typeface="Malgun Gothic" pitchFamily="34" charset="-122"/>
                <a:cs typeface="Malgun Gothic" pitchFamily="34" charset="-120"/>
              </a:rPr>
              <a:t>해외 매출 비중 (출처 URL 기록)</a:t>
            </a:r>
            <a:endParaRPr lang="en-US" sz="1200" dirty="0"/>
          </a:p>
        </p:txBody>
      </p:sp>
      <p:sp>
        <p:nvSpPr>
          <p:cNvPr id="21" name="Shape 19"/>
          <p:cNvSpPr/>
          <p:nvPr/>
        </p:nvSpPr>
        <p:spPr>
          <a:xfrm>
            <a:off x="6766560" y="1572768"/>
            <a:ext cx="4876495" cy="1280160"/>
          </a:xfrm>
          <a:prstGeom prst="roundRect">
            <a:avLst>
              <a:gd name="adj" fmla="val 8571"/>
            </a:avLst>
          </a:prstGeom>
          <a:solidFill>
            <a:srgbClr val="E6EFFB"/>
          </a:solidFill>
          <a:ln w="12700">
            <a:solidFill>
              <a:srgbClr val="E6EFFB"/>
            </a:solidFill>
            <a:prstDash val="solid"/>
          </a:ln>
        </p:spPr>
      </p:sp>
      <p:sp>
        <p:nvSpPr>
          <p:cNvPr id="22" name="Text 20"/>
          <p:cNvSpPr txBox="1"/>
          <p:nvPr/>
        </p:nvSpPr>
        <p:spPr>
          <a:xfrm>
            <a:off x="6995160" y="1819656"/>
            <a:ext cx="2057400" cy="731520"/>
          </a:xfrm>
          <a:prstGeom prst="rect">
            <a:avLst/>
          </a:prstGeom>
          <a:noFill/>
          <a:ln/>
        </p:spPr>
        <p:txBody>
          <a:bodyPr wrap="square" lIns="0" tIns="0" rIns="0" bIns="0" rtlCol="0" anchor="t"/>
          <a:lstStyle/>
          <a:p>
            <a:pPr indent="0" marL="0">
              <a:buNone/>
            </a:pPr>
            <a:r>
              <a:rPr lang="en-US" sz="3000" b="1" dirty="0">
                <a:solidFill>
                  <a:srgbClr val="2A78D6"/>
                </a:solidFill>
                <a:latin typeface="Malgun Gothic" pitchFamily="34" charset="0"/>
                <a:ea typeface="Malgun Gothic" pitchFamily="34" charset="-122"/>
                <a:cs typeface="Malgun Gothic" pitchFamily="34" charset="-120"/>
              </a:rPr>
              <a:t>6/6</a:t>
            </a:r>
            <a:endParaRPr lang="en-US" sz="3000" dirty="0"/>
          </a:p>
        </p:txBody>
      </p:sp>
      <p:sp>
        <p:nvSpPr>
          <p:cNvPr id="23" name="Text 21"/>
          <p:cNvSpPr txBox="1"/>
          <p:nvPr/>
        </p:nvSpPr>
        <p:spPr>
          <a:xfrm>
            <a:off x="9098280" y="1865376"/>
            <a:ext cx="2499055" cy="731520"/>
          </a:xfrm>
          <a:prstGeom prst="rect">
            <a:avLst/>
          </a:prstGeom>
          <a:noFill/>
          <a:ln/>
        </p:spPr>
        <p:txBody>
          <a:bodyPr wrap="square" lIns="0" tIns="0" rIns="0" bIns="0" rtlCol="0" anchor="t"/>
          <a:lstStyle/>
          <a:p>
            <a:pPr indent="0" marL="0">
              <a:buNone/>
            </a:pPr>
            <a:r>
              <a:rPr lang="en-US" sz="1300" dirty="0">
                <a:solidFill>
                  <a:srgbClr val="1D1D1B"/>
                </a:solidFill>
                <a:latin typeface="Malgun Gothic" pitchFamily="34" charset="0"/>
                <a:ea typeface="Malgun Gothic" pitchFamily="34" charset="-122"/>
                <a:cs typeface="Malgun Gothic" pitchFamily="34" charset="-120"/>
              </a:rPr>
              <a:t>2026Q2 매출·영업이익이</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각 사 발표치와 일치</a:t>
            </a:r>
            <a:endParaRPr lang="en-US" sz="1300" dirty="0"/>
          </a:p>
        </p:txBody>
      </p:sp>
      <p:sp>
        <p:nvSpPr>
          <p:cNvPr id="24" name="Shape 22"/>
          <p:cNvSpPr/>
          <p:nvPr/>
        </p:nvSpPr>
        <p:spPr>
          <a:xfrm>
            <a:off x="6766560" y="3035808"/>
            <a:ext cx="4876495" cy="1280160"/>
          </a:xfrm>
          <a:prstGeom prst="roundRect">
            <a:avLst>
              <a:gd name="adj" fmla="val 8571"/>
            </a:avLst>
          </a:prstGeom>
          <a:solidFill>
            <a:srgbClr val="F4F6F9"/>
          </a:solidFill>
          <a:ln w="12700">
            <a:solidFill>
              <a:srgbClr val="F4F6F9"/>
            </a:solidFill>
            <a:prstDash val="solid"/>
          </a:ln>
        </p:spPr>
      </p:sp>
      <p:sp>
        <p:nvSpPr>
          <p:cNvPr id="25" name="Text 23"/>
          <p:cNvSpPr txBox="1"/>
          <p:nvPr/>
        </p:nvSpPr>
        <p:spPr>
          <a:xfrm>
            <a:off x="6995160" y="3282696"/>
            <a:ext cx="2057400" cy="731520"/>
          </a:xfrm>
          <a:prstGeom prst="rect">
            <a:avLst/>
          </a:prstGeom>
          <a:noFill/>
          <a:ln/>
        </p:spPr>
        <p:txBody>
          <a:bodyPr wrap="square" lIns="0" tIns="0" rIns="0" bIns="0" rtlCol="0" anchor="t"/>
          <a:lstStyle/>
          <a:p>
            <a:pPr indent="0" marL="0">
              <a:buNone/>
            </a:pPr>
            <a:r>
              <a:rPr lang="en-US" sz="3000" b="1" dirty="0">
                <a:solidFill>
                  <a:srgbClr val="2A78D6"/>
                </a:solidFill>
                <a:latin typeface="Malgun Gothic" pitchFamily="34" charset="0"/>
                <a:ea typeface="Malgun Gothic" pitchFamily="34" charset="-122"/>
                <a:cs typeface="Malgun Gothic" pitchFamily="34" charset="-120"/>
              </a:rPr>
              <a:t>6개</a:t>
            </a:r>
            <a:endParaRPr lang="en-US" sz="3000" dirty="0"/>
          </a:p>
        </p:txBody>
      </p:sp>
      <p:sp>
        <p:nvSpPr>
          <p:cNvPr id="26" name="Text 24"/>
          <p:cNvSpPr txBox="1"/>
          <p:nvPr/>
        </p:nvSpPr>
        <p:spPr>
          <a:xfrm>
            <a:off x="9098280" y="3328416"/>
            <a:ext cx="2499055" cy="731520"/>
          </a:xfrm>
          <a:prstGeom prst="rect">
            <a:avLst/>
          </a:prstGeom>
          <a:noFill/>
          <a:ln/>
        </p:spPr>
        <p:txBody>
          <a:bodyPr wrap="square" lIns="0" tIns="0" rIns="0" bIns="0" rtlCol="0" anchor="t"/>
          <a:lstStyle/>
          <a:p>
            <a:pPr indent="0" marL="0">
              <a:buNone/>
            </a:pPr>
            <a:r>
              <a:rPr lang="en-US" sz="1300" dirty="0">
                <a:solidFill>
                  <a:srgbClr val="1D1D1B"/>
                </a:solidFill>
                <a:latin typeface="Malgun Gothic" pitchFamily="34" charset="0"/>
                <a:ea typeface="Malgun Gothic" pitchFamily="34" charset="-122"/>
                <a:cs typeface="Malgun Gothic" pitchFamily="34" charset="-120"/>
              </a:rPr>
              <a:t>data/raw 원본 파일</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(수집일시·성공/실패 기록)</a:t>
            </a:r>
            <a:endParaRPr lang="en-US" sz="1300" dirty="0"/>
          </a:p>
        </p:txBody>
      </p:sp>
      <p:sp>
        <p:nvSpPr>
          <p:cNvPr id="27" name="Shape 25"/>
          <p:cNvSpPr/>
          <p:nvPr/>
        </p:nvSpPr>
        <p:spPr>
          <a:xfrm>
            <a:off x="6766560" y="4498848"/>
            <a:ext cx="4876495" cy="1280160"/>
          </a:xfrm>
          <a:prstGeom prst="roundRect">
            <a:avLst>
              <a:gd name="adj" fmla="val 8571"/>
            </a:avLst>
          </a:prstGeom>
          <a:solidFill>
            <a:srgbClr val="F4F6F9"/>
          </a:solidFill>
          <a:ln w="12700">
            <a:solidFill>
              <a:srgbClr val="F4F6F9"/>
            </a:solidFill>
            <a:prstDash val="solid"/>
          </a:ln>
        </p:spPr>
      </p:sp>
      <p:sp>
        <p:nvSpPr>
          <p:cNvPr id="28" name="Text 26"/>
          <p:cNvSpPr txBox="1"/>
          <p:nvPr/>
        </p:nvSpPr>
        <p:spPr>
          <a:xfrm>
            <a:off x="6995160" y="4745736"/>
            <a:ext cx="2057400" cy="731520"/>
          </a:xfrm>
          <a:prstGeom prst="rect">
            <a:avLst/>
          </a:prstGeom>
          <a:noFill/>
          <a:ln/>
        </p:spPr>
        <p:txBody>
          <a:bodyPr wrap="square" lIns="0" tIns="0" rIns="0" bIns="0" rtlCol="0" anchor="t"/>
          <a:lstStyle/>
          <a:p>
            <a:pPr indent="0" marL="0">
              <a:buNone/>
            </a:pPr>
            <a:r>
              <a:rPr lang="en-US" sz="3000" b="1" dirty="0">
                <a:solidFill>
                  <a:srgbClr val="2A78D6"/>
                </a:solidFill>
                <a:latin typeface="Malgun Gothic" pitchFamily="34" charset="0"/>
                <a:ea typeface="Malgun Gothic" pitchFamily="34" charset="-122"/>
                <a:cs typeface="Malgun Gothic" pitchFamily="34" charset="-120"/>
              </a:rPr>
              <a:t>2,118행</a:t>
            </a:r>
            <a:endParaRPr lang="en-US" sz="3000" dirty="0"/>
          </a:p>
        </p:txBody>
      </p:sp>
      <p:sp>
        <p:nvSpPr>
          <p:cNvPr id="29" name="Text 27"/>
          <p:cNvSpPr txBox="1"/>
          <p:nvPr/>
        </p:nvSpPr>
        <p:spPr>
          <a:xfrm>
            <a:off x="9098280" y="4791456"/>
            <a:ext cx="2499055" cy="731520"/>
          </a:xfrm>
          <a:prstGeom prst="rect">
            <a:avLst/>
          </a:prstGeom>
          <a:noFill/>
          <a:ln/>
        </p:spPr>
        <p:txBody>
          <a:bodyPr wrap="square" lIns="0" tIns="0" rIns="0" bIns="0" rtlCol="0" anchor="t"/>
          <a:lstStyle/>
          <a:p>
            <a:pPr indent="0" marL="0">
              <a:buNone/>
            </a:pPr>
            <a:r>
              <a:rPr lang="en-US" sz="1300" dirty="0">
                <a:solidFill>
                  <a:srgbClr val="1D1D1B"/>
                </a:solidFill>
                <a:latin typeface="Malgun Gothic" pitchFamily="34" charset="0"/>
                <a:ea typeface="Malgun Gothic" pitchFamily="34" charset="-122"/>
                <a:cs typeface="Malgun Gothic" pitchFamily="34" charset="-120"/>
              </a:rPr>
              <a:t>DART 전체 재무제표 원본</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(3사 × 보고서 3건)</a:t>
            </a:r>
            <a:endParaRPr lang="en-US" sz="1300" dirty="0"/>
          </a:p>
        </p:txBody>
      </p:sp>
      <p:sp>
        <p:nvSpPr>
          <p:cNvPr id="30" name="Text 28"/>
          <p:cNvSpPr txBox="1"/>
          <p:nvPr/>
        </p:nvSpPr>
        <p:spPr>
          <a:xfrm>
            <a:off x="548640" y="6254496"/>
            <a:ext cx="10545775" cy="374904"/>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네이버 금융이 stock.naver.com으로 이전돼 화면 대신 차트(XML)·종목분석(HTML)·JSON 주소를 사용 · 수집 실패 시 저장된 원본으로 이어서 실행(캐시 모드)</a:t>
            </a:r>
            <a:endParaRPr lang="en-US" sz="900" dirty="0"/>
          </a:p>
          <a:p>
            <a:pPr indent="0" marL="0">
              <a:buNone/>
            </a:pPr>
            <a:r>
              <a:rPr lang="en-US" sz="900" dirty="0">
                <a:solidFill>
                  <a:srgbClr val="6B6A66"/>
                </a:solidFill>
                <a:latin typeface="Malgun Gothic" pitchFamily="34" charset="0"/>
                <a:ea typeface="Malgun Gothic" pitchFamily="34" charset="-122"/>
                <a:cs typeface="Malgun Gothic" pitchFamily="34" charset="-120"/>
              </a:rPr>
              <a:t>DART = 금융감독원 전자공시시스템 · API = 프로그램으로 데이터를 주고받는 통로 · IR = 기업 실적 발표 자료 · XML·HTML·JSON = 웹 데이터 형식</a:t>
            </a:r>
            <a:endParaRPr lang="en-US" sz="900" dirty="0"/>
          </a:p>
        </p:txBody>
      </p:sp>
      <p:sp>
        <p:nvSpPr>
          <p:cNvPr id="31" name="Text 29"/>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전처리</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다른 공시, 같은 기준으로</a:t>
            </a:r>
            <a:endParaRPr lang="en-US" sz="2800" dirty="0"/>
          </a:p>
        </p:txBody>
      </p:sp>
      <p:sp>
        <p:nvSpPr>
          <p:cNvPr id="5" name="Shape 3"/>
          <p:cNvSpPr/>
          <p:nvPr/>
        </p:nvSpPr>
        <p:spPr>
          <a:xfrm>
            <a:off x="548640" y="1618488"/>
            <a:ext cx="73152" cy="868680"/>
          </a:xfrm>
          <a:prstGeom prst="rect">
            <a:avLst/>
          </a:prstGeom>
          <a:solidFill>
            <a:srgbClr val="2A78D6"/>
          </a:solidFill>
          <a:ln w="12700">
            <a:solidFill>
              <a:srgbClr val="2A78D6"/>
            </a:solidFill>
            <a:prstDash val="solid"/>
          </a:ln>
        </p:spPr>
      </p:sp>
      <p:sp>
        <p:nvSpPr>
          <p:cNvPr id="6" name="Text 4"/>
          <p:cNvSpPr txBox="1"/>
          <p:nvPr/>
        </p:nvSpPr>
        <p:spPr>
          <a:xfrm>
            <a:off x="868680" y="1572768"/>
            <a:ext cx="10058400" cy="365760"/>
          </a:xfrm>
          <a:prstGeom prst="rect">
            <a:avLst/>
          </a:prstGeom>
          <a:noFill/>
          <a:ln/>
        </p:spPr>
        <p:txBody>
          <a:bodyPr wrap="square" lIns="0" tIns="0" rIns="0" bIns="0" rtlCol="0" anchor="t"/>
          <a:lstStyle/>
          <a:p>
            <a:pPr indent="0" marL="0">
              <a:buNone/>
            </a:pPr>
            <a:r>
              <a:rPr lang="en-US" sz="1700" b="1" dirty="0">
                <a:solidFill>
                  <a:srgbClr val="1D1D1B"/>
                </a:solidFill>
                <a:latin typeface="Malgun Gothic" pitchFamily="34" charset="0"/>
                <a:ea typeface="Malgun Gothic" pitchFamily="34" charset="-122"/>
                <a:cs typeface="Malgun Gothic" pitchFamily="34" charset="-120"/>
              </a:rPr>
              <a:t>최근 4분기(TTM) 합산</a:t>
            </a:r>
            <a:endParaRPr lang="en-US" sz="1700" dirty="0"/>
          </a:p>
        </p:txBody>
      </p:sp>
      <p:sp>
        <p:nvSpPr>
          <p:cNvPr id="7" name="Text 5"/>
          <p:cNvSpPr txBox="1"/>
          <p:nvPr/>
        </p:nvSpPr>
        <p:spPr>
          <a:xfrm>
            <a:off x="868680" y="1984248"/>
            <a:ext cx="10774375" cy="594360"/>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한 분기는 계절·일회성 요인으로 크게 흔들린다 (아모레퍼시픽 영업이익 2025Q4 526억 → 2026Q1 1,267억).</a:t>
            </a:r>
            <a:endParaRPr lang="en-US" sz="1300" dirty="0"/>
          </a:p>
          <a:p>
            <a:pPr indent="0" marL="0">
              <a:buNone/>
            </a:pPr>
            <a:r>
              <a:rPr lang="en-US" sz="1300" dirty="0">
                <a:solidFill>
                  <a:srgbClr val="6B6A66"/>
                </a:solidFill>
                <a:latin typeface="Malgun Gothic" pitchFamily="34" charset="0"/>
                <a:ea typeface="Malgun Gothic" pitchFamily="34" charset="-122"/>
                <a:cs typeface="Malgun Gothic" pitchFamily="34" charset="-120"/>
              </a:rPr>
              <a:t>그래서 점유율·이익률·현금흐름은 최근 4분기를 더해 봤다 (2024년 자료는 4분기 합산·전년 대비 계산에 필요해 함께 수집).</a:t>
            </a:r>
            <a:endParaRPr lang="en-US" sz="1300" dirty="0"/>
          </a:p>
        </p:txBody>
      </p:sp>
      <p:sp>
        <p:nvSpPr>
          <p:cNvPr id="8" name="Shape 6"/>
          <p:cNvSpPr/>
          <p:nvPr/>
        </p:nvSpPr>
        <p:spPr>
          <a:xfrm>
            <a:off x="548640" y="2788920"/>
            <a:ext cx="73152" cy="868680"/>
          </a:xfrm>
          <a:prstGeom prst="rect">
            <a:avLst/>
          </a:prstGeom>
          <a:solidFill>
            <a:srgbClr val="2A78D6"/>
          </a:solidFill>
          <a:ln w="12700">
            <a:solidFill>
              <a:srgbClr val="2A78D6"/>
            </a:solidFill>
            <a:prstDash val="solid"/>
          </a:ln>
        </p:spPr>
      </p:sp>
      <p:sp>
        <p:nvSpPr>
          <p:cNvPr id="9" name="Text 7"/>
          <p:cNvSpPr txBox="1"/>
          <p:nvPr/>
        </p:nvSpPr>
        <p:spPr>
          <a:xfrm>
            <a:off x="868680" y="2743200"/>
            <a:ext cx="10058400" cy="365760"/>
          </a:xfrm>
          <a:prstGeom prst="rect">
            <a:avLst/>
          </a:prstGeom>
          <a:noFill/>
          <a:ln/>
        </p:spPr>
        <p:txBody>
          <a:bodyPr wrap="square" lIns="0" tIns="0" rIns="0" bIns="0" rtlCol="0" anchor="t"/>
          <a:lstStyle/>
          <a:p>
            <a:pPr indent="0" marL="0">
              <a:buNone/>
            </a:pPr>
            <a:r>
              <a:rPr lang="en-US" sz="1700" b="1" dirty="0">
                <a:solidFill>
                  <a:srgbClr val="1D1D1B"/>
                </a:solidFill>
                <a:latin typeface="Malgun Gothic" pitchFamily="34" charset="0"/>
                <a:ea typeface="Malgun Gothic" pitchFamily="34" charset="-122"/>
                <a:cs typeface="Malgun Gothic" pitchFamily="34" charset="-120"/>
              </a:rPr>
              <a:t>DART 기간 역산</a:t>
            </a:r>
            <a:endParaRPr lang="en-US" sz="1700" dirty="0"/>
          </a:p>
        </p:txBody>
      </p:sp>
      <p:sp>
        <p:nvSpPr>
          <p:cNvPr id="10" name="Text 8"/>
          <p:cNvSpPr txBox="1"/>
          <p:nvPr/>
        </p:nvSpPr>
        <p:spPr>
          <a:xfrm>
            <a:off x="868680" y="3154680"/>
            <a:ext cx="10774375" cy="594360"/>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반기·3분기 보고서는 3개월치와 누적이 따로 있고, 4분기는 "연간 − 3분기 누적"으로 계산했다.</a:t>
            </a:r>
            <a:endParaRPr lang="en-US" sz="1300" dirty="0"/>
          </a:p>
          <a:p>
            <a:pPr indent="0" marL="0">
              <a:buNone/>
            </a:pPr>
            <a:r>
              <a:rPr lang="en-US" sz="1300" dirty="0">
                <a:solidFill>
                  <a:srgbClr val="6B6A66"/>
                </a:solidFill>
                <a:latin typeface="Malgun Gothic" pitchFamily="34" charset="0"/>
                <a:ea typeface="Malgun Gothic" pitchFamily="34" charset="-122"/>
                <a:cs typeface="Malgun Gothic" pitchFamily="34" charset="-120"/>
              </a:rPr>
              <a:t>전체 재무제표의 최근 4분기 = 2025 연간 + 2026 상반기 − 2025 상반기.</a:t>
            </a:r>
            <a:endParaRPr lang="en-US" sz="1300" dirty="0"/>
          </a:p>
        </p:txBody>
      </p:sp>
      <p:sp>
        <p:nvSpPr>
          <p:cNvPr id="11" name="Shape 9"/>
          <p:cNvSpPr/>
          <p:nvPr/>
        </p:nvSpPr>
        <p:spPr>
          <a:xfrm>
            <a:off x="548640" y="3959352"/>
            <a:ext cx="73152" cy="868680"/>
          </a:xfrm>
          <a:prstGeom prst="rect">
            <a:avLst/>
          </a:prstGeom>
          <a:solidFill>
            <a:srgbClr val="2A78D6"/>
          </a:solidFill>
          <a:ln w="12700">
            <a:solidFill>
              <a:srgbClr val="2A78D6"/>
            </a:solidFill>
            <a:prstDash val="solid"/>
          </a:ln>
        </p:spPr>
      </p:sp>
      <p:sp>
        <p:nvSpPr>
          <p:cNvPr id="12" name="Text 10"/>
          <p:cNvSpPr txBox="1"/>
          <p:nvPr/>
        </p:nvSpPr>
        <p:spPr>
          <a:xfrm>
            <a:off x="868680" y="3913632"/>
            <a:ext cx="10058400" cy="365760"/>
          </a:xfrm>
          <a:prstGeom prst="rect">
            <a:avLst/>
          </a:prstGeom>
          <a:noFill/>
          <a:ln/>
        </p:spPr>
        <p:txBody>
          <a:bodyPr wrap="square" lIns="0" tIns="0" rIns="0" bIns="0" rtlCol="0" anchor="t"/>
          <a:lstStyle/>
          <a:p>
            <a:pPr indent="0" marL="0">
              <a:buNone/>
            </a:pPr>
            <a:r>
              <a:rPr lang="en-US" sz="1700" b="1" dirty="0">
                <a:solidFill>
                  <a:srgbClr val="1D1D1B"/>
                </a:solidFill>
                <a:latin typeface="Malgun Gothic" pitchFamily="34" charset="0"/>
                <a:ea typeface="Malgun Gothic" pitchFamily="34" charset="-122"/>
                <a:cs typeface="Malgun Gothic" pitchFamily="34" charset="-120"/>
              </a:rPr>
              <a:t>계정 이름 규칙</a:t>
            </a:r>
            <a:endParaRPr lang="en-US" sz="1700" dirty="0"/>
          </a:p>
        </p:txBody>
      </p:sp>
      <p:sp>
        <p:nvSpPr>
          <p:cNvPr id="13" name="Text 11"/>
          <p:cNvSpPr txBox="1"/>
          <p:nvPr/>
        </p:nvSpPr>
        <p:spPr>
          <a:xfrm>
            <a:off x="868680" y="4325112"/>
            <a:ext cx="10774375" cy="594360"/>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차입금·이자·현금흐름 계정 이름이 회사마다 달라 이름 규칙으로 찾았다.</a:t>
            </a:r>
            <a:endParaRPr lang="en-US" sz="1300" dirty="0"/>
          </a:p>
          <a:p>
            <a:pPr indent="0" marL="0">
              <a:buNone/>
            </a:pPr>
            <a:r>
              <a:rPr lang="en-US" sz="1300" dirty="0">
                <a:solidFill>
                  <a:srgbClr val="6B6A66"/>
                </a:solidFill>
                <a:latin typeface="Malgun Gothic" pitchFamily="34" charset="0"/>
                <a:ea typeface="Malgun Gothic" pitchFamily="34" charset="-122"/>
                <a:cs typeface="Malgun Gothic" pitchFamily="34" charset="-120"/>
              </a:rPr>
              <a:t>어떤 계정을 썼는지 bank_metrics.csv에 함께 기록했다.</a:t>
            </a:r>
            <a:endParaRPr lang="en-US" sz="1300" dirty="0"/>
          </a:p>
        </p:txBody>
      </p:sp>
      <p:sp>
        <p:nvSpPr>
          <p:cNvPr id="14" name="Shape 12"/>
          <p:cNvSpPr/>
          <p:nvPr/>
        </p:nvSpPr>
        <p:spPr>
          <a:xfrm>
            <a:off x="548640" y="5129784"/>
            <a:ext cx="73152" cy="868680"/>
          </a:xfrm>
          <a:prstGeom prst="rect">
            <a:avLst/>
          </a:prstGeom>
          <a:solidFill>
            <a:srgbClr val="2A78D6"/>
          </a:solidFill>
          <a:ln w="12700">
            <a:solidFill>
              <a:srgbClr val="2A78D6"/>
            </a:solidFill>
            <a:prstDash val="solid"/>
          </a:ln>
        </p:spPr>
      </p:sp>
      <p:sp>
        <p:nvSpPr>
          <p:cNvPr id="15" name="Text 13"/>
          <p:cNvSpPr txBox="1"/>
          <p:nvPr/>
        </p:nvSpPr>
        <p:spPr>
          <a:xfrm>
            <a:off x="868680" y="5084064"/>
            <a:ext cx="10058400" cy="365760"/>
          </a:xfrm>
          <a:prstGeom prst="rect">
            <a:avLst/>
          </a:prstGeom>
          <a:noFill/>
          <a:ln/>
        </p:spPr>
        <p:txBody>
          <a:bodyPr wrap="square" lIns="0" tIns="0" rIns="0" bIns="0" rtlCol="0" anchor="t"/>
          <a:lstStyle/>
          <a:p>
            <a:pPr indent="0" marL="0">
              <a:buNone/>
            </a:pPr>
            <a:r>
              <a:rPr lang="en-US" sz="1700" b="1" dirty="0">
                <a:solidFill>
                  <a:srgbClr val="1D1D1B"/>
                </a:solidFill>
                <a:latin typeface="Malgun Gothic" pitchFamily="34" charset="0"/>
                <a:ea typeface="Malgun Gothic" pitchFamily="34" charset="-122"/>
                <a:cs typeface="Malgun Gothic" pitchFamily="34" charset="-120"/>
              </a:rPr>
              <a:t>이자비용 · 차입금 찾는 순서</a:t>
            </a:r>
            <a:endParaRPr lang="en-US" sz="1700" dirty="0"/>
          </a:p>
        </p:txBody>
      </p:sp>
      <p:sp>
        <p:nvSpPr>
          <p:cNvPr id="16" name="Text 14"/>
          <p:cNvSpPr txBox="1"/>
          <p:nvPr/>
        </p:nvSpPr>
        <p:spPr>
          <a:xfrm>
            <a:off x="868680" y="5495544"/>
            <a:ext cx="10774375" cy="594360"/>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이자비용: 손익계산서 → 현금흐름표 조정 항목 → 현금흐름표 이자 지급액 → 금융원가 순으로 찾았다.</a:t>
            </a:r>
            <a:endParaRPr lang="en-US" sz="1300" dirty="0"/>
          </a:p>
          <a:p>
            <a:pPr indent="0" marL="0">
              <a:buNone/>
            </a:pPr>
            <a:r>
              <a:rPr lang="en-US" sz="1300" dirty="0">
                <a:solidFill>
                  <a:srgbClr val="6B6A66"/>
                </a:solidFill>
                <a:latin typeface="Malgun Gothic" pitchFamily="34" charset="0"/>
                <a:ea typeface="Malgun Gothic" pitchFamily="34" charset="-122"/>
                <a:cs typeface="Malgun Gothic" pitchFamily="34" charset="-120"/>
              </a:rPr>
              <a:t>차입금 계정 없이 단기·장기금융부채로만 공시한 회사는 그 금액을 썼다 (리스부채 등 포함 가능).</a:t>
            </a:r>
            <a:endParaRPr lang="en-US" sz="1300" dirty="0"/>
          </a:p>
        </p:txBody>
      </p:sp>
      <p:sp>
        <p:nvSpPr>
          <p:cNvPr id="17" name="Text 15"/>
          <p:cNvSpPr txBox="1"/>
          <p:nvPr/>
        </p:nvSpPr>
        <p:spPr>
          <a:xfrm>
            <a:off x="548640" y="6400800"/>
            <a:ext cx="10545775" cy="228600"/>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TTM(Trailing Twelve Months) = 최근 4분기(12개월) 합계 · DART = 금융감독원 전자공시시스템</a:t>
            </a:r>
            <a:endParaRPr lang="en-US" sz="900" dirty="0"/>
          </a:p>
        </p:txBody>
      </p:sp>
      <p:sp>
        <p:nvSpPr>
          <p:cNvPr id="18" name="Text 16"/>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트러블슈팅</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막힌 곳과 해결 방법</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4023360"/>
                <a:gridCol w="4782312"/>
              </a:tblGrid>
              <a:tr h="411480">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문제</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1E2B4A"/>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원인</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1E2B4A"/>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해결</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1E2B4A"/>
                    </a:solidFill>
                  </a:tcPr>
                </a:tc>
              </a:tr>
              <a:tr h="758952">
                <a:tc>
                  <a:txBody>
                    <a:bodyPr/>
                    <a:lstStyle/>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교안 코드로</a:t>
                      </a:r>
                      <a:endParaRPr lang="en-US" sz="1300" dirty="0">
                        <a:latin typeface="Malgun Gothic" charset="0"/>
                        <a:ea typeface="Malgun Gothic" charset="0"/>
                        <a:cs typeface="Malgun Gothic" charset="0"/>
                      </a:endParaRPr>
                    </a:p>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시세가 안 잡힘</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4F6F9"/>
                    </a:solidFill>
                  </a:tcPr>
                </a:tc>
                <a:tc>
                  <a:txBody>
                    <a:bodyPr/>
                    <a:lstStyle/>
                    <a:p>
                      <a:pPr indent="0" marL="0">
                        <a:buNone/>
                      </a:pPr>
                      <a:r>
                        <a:rPr lang="en-US" sz="1200" dirty="0">
                          <a:solidFill>
                            <a:srgbClr val="6B6A66"/>
                          </a:solidFill>
                          <a:latin typeface="Malgun Gothic" pitchFamily="34" charset="0"/>
                          <a:ea typeface="Malgun Gothic" pitchFamily="34" charset="-122"/>
                          <a:cs typeface="Malgun Gothic" pitchFamily="34" charset="-120"/>
                        </a:rPr>
                        <a:t>네이버 금융이 stock.naver.com으로 이전,</a:t>
                      </a:r>
                      <a:endParaRPr lang="en-US" sz="1200" dirty="0">
                        <a:latin typeface="Malgun Gothic" charset="0"/>
                        <a:ea typeface="Malgun Gothic" charset="0"/>
                        <a:cs typeface="Malgun Gothic" charset="0"/>
                      </a:endParaRPr>
                    </a:p>
                    <a:p>
                      <a:pPr indent="0" marL="0">
                        <a:buNone/>
                      </a:pPr>
                      <a:r>
                        <a:rPr lang="en-US" sz="1200" dirty="0">
                          <a:solidFill>
                            <a:srgbClr val="6B6A66"/>
                          </a:solidFill>
                          <a:latin typeface="Malgun Gothic" pitchFamily="34" charset="0"/>
                          <a:ea typeface="Malgun Gothic" pitchFamily="34" charset="-122"/>
                          <a:cs typeface="Malgun Gothic" pitchFamily="34" charset="-120"/>
                        </a:rPr>
                        <a:t>화면을 자바스크립트로 그려 HTML에 값이 없음</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tcPr>
                </a:tc>
                <a:tc>
                  <a:txBody>
                    <a:bodyPr/>
                    <a:lstStyle/>
                    <a:p>
                      <a:pPr indent="0" marL="0">
                        <a:buNone/>
                      </a:pPr>
                      <a:r>
                        <a:rPr lang="en-US" sz="1200" b="1" dirty="0">
                          <a:solidFill>
                            <a:srgbClr val="2A78D6"/>
                          </a:solidFill>
                          <a:latin typeface="Malgun Gothic" pitchFamily="34" charset="0"/>
                          <a:ea typeface="Malgun Gothic" pitchFamily="34" charset="-122"/>
                          <a:cs typeface="Malgun Gothic" pitchFamily="34" charset="-120"/>
                        </a:rPr>
                        <a:t>개발자도구로 데이터 주소(XML·HTML·JSON)를 찾아</a:t>
                      </a:r>
                      <a:endParaRPr lang="en-US" sz="1200" dirty="0">
                        <a:latin typeface="Malgun Gothic" charset="0"/>
                        <a:ea typeface="Malgun Gothic" charset="0"/>
                        <a:cs typeface="Malgun Gothic" charset="0"/>
                      </a:endParaRPr>
                    </a:p>
                    <a:p>
                      <a:pPr indent="0" marL="0">
                        <a:buNone/>
                      </a:pPr>
                      <a:r>
                        <a:rPr lang="en-US" sz="1200" b="1" dirty="0">
                          <a:solidFill>
                            <a:srgbClr val="2A78D6"/>
                          </a:solidFill>
                          <a:latin typeface="Malgun Gothic" pitchFamily="34" charset="0"/>
                          <a:ea typeface="Malgun Gothic" pitchFamily="34" charset="-122"/>
                          <a:cs typeface="Malgun Gothic" pitchFamily="34" charset="-120"/>
                        </a:rPr>
                        <a:t>BeautifulSoup으로 그대로 파싱</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tcPr>
                </a:tc>
              </a:tr>
              <a:tr h="758952">
                <a:tc>
                  <a:txBody>
                    <a:bodyPr/>
                    <a:lstStyle/>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분기 실적이</a:t>
                      </a:r>
                      <a:endParaRPr lang="en-US" sz="1300" dirty="0">
                        <a:latin typeface="Malgun Gothic" charset="0"/>
                        <a:ea typeface="Malgun Gothic" charset="0"/>
                        <a:cs typeface="Malgun Gothic" charset="0"/>
                      </a:endParaRPr>
                    </a:p>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비정상적으로 큼</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4F6F9"/>
                    </a:solidFill>
                  </a:tcPr>
                </a:tc>
                <a:tc>
                  <a:txBody>
                    <a:bodyPr/>
                    <a:lstStyle/>
                    <a:p>
                      <a:pPr indent="0" marL="0">
                        <a:buNone/>
                      </a:pPr>
                      <a:r>
                        <a:rPr lang="en-US" sz="1200" dirty="0">
                          <a:solidFill>
                            <a:srgbClr val="6B6A66"/>
                          </a:solidFill>
                          <a:latin typeface="Malgun Gothic" pitchFamily="34" charset="0"/>
                          <a:ea typeface="Malgun Gothic" pitchFamily="34" charset="-122"/>
                          <a:cs typeface="Malgun Gothic" pitchFamily="34" charset="-120"/>
                        </a:rPr>
                        <a:t>DART 반기·3분기·사업보고서는</a:t>
                      </a:r>
                      <a:endParaRPr lang="en-US" sz="1200" dirty="0">
                        <a:latin typeface="Malgun Gothic" charset="0"/>
                        <a:ea typeface="Malgun Gothic" charset="0"/>
                        <a:cs typeface="Malgun Gothic" charset="0"/>
                      </a:endParaRPr>
                    </a:p>
                    <a:p>
                      <a:pPr indent="0" marL="0">
                        <a:buNone/>
                      </a:pPr>
                      <a:r>
                        <a:rPr lang="en-US" sz="1200" dirty="0">
                          <a:solidFill>
                            <a:srgbClr val="6B6A66"/>
                          </a:solidFill>
                          <a:latin typeface="Malgun Gothic" pitchFamily="34" charset="0"/>
                          <a:ea typeface="Malgun Gothic" pitchFamily="34" charset="-122"/>
                          <a:cs typeface="Malgun Gothic" pitchFamily="34" charset="-120"/>
                        </a:rPr>
                        <a:t>누적 금액이 섞여 있음</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tcPr>
                </a:tc>
                <a:tc>
                  <a:txBody>
                    <a:bodyPr/>
                    <a:lstStyle/>
                    <a:p>
                      <a:pPr indent="0" marL="0">
                        <a:buNone/>
                      </a:pPr>
                      <a:r>
                        <a:rPr lang="en-US" sz="1200" b="1" dirty="0">
                          <a:solidFill>
                            <a:srgbClr val="2A78D6"/>
                          </a:solidFill>
                          <a:latin typeface="Malgun Gothic" pitchFamily="34" charset="0"/>
                          <a:ea typeface="Malgun Gothic" pitchFamily="34" charset="-122"/>
                          <a:cs typeface="Malgun Gothic" pitchFamily="34" charset="-120"/>
                        </a:rPr>
                        <a:t>4분기 = 연간 − 3분기 누적으로 역산</a:t>
                      </a:r>
                      <a:endParaRPr lang="en-US" sz="1200" dirty="0">
                        <a:latin typeface="Malgun Gothic" charset="0"/>
                        <a:ea typeface="Malgun Gothic" charset="0"/>
                        <a:cs typeface="Malgun Gothic" charset="0"/>
                      </a:endParaRPr>
                    </a:p>
                    <a:p>
                      <a:pPr indent="0" marL="0">
                        <a:buNone/>
                      </a:pPr>
                      <a:r>
                        <a:rPr lang="en-US" sz="1200" b="1" dirty="0">
                          <a:solidFill>
                            <a:srgbClr val="2A78D6"/>
                          </a:solidFill>
                          <a:latin typeface="Malgun Gothic" pitchFamily="34" charset="0"/>
                          <a:ea typeface="Malgun Gothic" pitchFamily="34" charset="-122"/>
                          <a:cs typeface="Malgun Gothic" pitchFamily="34" charset="-120"/>
                        </a:rPr>
                        <a:t>각 사 발표치와 대조해 6/6 일치 확인</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tcPr>
                </a:tc>
              </a:tr>
              <a:tr h="758952">
                <a:tc>
                  <a:txBody>
                    <a:bodyPr/>
                    <a:lstStyle/>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코스맥스</a:t>
                      </a:r>
                      <a:endParaRPr lang="en-US" sz="1300" dirty="0">
                        <a:latin typeface="Malgun Gothic" charset="0"/>
                        <a:ea typeface="Malgun Gothic" charset="0"/>
                        <a:cs typeface="Malgun Gothic" charset="0"/>
                      </a:endParaRPr>
                    </a:p>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차입금이 0</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4F6F9"/>
                    </a:solidFill>
                  </a:tcPr>
                </a:tc>
                <a:tc>
                  <a:txBody>
                    <a:bodyPr/>
                    <a:lstStyle/>
                    <a:p>
                      <a:pPr indent="0" marL="0">
                        <a:buNone/>
                      </a:pPr>
                      <a:r>
                        <a:rPr lang="en-US" sz="1200" dirty="0">
                          <a:solidFill>
                            <a:srgbClr val="6B6A66"/>
                          </a:solidFill>
                          <a:latin typeface="Malgun Gothic" pitchFamily="34" charset="0"/>
                          <a:ea typeface="Malgun Gothic" pitchFamily="34" charset="-122"/>
                          <a:cs typeface="Malgun Gothic" pitchFamily="34" charset="-120"/>
                        </a:rPr>
                        <a:t>차입금 계정 없이</a:t>
                      </a:r>
                      <a:endParaRPr lang="en-US" sz="1200" dirty="0">
                        <a:latin typeface="Malgun Gothic" charset="0"/>
                        <a:ea typeface="Malgun Gothic" charset="0"/>
                        <a:cs typeface="Malgun Gothic" charset="0"/>
                      </a:endParaRPr>
                    </a:p>
                    <a:p>
                      <a:pPr indent="0" marL="0">
                        <a:buNone/>
                      </a:pPr>
                      <a:r>
                        <a:rPr lang="en-US" sz="1200" dirty="0">
                          <a:solidFill>
                            <a:srgbClr val="6B6A66"/>
                          </a:solidFill>
                          <a:latin typeface="Malgun Gothic" pitchFamily="34" charset="0"/>
                          <a:ea typeface="Malgun Gothic" pitchFamily="34" charset="-122"/>
                          <a:cs typeface="Malgun Gothic" pitchFamily="34" charset="-120"/>
                        </a:rPr>
                        <a:t>"단기·장기금융부채"로만 공시</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tcPr>
                </a:tc>
                <a:tc>
                  <a:txBody>
                    <a:bodyPr/>
                    <a:lstStyle/>
                    <a:p>
                      <a:pPr indent="0" marL="0">
                        <a:buNone/>
                      </a:pPr>
                      <a:r>
                        <a:rPr lang="en-US" sz="1200" b="1" dirty="0">
                          <a:solidFill>
                            <a:srgbClr val="2A78D6"/>
                          </a:solidFill>
                          <a:latin typeface="Malgun Gothic" pitchFamily="34" charset="0"/>
                          <a:ea typeface="Malgun Gothic" pitchFamily="34" charset="-122"/>
                          <a:cs typeface="Malgun Gothic" pitchFamily="34" charset="-120"/>
                        </a:rPr>
                        <a:t>계정 목록을 직접 확인해 규칙 보완</a:t>
                      </a:r>
                      <a:endParaRPr lang="en-US" sz="1200" dirty="0">
                        <a:latin typeface="Malgun Gothic" charset="0"/>
                        <a:ea typeface="Malgun Gothic" charset="0"/>
                        <a:cs typeface="Malgun Gothic" charset="0"/>
                      </a:endParaRPr>
                    </a:p>
                    <a:p>
                      <a:pPr indent="0" marL="0">
                        <a:buNone/>
                      </a:pPr>
                      <a:r>
                        <a:rPr lang="en-US" sz="1200" b="1" dirty="0">
                          <a:solidFill>
                            <a:srgbClr val="2A78D6"/>
                          </a:solidFill>
                          <a:latin typeface="Malgun Gothic" pitchFamily="34" charset="0"/>
                          <a:ea typeface="Malgun Gothic" pitchFamily="34" charset="-122"/>
                          <a:cs typeface="Malgun Gothic" pitchFamily="34" charset="-120"/>
                        </a:rPr>
                        <a:t>쓴 계정은 bank_metrics.csv에 기록</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tcPr>
                </a:tc>
              </a:tr>
              <a:tr h="758952">
                <a:tc>
                  <a:txBody>
                    <a:bodyPr/>
                    <a:lstStyle/>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이자비용</a:t>
                      </a:r>
                      <a:endParaRPr lang="en-US" sz="1300" dirty="0">
                        <a:latin typeface="Malgun Gothic" charset="0"/>
                        <a:ea typeface="Malgun Gothic" charset="0"/>
                        <a:cs typeface="Malgun Gothic" charset="0"/>
                      </a:endParaRPr>
                    </a:p>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계정이 없음</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4F6F9"/>
                    </a:solidFill>
                  </a:tcPr>
                </a:tc>
                <a:tc>
                  <a:txBody>
                    <a:bodyPr/>
                    <a:lstStyle/>
                    <a:p>
                      <a:pPr indent="0" marL="0">
                        <a:buNone/>
                      </a:pPr>
                      <a:r>
                        <a:rPr lang="en-US" sz="1200" dirty="0">
                          <a:solidFill>
                            <a:srgbClr val="6B6A66"/>
                          </a:solidFill>
                          <a:latin typeface="Malgun Gothic" pitchFamily="34" charset="0"/>
                          <a:ea typeface="Malgun Gothic" pitchFamily="34" charset="-122"/>
                          <a:cs typeface="Malgun Gothic" pitchFamily="34" charset="-120"/>
                        </a:rPr>
                        <a:t>손익계산서에는 "금융비용"만 있고</a:t>
                      </a:r>
                      <a:endParaRPr lang="en-US" sz="1200" dirty="0">
                        <a:latin typeface="Malgun Gothic" charset="0"/>
                        <a:ea typeface="Malgun Gothic" charset="0"/>
                        <a:cs typeface="Malgun Gothic" charset="0"/>
                      </a:endParaRPr>
                    </a:p>
                    <a:p>
                      <a:pPr indent="0" marL="0">
                        <a:buNone/>
                      </a:pPr>
                      <a:r>
                        <a:rPr lang="en-US" sz="1200" dirty="0">
                          <a:solidFill>
                            <a:srgbClr val="6B6A66"/>
                          </a:solidFill>
                          <a:latin typeface="Malgun Gothic" pitchFamily="34" charset="0"/>
                          <a:ea typeface="Malgun Gothic" pitchFamily="34" charset="-122"/>
                          <a:cs typeface="Malgun Gothic" pitchFamily="34" charset="-120"/>
                        </a:rPr>
                        <a:t>이자비용이 따로 없음</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tcPr>
                </a:tc>
                <a:tc>
                  <a:txBody>
                    <a:bodyPr/>
                    <a:lstStyle/>
                    <a:p>
                      <a:pPr indent="0" marL="0">
                        <a:buNone/>
                      </a:pPr>
                      <a:r>
                        <a:rPr lang="en-US" sz="1200" b="1" dirty="0">
                          <a:solidFill>
                            <a:srgbClr val="2A78D6"/>
                          </a:solidFill>
                          <a:latin typeface="Malgun Gothic" pitchFamily="34" charset="0"/>
                          <a:ea typeface="Malgun Gothic" pitchFamily="34" charset="-122"/>
                          <a:cs typeface="Malgun Gothic" pitchFamily="34" charset="-120"/>
                        </a:rPr>
                        <a:t>현금흐름표 조정 항목의 이자비용 →</a:t>
                      </a:r>
                      <a:endParaRPr lang="en-US" sz="1200" dirty="0">
                        <a:latin typeface="Malgun Gothic" charset="0"/>
                        <a:ea typeface="Malgun Gothic" charset="0"/>
                        <a:cs typeface="Malgun Gothic" charset="0"/>
                      </a:endParaRPr>
                    </a:p>
                    <a:p>
                      <a:pPr indent="0" marL="0">
                        <a:buNone/>
                      </a:pPr>
                      <a:r>
                        <a:rPr lang="en-US" sz="1200" b="1" dirty="0">
                          <a:solidFill>
                            <a:srgbClr val="2A78D6"/>
                          </a:solidFill>
                          <a:latin typeface="Malgun Gothic" pitchFamily="34" charset="0"/>
                          <a:ea typeface="Malgun Gothic" pitchFamily="34" charset="-122"/>
                          <a:cs typeface="Malgun Gothic" pitchFamily="34" charset="-120"/>
                        </a:rPr>
                        <a:t>이자 지급액 순으로 대체</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tcPr>
                </a:tc>
              </a:tr>
              <a:tr h="758952">
                <a:tc>
                  <a:txBody>
                    <a:bodyPr/>
                    <a:lstStyle/>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오늘 시세가</a:t>
                      </a:r>
                      <a:endParaRPr lang="en-US" sz="1300" dirty="0">
                        <a:latin typeface="Malgun Gothic" charset="0"/>
                        <a:ea typeface="Malgun Gothic" charset="0"/>
                        <a:cs typeface="Malgun Gothic" charset="0"/>
                      </a:endParaRPr>
                    </a:p>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종가와 다름</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solidFill>
                      <a:srgbClr val="F4F6F9"/>
                    </a:solidFill>
                  </a:tcPr>
                </a:tc>
                <a:tc>
                  <a:txBody>
                    <a:bodyPr/>
                    <a:lstStyle/>
                    <a:p>
                      <a:pPr indent="0" marL="0">
                        <a:buNone/>
                      </a:pPr>
                      <a:r>
                        <a:rPr lang="en-US" sz="1200" dirty="0">
                          <a:solidFill>
                            <a:srgbClr val="6B6A66"/>
                          </a:solidFill>
                          <a:latin typeface="Malgun Gothic" pitchFamily="34" charset="0"/>
                          <a:ea typeface="Malgun Gothic" pitchFamily="34" charset="-122"/>
                          <a:cs typeface="Malgun Gothic" pitchFamily="34" charset="-120"/>
                        </a:rPr>
                        <a:t>장중(15:40 전)에 수집하면</a:t>
                      </a:r>
                      <a:endParaRPr lang="en-US" sz="1200" dirty="0">
                        <a:latin typeface="Malgun Gothic" charset="0"/>
                        <a:ea typeface="Malgun Gothic" charset="0"/>
                        <a:cs typeface="Malgun Gothic" charset="0"/>
                      </a:endParaRPr>
                    </a:p>
                    <a:p>
                      <a:pPr indent="0" marL="0">
                        <a:buNone/>
                      </a:pPr>
                      <a:r>
                        <a:rPr lang="en-US" sz="1200" dirty="0">
                          <a:solidFill>
                            <a:srgbClr val="6B6A66"/>
                          </a:solidFill>
                          <a:latin typeface="Malgun Gothic" pitchFamily="34" charset="0"/>
                          <a:ea typeface="Malgun Gothic" pitchFamily="34" charset="-122"/>
                          <a:cs typeface="Malgun Gothic" pitchFamily="34" charset="-120"/>
                        </a:rPr>
                        <a:t>오늘 값은 확정 종가가 아님</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tcPr>
                </a:tc>
                <a:tc>
                  <a:txBody>
                    <a:bodyPr/>
                    <a:lstStyle/>
                    <a:p>
                      <a:pPr indent="0" marL="0">
                        <a:buNone/>
                      </a:pPr>
                      <a:r>
                        <a:rPr lang="en-US" sz="1200" b="1" dirty="0">
                          <a:solidFill>
                            <a:srgbClr val="2A78D6"/>
                          </a:solidFill>
                          <a:latin typeface="Malgun Gothic" pitchFamily="34" charset="0"/>
                          <a:ea typeface="Malgun Gothic" pitchFamily="34" charset="-122"/>
                          <a:cs typeface="Malgun Gothic" pitchFamily="34" charset="-120"/>
                        </a:rPr>
                        <a:t>오늘 행 자동 제외, 수집이 실패하면</a:t>
                      </a:r>
                      <a:endParaRPr lang="en-US" sz="1200" dirty="0">
                        <a:latin typeface="Malgun Gothic" charset="0"/>
                        <a:ea typeface="Malgun Gothic" charset="0"/>
                        <a:cs typeface="Malgun Gothic" charset="0"/>
                      </a:endParaRPr>
                    </a:p>
                    <a:p>
                      <a:pPr indent="0" marL="0">
                        <a:buNone/>
                      </a:pPr>
                      <a:r>
                        <a:rPr lang="en-US" sz="1200" b="1" dirty="0">
                          <a:solidFill>
                            <a:srgbClr val="2A78D6"/>
                          </a:solidFill>
                          <a:latin typeface="Malgun Gothic" pitchFamily="34" charset="0"/>
                          <a:ea typeface="Malgun Gothic" pitchFamily="34" charset="-122"/>
                          <a:cs typeface="Malgun Gothic" pitchFamily="34" charset="-120"/>
                        </a:rPr>
                        <a:t>저장된 원본으로 끝까지 실행(캐시 모드)</a:t>
                      </a:r>
                      <a:endParaRPr lang="en-US" sz="1200" dirty="0">
                        <a:latin typeface="Malgun Gothic" charset="0"/>
                        <a:ea typeface="Malgun Gothic" charset="0"/>
                        <a:cs typeface="Malgun Gothic" charset="0"/>
                      </a:endParaRPr>
                    </a:p>
                  </a:txBody>
                  <a:tcPr marL="91440" marR="91440" marT="45720" marB="45720" anchor="ctr">
                    <a:lnL w="12700" cap="flat" cmpd="sng" algn="ctr">
                      <a:solidFill>
                        <a:srgbClr val="E4E2DC"/>
                      </a:solidFill>
                      <a:prstDash val="solid"/>
                      <a:round/>
                      <a:headEnd type="none" w="med" len="med"/>
                      <a:tailEnd type="none" w="med" len="med"/>
                    </a:lnL>
                    <a:lnR w="12700" cap="flat" cmpd="sng" algn="ctr">
                      <a:solidFill>
                        <a:srgbClr val="E4E2DC"/>
                      </a:solidFill>
                      <a:prstDash val="solid"/>
                      <a:round/>
                      <a:headEnd type="none" w="med" len="med"/>
                      <a:tailEnd type="none" w="med" len="med"/>
                    </a:lnR>
                    <a:lnT w="12700" cap="flat" cmpd="sng" algn="ctr">
                      <a:solidFill>
                        <a:srgbClr val="E4E2DC"/>
                      </a:solidFill>
                      <a:prstDash val="solid"/>
                      <a:round/>
                      <a:headEnd type="none" w="med" len="med"/>
                      <a:tailEnd type="none" w="med" len="med"/>
                    </a:lnT>
                    <a:lnB w="12700" cap="flat" cmpd="sng" algn="ctr">
                      <a:solidFill>
                        <a:srgbClr val="E4E2DC"/>
                      </a:solidFill>
                      <a:prstDash val="solid"/>
                      <a:round/>
                      <a:headEnd type="none" w="med" len="med"/>
                      <a:tailEnd type="none" w="med" len="med"/>
                    </a:lnB>
                  </a:tcPr>
                </a:tc>
              </a:tr>
            </a:tbl>
          </a:graphicData>
        </a:graphic>
      </p:graphicFrame>
      <p:sp>
        <p:nvSpPr>
          <p:cNvPr id="6" name="Text 3"/>
          <p:cNvSpPr txBox="1"/>
          <p:nvPr/>
        </p:nvSpPr>
        <p:spPr>
          <a:xfrm>
            <a:off x="548640" y="6400800"/>
            <a:ext cx="10545775" cy="228600"/>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DART = 금융감독원 전자공시시스템 · 캐시 모드 = 인터넷·API 키가 없어도 저장된 원본(data/raw)으로 전체 결과를 다시 만드는 방식</a:t>
            </a:r>
            <a:endParaRPr lang="en-US" sz="900" dirty="0"/>
          </a:p>
        </p:txBody>
      </p:sp>
      <p:sp>
        <p:nvSpPr>
          <p:cNvPr id="7" name="Text 4"/>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성장의 질</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에이피알 이익 점유 23.7% → 48.7%</a:t>
            </a:r>
            <a:endParaRPr lang="en-US" sz="2800" dirty="0"/>
          </a:p>
        </p:txBody>
      </p:sp>
      <p:graphicFrame>
        <p:nvGraphicFramePr>
          <p:cNvPr id="5" name="Chart 0" descr=""/>
          <p:cNvGraphicFramePr/>
          <p:nvPr/>
        </p:nvGraphicFramePr>
        <p:xfrm>
          <a:off x="548640" y="1508760"/>
          <a:ext cx="7863840" cy="4389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732520" y="1645920"/>
            <a:ext cx="2926080" cy="640080"/>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최근 4분기 합산 영업이익 점유</a:t>
            </a:r>
            <a:endParaRPr lang="en-US" sz="1300" dirty="0"/>
          </a:p>
          <a:p>
            <a:pPr indent="0" marL="0">
              <a:buNone/>
            </a:pPr>
            <a:r>
              <a:rPr lang="en-US" sz="1300" dirty="0">
                <a:solidFill>
                  <a:srgbClr val="6B6A66"/>
                </a:solidFill>
                <a:latin typeface="Malgun Gothic" pitchFamily="34" charset="0"/>
                <a:ea typeface="Malgun Gothic" pitchFamily="34" charset="-122"/>
                <a:cs typeface="Malgun Gothic" pitchFamily="34" charset="-120"/>
              </a:rPr>
              <a:t>2024Q4 → 2026Q2</a:t>
            </a:r>
            <a:endParaRPr lang="en-US" sz="1300" dirty="0"/>
          </a:p>
        </p:txBody>
      </p:sp>
      <p:sp>
        <p:nvSpPr>
          <p:cNvPr id="7" name="Shape 4"/>
          <p:cNvSpPr/>
          <p:nvPr/>
        </p:nvSpPr>
        <p:spPr>
          <a:xfrm>
            <a:off x="8732520" y="2514600"/>
            <a:ext cx="2910535" cy="914400"/>
          </a:xfrm>
          <a:prstGeom prst="roundRect">
            <a:avLst>
              <a:gd name="adj" fmla="val 12000"/>
            </a:avLst>
          </a:prstGeom>
          <a:solidFill>
            <a:srgbClr val="E6EFFB"/>
          </a:solidFill>
          <a:ln w="12700">
            <a:solidFill>
              <a:srgbClr val="E6EFFB"/>
            </a:solidFill>
            <a:prstDash val="solid"/>
          </a:ln>
        </p:spPr>
      </p:sp>
      <p:sp>
        <p:nvSpPr>
          <p:cNvPr id="8" name="Shape 5"/>
          <p:cNvSpPr/>
          <p:nvPr/>
        </p:nvSpPr>
        <p:spPr>
          <a:xfrm>
            <a:off x="8961120" y="2697480"/>
            <a:ext cx="146304" cy="146304"/>
          </a:xfrm>
          <a:prstGeom prst="ellipse">
            <a:avLst/>
          </a:prstGeom>
          <a:solidFill>
            <a:srgbClr val="2A78D6"/>
          </a:solidFill>
          <a:ln w="12700">
            <a:solidFill>
              <a:srgbClr val="2A78D6"/>
            </a:solidFill>
            <a:prstDash val="solid"/>
          </a:ln>
        </p:spPr>
      </p:sp>
      <p:sp>
        <p:nvSpPr>
          <p:cNvPr id="9" name="Text 6"/>
          <p:cNvSpPr txBox="1"/>
          <p:nvPr/>
        </p:nvSpPr>
        <p:spPr>
          <a:xfrm>
            <a:off x="9189720" y="2624328"/>
            <a:ext cx="2011680" cy="274320"/>
          </a:xfrm>
          <a:prstGeom prst="rect">
            <a:avLst/>
          </a:prstGeom>
          <a:noFill/>
          <a:ln/>
        </p:spPr>
        <p:txBody>
          <a:bodyPr wrap="square" lIns="0" tIns="0" rIns="0" bIns="0" rtlCol="0" anchor="t"/>
          <a:lstStyle/>
          <a:p>
            <a:pPr indent="0" marL="0">
              <a:buNone/>
            </a:pPr>
            <a:r>
              <a:rPr lang="en-US" sz="1250" b="1" dirty="0">
                <a:solidFill>
                  <a:srgbClr val="1D1D1B"/>
                </a:solidFill>
                <a:latin typeface="Malgun Gothic" pitchFamily="34" charset="0"/>
                <a:ea typeface="Malgun Gothic" pitchFamily="34" charset="-122"/>
                <a:cs typeface="Malgun Gothic" pitchFamily="34" charset="-120"/>
              </a:rPr>
              <a:t>에이피알</a:t>
            </a:r>
            <a:endParaRPr lang="en-US" sz="1250" dirty="0"/>
          </a:p>
        </p:txBody>
      </p:sp>
      <p:sp>
        <p:nvSpPr>
          <p:cNvPr id="10" name="Text 7"/>
          <p:cNvSpPr txBox="1"/>
          <p:nvPr/>
        </p:nvSpPr>
        <p:spPr>
          <a:xfrm>
            <a:off x="8961120" y="2926080"/>
            <a:ext cx="2651760" cy="411480"/>
          </a:xfrm>
          <a:prstGeom prst="rect">
            <a:avLst/>
          </a:prstGeom>
          <a:noFill/>
          <a:ln/>
        </p:spPr>
        <p:txBody>
          <a:bodyPr wrap="square" lIns="0" tIns="0" rIns="0" bIns="0" rtlCol="0" anchor="t"/>
          <a:lstStyle/>
          <a:p>
            <a:pPr indent="0" marL="0">
              <a:buNone/>
            </a:pPr>
            <a:r>
              <a:rPr lang="en-US" sz="1900" b="1" dirty="0">
                <a:solidFill>
                  <a:srgbClr val="2A78D6"/>
                </a:solidFill>
                <a:latin typeface="Malgun Gothic" pitchFamily="34" charset="0"/>
                <a:ea typeface="Malgun Gothic" pitchFamily="34" charset="-122"/>
                <a:cs typeface="Malgun Gothic" pitchFamily="34" charset="-120"/>
              </a:rPr>
              <a:t>23.7% → 48.7%</a:t>
            </a:r>
            <a:endParaRPr lang="en-US" sz="1900" dirty="0"/>
          </a:p>
        </p:txBody>
      </p:sp>
      <p:sp>
        <p:nvSpPr>
          <p:cNvPr id="11" name="Shape 8"/>
          <p:cNvSpPr/>
          <p:nvPr/>
        </p:nvSpPr>
        <p:spPr>
          <a:xfrm>
            <a:off x="8732520" y="3611880"/>
            <a:ext cx="2910535" cy="914400"/>
          </a:xfrm>
          <a:prstGeom prst="roundRect">
            <a:avLst>
              <a:gd name="adj" fmla="val 12000"/>
            </a:avLst>
          </a:prstGeom>
          <a:solidFill>
            <a:srgbClr val="F4F6F9"/>
          </a:solidFill>
          <a:ln w="12700">
            <a:solidFill>
              <a:srgbClr val="F4F6F9"/>
            </a:solidFill>
            <a:prstDash val="solid"/>
          </a:ln>
        </p:spPr>
      </p:sp>
      <p:sp>
        <p:nvSpPr>
          <p:cNvPr id="12" name="Shape 9"/>
          <p:cNvSpPr/>
          <p:nvPr/>
        </p:nvSpPr>
        <p:spPr>
          <a:xfrm>
            <a:off x="8961120" y="3794760"/>
            <a:ext cx="146304" cy="146304"/>
          </a:xfrm>
          <a:prstGeom prst="ellipse">
            <a:avLst/>
          </a:prstGeom>
          <a:solidFill>
            <a:srgbClr val="1BAF7A"/>
          </a:solidFill>
          <a:ln w="12700">
            <a:solidFill>
              <a:srgbClr val="1BAF7A"/>
            </a:solidFill>
            <a:prstDash val="solid"/>
          </a:ln>
        </p:spPr>
      </p:sp>
      <p:sp>
        <p:nvSpPr>
          <p:cNvPr id="13" name="Text 10"/>
          <p:cNvSpPr txBox="1"/>
          <p:nvPr/>
        </p:nvSpPr>
        <p:spPr>
          <a:xfrm>
            <a:off x="9189720" y="3721608"/>
            <a:ext cx="2011680" cy="274320"/>
          </a:xfrm>
          <a:prstGeom prst="rect">
            <a:avLst/>
          </a:prstGeom>
          <a:noFill/>
          <a:ln/>
        </p:spPr>
        <p:txBody>
          <a:bodyPr wrap="square" lIns="0" tIns="0" rIns="0" bIns="0" rtlCol="0" anchor="t"/>
          <a:lstStyle/>
          <a:p>
            <a:pPr indent="0" marL="0">
              <a:buNone/>
            </a:pPr>
            <a:r>
              <a:rPr lang="en-US" sz="1250" b="1" dirty="0">
                <a:solidFill>
                  <a:srgbClr val="1D1D1B"/>
                </a:solidFill>
                <a:latin typeface="Malgun Gothic" pitchFamily="34" charset="0"/>
                <a:ea typeface="Malgun Gothic" pitchFamily="34" charset="-122"/>
                <a:cs typeface="Malgun Gothic" pitchFamily="34" charset="-120"/>
              </a:rPr>
              <a:t>코스맥스</a:t>
            </a:r>
            <a:endParaRPr lang="en-US" sz="1250" dirty="0"/>
          </a:p>
        </p:txBody>
      </p:sp>
      <p:sp>
        <p:nvSpPr>
          <p:cNvPr id="14" name="Text 11"/>
          <p:cNvSpPr txBox="1"/>
          <p:nvPr/>
        </p:nvSpPr>
        <p:spPr>
          <a:xfrm>
            <a:off x="8961120" y="4023360"/>
            <a:ext cx="2651760" cy="411480"/>
          </a:xfrm>
          <a:prstGeom prst="rect">
            <a:avLst/>
          </a:prstGeom>
          <a:noFill/>
          <a:ln/>
        </p:spPr>
        <p:txBody>
          <a:bodyPr wrap="square" lIns="0" tIns="0" rIns="0" bIns="0" rtlCol="0" anchor="t"/>
          <a:lstStyle/>
          <a:p>
            <a:pPr indent="0" marL="0">
              <a:buNone/>
            </a:pPr>
            <a:r>
              <a:rPr lang="en-US" sz="1900" b="1" dirty="0">
                <a:solidFill>
                  <a:srgbClr val="1D1D1B"/>
                </a:solidFill>
                <a:latin typeface="Malgun Gothic" pitchFamily="34" charset="0"/>
                <a:ea typeface="Malgun Gothic" pitchFamily="34" charset="-122"/>
                <a:cs typeface="Malgun Gothic" pitchFamily="34" charset="-120"/>
              </a:rPr>
              <a:t>33.8% → 18.0%</a:t>
            </a:r>
            <a:endParaRPr lang="en-US" sz="1900" dirty="0"/>
          </a:p>
        </p:txBody>
      </p:sp>
      <p:sp>
        <p:nvSpPr>
          <p:cNvPr id="15" name="Shape 12"/>
          <p:cNvSpPr/>
          <p:nvPr/>
        </p:nvSpPr>
        <p:spPr>
          <a:xfrm>
            <a:off x="8732520" y="4709160"/>
            <a:ext cx="2910535" cy="914400"/>
          </a:xfrm>
          <a:prstGeom prst="roundRect">
            <a:avLst>
              <a:gd name="adj" fmla="val 12000"/>
            </a:avLst>
          </a:prstGeom>
          <a:solidFill>
            <a:srgbClr val="F4F6F9"/>
          </a:solidFill>
          <a:ln w="12700">
            <a:solidFill>
              <a:srgbClr val="F4F6F9"/>
            </a:solidFill>
            <a:prstDash val="solid"/>
          </a:ln>
        </p:spPr>
      </p:sp>
      <p:sp>
        <p:nvSpPr>
          <p:cNvPr id="16" name="Shape 13"/>
          <p:cNvSpPr/>
          <p:nvPr/>
        </p:nvSpPr>
        <p:spPr>
          <a:xfrm>
            <a:off x="8961120" y="4892040"/>
            <a:ext cx="146304" cy="146304"/>
          </a:xfrm>
          <a:prstGeom prst="ellipse">
            <a:avLst/>
          </a:prstGeom>
          <a:solidFill>
            <a:srgbClr val="EB6834"/>
          </a:solidFill>
          <a:ln w="12700">
            <a:solidFill>
              <a:srgbClr val="EB6834"/>
            </a:solidFill>
            <a:prstDash val="solid"/>
          </a:ln>
        </p:spPr>
      </p:sp>
      <p:sp>
        <p:nvSpPr>
          <p:cNvPr id="17" name="Text 14"/>
          <p:cNvSpPr txBox="1"/>
          <p:nvPr/>
        </p:nvSpPr>
        <p:spPr>
          <a:xfrm>
            <a:off x="9189720" y="4818888"/>
            <a:ext cx="2011680" cy="274320"/>
          </a:xfrm>
          <a:prstGeom prst="rect">
            <a:avLst/>
          </a:prstGeom>
          <a:noFill/>
          <a:ln/>
        </p:spPr>
        <p:txBody>
          <a:bodyPr wrap="square" lIns="0" tIns="0" rIns="0" bIns="0" rtlCol="0" anchor="t"/>
          <a:lstStyle/>
          <a:p>
            <a:pPr indent="0" marL="0">
              <a:buNone/>
            </a:pPr>
            <a:r>
              <a:rPr lang="en-US" sz="1250" b="1" dirty="0">
                <a:solidFill>
                  <a:srgbClr val="1D1D1B"/>
                </a:solidFill>
                <a:latin typeface="Malgun Gothic" pitchFamily="34" charset="0"/>
                <a:ea typeface="Malgun Gothic" pitchFamily="34" charset="-122"/>
                <a:cs typeface="Malgun Gothic" pitchFamily="34" charset="-120"/>
              </a:rPr>
              <a:t>아모레퍼시픽</a:t>
            </a:r>
            <a:endParaRPr lang="en-US" sz="1250" dirty="0"/>
          </a:p>
        </p:txBody>
      </p:sp>
      <p:sp>
        <p:nvSpPr>
          <p:cNvPr id="18" name="Text 15"/>
          <p:cNvSpPr txBox="1"/>
          <p:nvPr/>
        </p:nvSpPr>
        <p:spPr>
          <a:xfrm>
            <a:off x="8961120" y="5120640"/>
            <a:ext cx="2651760" cy="411480"/>
          </a:xfrm>
          <a:prstGeom prst="rect">
            <a:avLst/>
          </a:prstGeom>
          <a:noFill/>
          <a:ln/>
        </p:spPr>
        <p:txBody>
          <a:bodyPr wrap="square" lIns="0" tIns="0" rIns="0" bIns="0" rtlCol="0" anchor="t"/>
          <a:lstStyle/>
          <a:p>
            <a:pPr indent="0" marL="0">
              <a:buNone/>
            </a:pPr>
            <a:r>
              <a:rPr lang="en-US" sz="1900" b="1" dirty="0">
                <a:solidFill>
                  <a:srgbClr val="1D1D1B"/>
                </a:solidFill>
                <a:latin typeface="Malgun Gothic" pitchFamily="34" charset="0"/>
                <a:ea typeface="Malgun Gothic" pitchFamily="34" charset="-122"/>
                <a:cs typeface="Malgun Gothic" pitchFamily="34" charset="-120"/>
              </a:rPr>
              <a:t>42.5% → 33.3%</a:t>
            </a:r>
            <a:endParaRPr lang="en-US" sz="1900" dirty="0"/>
          </a:p>
        </p:txBody>
      </p:sp>
      <p:sp>
        <p:nvSpPr>
          <p:cNvPr id="19" name="Text 16"/>
          <p:cNvSpPr txBox="1"/>
          <p:nvPr/>
        </p:nvSpPr>
        <p:spPr>
          <a:xfrm>
            <a:off x="548640" y="6400800"/>
            <a:ext cx="10545775" cy="228600"/>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3사 합계 = 100%. 매 분기 직전 4개 분기 영업이익을 합산 · 출처: OpenDART 연결재무제표</a:t>
            </a:r>
            <a:endParaRPr lang="en-US" sz="900" dirty="0"/>
          </a:p>
        </p:txBody>
      </p:sp>
      <p:sp>
        <p:nvSpPr>
          <p:cNvPr id="20" name="Text 17"/>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성장의 질</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이익률 24.8% vs 7.9%</a:t>
            </a:r>
            <a:endParaRPr lang="en-US" sz="2800" dirty="0"/>
          </a:p>
        </p:txBody>
      </p:sp>
      <p:graphicFrame>
        <p:nvGraphicFramePr>
          <p:cNvPr id="5" name="Chart 0" descr=""/>
          <p:cNvGraphicFramePr/>
          <p:nvPr/>
        </p:nvGraphicFramePr>
        <p:xfrm>
          <a:off x="548640" y="1554480"/>
          <a:ext cx="5852160" cy="4297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766560" y="1600200"/>
            <a:ext cx="4876495" cy="4251960"/>
          </a:xfrm>
          <a:prstGeom prst="roundRect">
            <a:avLst>
              <a:gd name="adj" fmla="val 2581"/>
            </a:avLst>
          </a:prstGeom>
          <a:solidFill>
            <a:srgbClr val="F4F6F9"/>
          </a:solidFill>
          <a:ln w="12700">
            <a:solidFill>
              <a:srgbClr val="F4F6F9"/>
            </a:solidFill>
            <a:prstDash val="solid"/>
          </a:ln>
        </p:spPr>
      </p:sp>
      <p:sp>
        <p:nvSpPr>
          <p:cNvPr id="7" name="Text 4"/>
          <p:cNvSpPr txBox="1"/>
          <p:nvPr/>
        </p:nvSpPr>
        <p:spPr>
          <a:xfrm>
            <a:off x="7040880" y="1828800"/>
            <a:ext cx="4572000" cy="365760"/>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코스맥스: 매출은 늘고 이익 몫은 줄었다</a:t>
            </a:r>
            <a:endParaRPr lang="en-US" sz="1500" dirty="0"/>
          </a:p>
        </p:txBody>
      </p:sp>
      <p:sp>
        <p:nvSpPr>
          <p:cNvPr id="8" name="Text 5"/>
          <p:cNvSpPr txBox="1"/>
          <p:nvPr/>
        </p:nvSpPr>
        <p:spPr>
          <a:xfrm>
            <a:off x="7040880" y="2377440"/>
            <a:ext cx="4572000" cy="274320"/>
          </a:xfrm>
          <a:prstGeom prst="rect">
            <a:avLst/>
          </a:prstGeom>
          <a:noFill/>
          <a:ln/>
        </p:spPr>
        <p:txBody>
          <a:bodyPr wrap="square" lIns="0" tIns="0" rIns="0" bIns="0" rtlCol="0" anchor="t"/>
          <a:lstStyle/>
          <a:p>
            <a:pPr indent="0" marL="0">
              <a:buNone/>
            </a:pPr>
            <a:r>
              <a:rPr lang="en-US" sz="1200" dirty="0">
                <a:solidFill>
                  <a:srgbClr val="6B6A66"/>
                </a:solidFill>
                <a:latin typeface="Malgun Gothic" pitchFamily="34" charset="0"/>
                <a:ea typeface="Malgun Gothic" pitchFamily="34" charset="-122"/>
                <a:cs typeface="Malgun Gothic" pitchFamily="34" charset="-120"/>
              </a:rPr>
              <a:t>매출 (전년 동기 대비)</a:t>
            </a:r>
            <a:endParaRPr lang="en-US" sz="1200" dirty="0"/>
          </a:p>
        </p:txBody>
      </p:sp>
      <p:sp>
        <p:nvSpPr>
          <p:cNvPr id="9" name="Text 6"/>
          <p:cNvSpPr txBox="1"/>
          <p:nvPr/>
        </p:nvSpPr>
        <p:spPr>
          <a:xfrm>
            <a:off x="7040880" y="2651760"/>
            <a:ext cx="4572000" cy="731520"/>
          </a:xfrm>
          <a:prstGeom prst="rect">
            <a:avLst/>
          </a:prstGeom>
          <a:noFill/>
          <a:ln/>
        </p:spPr>
        <p:txBody>
          <a:bodyPr wrap="square" lIns="0" tIns="0" rIns="0" bIns="0" rtlCol="0" anchor="t"/>
          <a:lstStyle/>
          <a:p>
            <a:pPr indent="0" marL="0">
              <a:buNone/>
            </a:pPr>
            <a:r>
              <a:rPr lang="en-US" sz="4000" b="1" dirty="0">
                <a:solidFill>
                  <a:srgbClr val="1BAF7A"/>
                </a:solidFill>
                <a:latin typeface="Malgun Gothic" pitchFamily="34" charset="0"/>
                <a:ea typeface="Malgun Gothic" pitchFamily="34" charset="-122"/>
                <a:cs typeface="Malgun Gothic" pitchFamily="34" charset="-120"/>
              </a:rPr>
              <a:t>+27.5%</a:t>
            </a:r>
            <a:endParaRPr lang="en-US" sz="4000" dirty="0"/>
          </a:p>
        </p:txBody>
      </p:sp>
      <p:sp>
        <p:nvSpPr>
          <p:cNvPr id="10" name="Text 7"/>
          <p:cNvSpPr txBox="1"/>
          <p:nvPr/>
        </p:nvSpPr>
        <p:spPr>
          <a:xfrm>
            <a:off x="7040880" y="3520440"/>
            <a:ext cx="4572000" cy="274320"/>
          </a:xfrm>
          <a:prstGeom prst="rect">
            <a:avLst/>
          </a:prstGeom>
          <a:noFill/>
          <a:ln/>
        </p:spPr>
        <p:txBody>
          <a:bodyPr wrap="square" lIns="0" tIns="0" rIns="0" bIns="0" rtlCol="0" anchor="t"/>
          <a:lstStyle/>
          <a:p>
            <a:pPr indent="0" marL="0">
              <a:buNone/>
            </a:pPr>
            <a:r>
              <a:rPr lang="en-US" sz="1200" dirty="0">
                <a:solidFill>
                  <a:srgbClr val="6B6A66"/>
                </a:solidFill>
                <a:latin typeface="Malgun Gothic" pitchFamily="34" charset="0"/>
                <a:ea typeface="Malgun Gothic" pitchFamily="34" charset="-122"/>
                <a:cs typeface="Malgun Gothic" pitchFamily="34" charset="-120"/>
              </a:rPr>
              <a:t>이익 점유 (최근 4분기)</a:t>
            </a:r>
            <a:endParaRPr lang="en-US" sz="1200" dirty="0"/>
          </a:p>
        </p:txBody>
      </p:sp>
      <p:sp>
        <p:nvSpPr>
          <p:cNvPr id="11" name="Text 8"/>
          <p:cNvSpPr txBox="1"/>
          <p:nvPr/>
        </p:nvSpPr>
        <p:spPr>
          <a:xfrm>
            <a:off x="7040880" y="3794760"/>
            <a:ext cx="4572000" cy="640080"/>
          </a:xfrm>
          <a:prstGeom prst="rect">
            <a:avLst/>
          </a:prstGeom>
          <a:noFill/>
          <a:ln/>
        </p:spPr>
        <p:txBody>
          <a:bodyPr wrap="square" lIns="0" tIns="0" rIns="0" bIns="0" rtlCol="0" anchor="t"/>
          <a:lstStyle/>
          <a:p>
            <a:pPr indent="0" marL="0">
              <a:buNone/>
            </a:pPr>
            <a:r>
              <a:rPr lang="en-US" sz="3000" b="1" dirty="0">
                <a:solidFill>
                  <a:srgbClr val="1D1D1B"/>
                </a:solidFill>
                <a:latin typeface="Malgun Gothic" pitchFamily="34" charset="0"/>
                <a:ea typeface="Malgun Gothic" pitchFamily="34" charset="-122"/>
                <a:cs typeface="Malgun Gothic" pitchFamily="34" charset="-120"/>
              </a:rPr>
              <a:t>33.8% → 18.0%</a:t>
            </a:r>
            <a:endParaRPr lang="en-US" sz="3000" dirty="0"/>
          </a:p>
        </p:txBody>
      </p:sp>
      <p:sp>
        <p:nvSpPr>
          <p:cNvPr id="12" name="Text 9"/>
          <p:cNvSpPr txBox="1"/>
          <p:nvPr/>
        </p:nvSpPr>
        <p:spPr>
          <a:xfrm>
            <a:off x="7040880" y="4617720"/>
            <a:ext cx="4327855" cy="1005840"/>
          </a:xfrm>
          <a:prstGeom prst="rect">
            <a:avLst/>
          </a:prstGeom>
          <a:noFill/>
          <a:ln/>
        </p:spPr>
        <p:txBody>
          <a:bodyPr wrap="square" lIns="0" tIns="0" rIns="0" bIns="0" rtlCol="0" anchor="t"/>
          <a:lstStyle/>
          <a:p>
            <a:pPr indent="0" marL="0">
              <a:buNone/>
            </a:pPr>
            <a:r>
              <a:rPr lang="en-US" sz="1300" dirty="0">
                <a:solidFill>
                  <a:srgbClr val="1D1D1B"/>
                </a:solidFill>
                <a:latin typeface="Malgun Gothic" pitchFamily="34" charset="0"/>
                <a:ea typeface="Malgun Gothic" pitchFamily="34" charset="-122"/>
                <a:cs typeface="Malgun Gothic" pitchFamily="34" charset="-120"/>
              </a:rPr>
              <a:t>매출이 늘면 운전자금도 함께 늘지만</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상환 재원인 이익 몫은 줄고 있다.</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차입을 늘리면 부담이 커질 수 있다.</a:t>
            </a:r>
            <a:endParaRPr lang="en-US" sz="1300" dirty="0"/>
          </a:p>
        </p:txBody>
      </p:sp>
      <p:sp>
        <p:nvSpPr>
          <p:cNvPr id="13" name="Text 10"/>
          <p:cNvSpPr txBox="1"/>
          <p:nvPr/>
        </p:nvSpPr>
        <p:spPr>
          <a:xfrm>
            <a:off x="548640" y="6400800"/>
            <a:ext cx="10545775" cy="228600"/>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출처: OpenDART 연결재무제표 (최근 4분기 합산)</a:t>
            </a:r>
            <a:endParaRPr lang="en-US" sz="900" dirty="0"/>
          </a:p>
        </p:txBody>
      </p:sp>
      <p:sp>
        <p:nvSpPr>
          <p:cNvPr id="14" name="Text 11"/>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상환 체력</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빠른 성장 ≠ 안전한 차주</a:t>
            </a:r>
            <a:endParaRPr lang="en-US" sz="2800" dirty="0"/>
          </a:p>
        </p:txBody>
      </p:sp>
      <p:graphicFrame>
        <p:nvGraphicFramePr>
          <p:cNvPr id="5" name="Chart 0" descr=""/>
          <p:cNvGraphicFramePr/>
          <p:nvPr/>
        </p:nvGraphicFramePr>
        <p:xfrm>
          <a:off x="548640" y="1508760"/>
          <a:ext cx="2636444"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367964" y="1508760"/>
          <a:ext cx="2636444" cy="384048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6187288" y="1508760"/>
          <a:ext cx="2636444" cy="384048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Chart 3" descr=""/>
          <p:cNvGraphicFramePr/>
          <p:nvPr/>
        </p:nvGraphicFramePr>
        <p:xfrm>
          <a:off x="9006611" y="1508760"/>
          <a:ext cx="2636444" cy="3840480"/>
        </p:xfrm>
        <a:graphic xmlns:a="http://schemas.openxmlformats.org/drawingml/2006/main">
          <a:graphicData uri="http://schemas.openxmlformats.org/drawingml/2006/chart">
            <c:chart xmlns:c="http://schemas.openxmlformats.org/drawingml/2006/chart" r:id="rId4"/>
          </a:graphicData>
        </a:graphic>
      </p:graphicFrame>
      <p:sp>
        <p:nvSpPr>
          <p:cNvPr id="9" name="Text 3"/>
          <p:cNvSpPr txBox="1"/>
          <p:nvPr/>
        </p:nvSpPr>
        <p:spPr>
          <a:xfrm>
            <a:off x="548640" y="5440680"/>
            <a:ext cx="11094415" cy="320040"/>
          </a:xfrm>
          <a:prstGeom prst="rect">
            <a:avLst/>
          </a:prstGeom>
          <a:noFill/>
          <a:ln/>
        </p:spPr>
        <p:txBody>
          <a:bodyPr wrap="square" lIns="0" tIns="0" rIns="0" bIns="0" rtlCol="0" anchor="t"/>
          <a:lstStyle/>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아모레퍼시픽 순현금  ·  코스맥스 순차입금 9,356억  ·  에이피알 순현금</a:t>
            </a:r>
            <a:endParaRPr lang="en-US" sz="1300" dirty="0"/>
          </a:p>
        </p:txBody>
      </p:sp>
      <p:sp>
        <p:nvSpPr>
          <p:cNvPr id="10" name="Text 4"/>
          <p:cNvSpPr txBox="1"/>
          <p:nvPr/>
        </p:nvSpPr>
        <p:spPr>
          <a:xfrm>
            <a:off x="548640" y="6400800"/>
            <a:ext cx="10545775" cy="228600"/>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부채비율 = 부채 ÷ 자본 · 유동비율 = 유동자산 ÷ 유동부채 · 이자보상배율 = 영업이익 ÷ 이자비용 · 현금전환율 = 영업활동현금흐름 ÷ 영업이익 (최근 4분기)</a:t>
            </a:r>
            <a:endParaRPr lang="en-US" sz="900" dirty="0"/>
          </a:p>
        </p:txBody>
      </p:sp>
      <p:sp>
        <p:nvSpPr>
          <p:cNvPr id="11" name="Text 5"/>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신용 리스크</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체력을 흔드는 세 가지 위험</a:t>
            </a:r>
            <a:endParaRPr lang="en-US" sz="2800" dirty="0"/>
          </a:p>
        </p:txBody>
      </p:sp>
      <p:sp>
        <p:nvSpPr>
          <p:cNvPr id="5" name="Shape 3"/>
          <p:cNvSpPr/>
          <p:nvPr/>
        </p:nvSpPr>
        <p:spPr>
          <a:xfrm>
            <a:off x="548640" y="1600200"/>
            <a:ext cx="3484778" cy="4206240"/>
          </a:xfrm>
          <a:prstGeom prst="roundRect">
            <a:avLst>
              <a:gd name="adj" fmla="val 3149"/>
            </a:avLst>
          </a:prstGeom>
          <a:solidFill>
            <a:srgbClr val="F4F6F9"/>
          </a:solidFill>
          <a:ln w="12700">
            <a:solidFill>
              <a:srgbClr val="F4F6F9"/>
            </a:solidFill>
            <a:prstDash val="solid"/>
          </a:ln>
        </p:spPr>
      </p:sp>
      <p:sp>
        <p:nvSpPr>
          <p:cNvPr id="6" name="Text 4"/>
          <p:cNvSpPr txBox="1"/>
          <p:nvPr/>
        </p:nvSpPr>
        <p:spPr>
          <a:xfrm>
            <a:off x="868680" y="1874520"/>
            <a:ext cx="2844698" cy="365760"/>
          </a:xfrm>
          <a:prstGeom prst="rect">
            <a:avLst/>
          </a:prstGeom>
          <a:noFill/>
          <a:ln/>
        </p:spPr>
        <p:txBody>
          <a:bodyPr wrap="square" lIns="0" tIns="0" rIns="0" bIns="0" rtlCol="0" anchor="t"/>
          <a:lstStyle/>
          <a:p>
            <a:pPr indent="0" marL="0">
              <a:buNone/>
            </a:pPr>
            <a:r>
              <a:rPr lang="en-US" sz="1700" b="1" dirty="0">
                <a:solidFill>
                  <a:srgbClr val="1D1D1B"/>
                </a:solidFill>
                <a:latin typeface="Malgun Gothic" pitchFamily="34" charset="0"/>
                <a:ea typeface="Malgun Gothic" pitchFamily="34" charset="-122"/>
                <a:cs typeface="Malgun Gothic" pitchFamily="34" charset="-120"/>
              </a:rPr>
              <a:t>지역·채널 편중</a:t>
            </a:r>
            <a:endParaRPr lang="en-US" sz="1700" dirty="0"/>
          </a:p>
        </p:txBody>
      </p:sp>
      <p:sp>
        <p:nvSpPr>
          <p:cNvPr id="7" name="Shape 5"/>
          <p:cNvSpPr/>
          <p:nvPr/>
        </p:nvSpPr>
        <p:spPr>
          <a:xfrm>
            <a:off x="868680" y="2468880"/>
            <a:ext cx="164592" cy="164592"/>
          </a:xfrm>
          <a:prstGeom prst="ellipse">
            <a:avLst/>
          </a:prstGeom>
          <a:solidFill>
            <a:srgbClr val="2A78D6"/>
          </a:solidFill>
          <a:ln w="12700">
            <a:solidFill>
              <a:srgbClr val="2A78D6"/>
            </a:solidFill>
            <a:prstDash val="solid"/>
          </a:ln>
        </p:spPr>
      </p:sp>
      <p:sp>
        <p:nvSpPr>
          <p:cNvPr id="8" name="Text 6"/>
          <p:cNvSpPr txBox="1"/>
          <p:nvPr/>
        </p:nvSpPr>
        <p:spPr>
          <a:xfrm>
            <a:off x="1143000" y="2377440"/>
            <a:ext cx="2570378" cy="320040"/>
          </a:xfrm>
          <a:prstGeom prst="rect">
            <a:avLst/>
          </a:prstGeom>
          <a:noFill/>
          <a:ln/>
        </p:spPr>
        <p:txBody>
          <a:bodyPr wrap="square" lIns="0" tIns="0" rIns="0" bIns="0" rtlCol="0" anchor="t"/>
          <a:lstStyle/>
          <a:p>
            <a:pPr indent="0" marL="0">
              <a:buNone/>
            </a:pPr>
            <a:r>
              <a:rPr lang="en-US" sz="1400" b="1" dirty="0">
                <a:solidFill>
                  <a:srgbClr val="2A78D6"/>
                </a:solidFill>
                <a:latin typeface="Malgun Gothic" pitchFamily="34" charset="0"/>
                <a:ea typeface="Malgun Gothic" pitchFamily="34" charset="-122"/>
                <a:cs typeface="Malgun Gothic" pitchFamily="34" charset="-120"/>
              </a:rPr>
              <a:t>에이피알</a:t>
            </a:r>
            <a:endParaRPr lang="en-US" sz="1400" dirty="0"/>
          </a:p>
        </p:txBody>
      </p:sp>
      <p:sp>
        <p:nvSpPr>
          <p:cNvPr id="9" name="Text 7"/>
          <p:cNvSpPr txBox="1"/>
          <p:nvPr/>
        </p:nvSpPr>
        <p:spPr>
          <a:xfrm>
            <a:off x="868680" y="2926080"/>
            <a:ext cx="2844698" cy="914400"/>
          </a:xfrm>
          <a:prstGeom prst="rect">
            <a:avLst/>
          </a:prstGeom>
          <a:noFill/>
          <a:ln/>
        </p:spPr>
        <p:txBody>
          <a:bodyPr wrap="square" lIns="0" tIns="0" rIns="0" bIns="0" rtlCol="0" anchor="t"/>
          <a:lstStyle/>
          <a:p>
            <a:pPr indent="0" marL="0">
              <a:buNone/>
            </a:pPr>
            <a:r>
              <a:rPr lang="en-US" sz="4400" b="1" dirty="0">
                <a:solidFill>
                  <a:srgbClr val="1D1D1B"/>
                </a:solidFill>
                <a:latin typeface="Malgun Gothic" pitchFamily="34" charset="0"/>
                <a:ea typeface="Malgun Gothic" pitchFamily="34" charset="-122"/>
                <a:cs typeface="Malgun Gothic" pitchFamily="34" charset="-120"/>
              </a:rPr>
              <a:t>92.0%</a:t>
            </a:r>
            <a:endParaRPr lang="en-US" sz="4400" dirty="0"/>
          </a:p>
        </p:txBody>
      </p:sp>
      <p:sp>
        <p:nvSpPr>
          <p:cNvPr id="10" name="Text 8"/>
          <p:cNvSpPr txBox="1"/>
          <p:nvPr/>
        </p:nvSpPr>
        <p:spPr>
          <a:xfrm>
            <a:off x="868680" y="3886200"/>
            <a:ext cx="2844698" cy="274320"/>
          </a:xfrm>
          <a:prstGeom prst="rect">
            <a:avLst/>
          </a:prstGeom>
          <a:noFill/>
          <a:ln/>
        </p:spPr>
        <p:txBody>
          <a:bodyPr wrap="square" lIns="0" tIns="0" rIns="0" bIns="0" rtlCol="0" anchor="t"/>
          <a:lstStyle/>
          <a:p>
            <a:pPr indent="0" marL="0">
              <a:buNone/>
            </a:pPr>
            <a:r>
              <a:rPr lang="en-US" sz="1200" dirty="0">
                <a:solidFill>
                  <a:srgbClr val="6B6A66"/>
                </a:solidFill>
                <a:latin typeface="Malgun Gothic" pitchFamily="34" charset="0"/>
                <a:ea typeface="Malgun Gothic" pitchFamily="34" charset="-122"/>
                <a:cs typeface="Malgun Gothic" pitchFamily="34" charset="-120"/>
              </a:rPr>
              <a:t>해외 매출 비중</a:t>
            </a:r>
            <a:endParaRPr lang="en-US" sz="1200" dirty="0"/>
          </a:p>
        </p:txBody>
      </p:sp>
      <p:sp>
        <p:nvSpPr>
          <p:cNvPr id="11" name="Text 9"/>
          <p:cNvSpPr txBox="1"/>
          <p:nvPr/>
        </p:nvSpPr>
        <p:spPr>
          <a:xfrm>
            <a:off x="868680" y="4434840"/>
            <a:ext cx="2844698" cy="1097280"/>
          </a:xfrm>
          <a:prstGeom prst="rect">
            <a:avLst/>
          </a:prstGeom>
          <a:noFill/>
          <a:ln/>
        </p:spPr>
        <p:txBody>
          <a:bodyPr wrap="square" lIns="0" tIns="0" rIns="0" bIns="0" rtlCol="0" anchor="t"/>
          <a:lstStyle/>
          <a:p>
            <a:pPr indent="0" marL="0">
              <a:buNone/>
            </a:pPr>
            <a:r>
              <a:rPr lang="en-US" sz="1300" dirty="0">
                <a:solidFill>
                  <a:srgbClr val="1D1D1B"/>
                </a:solidFill>
                <a:latin typeface="Malgun Gothic" pitchFamily="34" charset="0"/>
                <a:ea typeface="Malgun Gothic" pitchFamily="34" charset="-122"/>
                <a:cs typeface="Malgun Gothic" pitchFamily="34" charset="-120"/>
              </a:rPr>
              <a:t>환율·관세·해외 채널(아마존 등)</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변화에 이익이 크게</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흔들릴 수 있다</a:t>
            </a:r>
            <a:endParaRPr lang="en-US" sz="1300" dirty="0"/>
          </a:p>
        </p:txBody>
      </p:sp>
      <p:sp>
        <p:nvSpPr>
          <p:cNvPr id="12" name="Shape 10"/>
          <p:cNvSpPr/>
          <p:nvPr/>
        </p:nvSpPr>
        <p:spPr>
          <a:xfrm>
            <a:off x="4353458" y="1600200"/>
            <a:ext cx="3484778" cy="4206240"/>
          </a:xfrm>
          <a:prstGeom prst="roundRect">
            <a:avLst>
              <a:gd name="adj" fmla="val 3149"/>
            </a:avLst>
          </a:prstGeom>
          <a:solidFill>
            <a:srgbClr val="F4F6F9"/>
          </a:solidFill>
          <a:ln w="12700">
            <a:solidFill>
              <a:srgbClr val="F4F6F9"/>
            </a:solidFill>
            <a:prstDash val="solid"/>
          </a:ln>
        </p:spPr>
      </p:sp>
      <p:sp>
        <p:nvSpPr>
          <p:cNvPr id="13" name="Text 11"/>
          <p:cNvSpPr txBox="1"/>
          <p:nvPr/>
        </p:nvSpPr>
        <p:spPr>
          <a:xfrm>
            <a:off x="4673498" y="1874520"/>
            <a:ext cx="2844698" cy="365760"/>
          </a:xfrm>
          <a:prstGeom prst="rect">
            <a:avLst/>
          </a:prstGeom>
          <a:noFill/>
          <a:ln/>
        </p:spPr>
        <p:txBody>
          <a:bodyPr wrap="square" lIns="0" tIns="0" rIns="0" bIns="0" rtlCol="0" anchor="t"/>
          <a:lstStyle/>
          <a:p>
            <a:pPr indent="0" marL="0">
              <a:buNone/>
            </a:pPr>
            <a:r>
              <a:rPr lang="en-US" sz="1700" b="1" dirty="0">
                <a:solidFill>
                  <a:srgbClr val="1D1D1B"/>
                </a:solidFill>
                <a:latin typeface="Malgun Gothic" pitchFamily="34" charset="0"/>
                <a:ea typeface="Malgun Gothic" pitchFamily="34" charset="-122"/>
                <a:cs typeface="Malgun Gothic" pitchFamily="34" charset="-120"/>
              </a:rPr>
              <a:t>이익 둔화</a:t>
            </a:r>
            <a:endParaRPr lang="en-US" sz="1700" dirty="0"/>
          </a:p>
        </p:txBody>
      </p:sp>
      <p:sp>
        <p:nvSpPr>
          <p:cNvPr id="14" name="Shape 12"/>
          <p:cNvSpPr/>
          <p:nvPr/>
        </p:nvSpPr>
        <p:spPr>
          <a:xfrm>
            <a:off x="4673498" y="2468880"/>
            <a:ext cx="164592" cy="164592"/>
          </a:xfrm>
          <a:prstGeom prst="ellipse">
            <a:avLst/>
          </a:prstGeom>
          <a:solidFill>
            <a:srgbClr val="1BAF7A"/>
          </a:solidFill>
          <a:ln w="12700">
            <a:solidFill>
              <a:srgbClr val="1BAF7A"/>
            </a:solidFill>
            <a:prstDash val="solid"/>
          </a:ln>
        </p:spPr>
      </p:sp>
      <p:sp>
        <p:nvSpPr>
          <p:cNvPr id="15" name="Text 13"/>
          <p:cNvSpPr txBox="1"/>
          <p:nvPr/>
        </p:nvSpPr>
        <p:spPr>
          <a:xfrm>
            <a:off x="4947818" y="2377440"/>
            <a:ext cx="2570378" cy="320040"/>
          </a:xfrm>
          <a:prstGeom prst="rect">
            <a:avLst/>
          </a:prstGeom>
          <a:noFill/>
          <a:ln/>
        </p:spPr>
        <p:txBody>
          <a:bodyPr wrap="square" lIns="0" tIns="0" rIns="0" bIns="0" rtlCol="0" anchor="t"/>
          <a:lstStyle/>
          <a:p>
            <a:pPr indent="0" marL="0">
              <a:buNone/>
            </a:pPr>
            <a:r>
              <a:rPr lang="en-US" sz="1400" b="1" dirty="0">
                <a:solidFill>
                  <a:srgbClr val="1BAF7A"/>
                </a:solidFill>
                <a:latin typeface="Malgun Gothic" pitchFamily="34" charset="0"/>
                <a:ea typeface="Malgun Gothic" pitchFamily="34" charset="-122"/>
                <a:cs typeface="Malgun Gothic" pitchFamily="34" charset="-120"/>
              </a:rPr>
              <a:t>코스맥스</a:t>
            </a:r>
            <a:endParaRPr lang="en-US" sz="1400" dirty="0"/>
          </a:p>
        </p:txBody>
      </p:sp>
      <p:sp>
        <p:nvSpPr>
          <p:cNvPr id="16" name="Text 14"/>
          <p:cNvSpPr txBox="1"/>
          <p:nvPr/>
        </p:nvSpPr>
        <p:spPr>
          <a:xfrm>
            <a:off x="4673498" y="2926080"/>
            <a:ext cx="2844698" cy="914400"/>
          </a:xfrm>
          <a:prstGeom prst="rect">
            <a:avLst/>
          </a:prstGeom>
          <a:noFill/>
          <a:ln/>
        </p:spPr>
        <p:txBody>
          <a:bodyPr wrap="square" lIns="0" tIns="0" rIns="0" bIns="0" rtlCol="0" anchor="t"/>
          <a:lstStyle/>
          <a:p>
            <a:pPr indent="0" marL="0">
              <a:buNone/>
            </a:pPr>
            <a:r>
              <a:rPr lang="en-US" sz="4400" b="1" dirty="0">
                <a:solidFill>
                  <a:srgbClr val="1D1D1B"/>
                </a:solidFill>
                <a:latin typeface="Malgun Gothic" pitchFamily="34" charset="0"/>
                <a:ea typeface="Malgun Gothic" pitchFamily="34" charset="-122"/>
                <a:cs typeface="Malgun Gothic" pitchFamily="34" charset="-120"/>
              </a:rPr>
              <a:t>−8.1%</a:t>
            </a:r>
            <a:endParaRPr lang="en-US" sz="4400" dirty="0"/>
          </a:p>
        </p:txBody>
      </p:sp>
      <p:sp>
        <p:nvSpPr>
          <p:cNvPr id="17" name="Text 15"/>
          <p:cNvSpPr txBox="1"/>
          <p:nvPr/>
        </p:nvSpPr>
        <p:spPr>
          <a:xfrm>
            <a:off x="4673498" y="3886200"/>
            <a:ext cx="2844698" cy="274320"/>
          </a:xfrm>
          <a:prstGeom prst="rect">
            <a:avLst/>
          </a:prstGeom>
          <a:noFill/>
          <a:ln/>
        </p:spPr>
        <p:txBody>
          <a:bodyPr wrap="square" lIns="0" tIns="0" rIns="0" bIns="0" rtlCol="0" anchor="t"/>
          <a:lstStyle/>
          <a:p>
            <a:pPr indent="0" marL="0">
              <a:buNone/>
            </a:pPr>
            <a:r>
              <a:rPr lang="en-US" sz="1200" dirty="0">
                <a:solidFill>
                  <a:srgbClr val="6B6A66"/>
                </a:solidFill>
                <a:latin typeface="Malgun Gothic" pitchFamily="34" charset="0"/>
                <a:ea typeface="Malgun Gothic" pitchFamily="34" charset="-122"/>
                <a:cs typeface="Malgun Gothic" pitchFamily="34" charset="-120"/>
              </a:rPr>
              <a:t>예상 주당순이익(EPS) 증가율</a:t>
            </a:r>
            <a:endParaRPr lang="en-US" sz="1200" dirty="0"/>
          </a:p>
        </p:txBody>
      </p:sp>
      <p:sp>
        <p:nvSpPr>
          <p:cNvPr id="18" name="Text 16"/>
          <p:cNvSpPr txBox="1"/>
          <p:nvPr/>
        </p:nvSpPr>
        <p:spPr>
          <a:xfrm>
            <a:off x="4673498" y="4434840"/>
            <a:ext cx="2844698" cy="1097280"/>
          </a:xfrm>
          <a:prstGeom prst="rect">
            <a:avLst/>
          </a:prstGeom>
          <a:noFill/>
          <a:ln/>
        </p:spPr>
        <p:txBody>
          <a:bodyPr wrap="square" lIns="0" tIns="0" rIns="0" bIns="0" rtlCol="0" anchor="t"/>
          <a:lstStyle/>
          <a:p>
            <a:pPr indent="0" marL="0">
              <a:buNone/>
            </a:pPr>
            <a:r>
              <a:rPr lang="en-US" sz="1300" dirty="0">
                <a:solidFill>
                  <a:srgbClr val="1D1D1B"/>
                </a:solidFill>
                <a:latin typeface="Malgun Gothic" pitchFamily="34" charset="0"/>
                <a:ea typeface="Malgun Gothic" pitchFamily="34" charset="-122"/>
                <a:cs typeface="Malgun Gothic" pitchFamily="34" charset="-120"/>
              </a:rPr>
              <a:t>3사 중 유일하게</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이익 감소가 예상된다</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 상환 재원 둔화</a:t>
            </a:r>
            <a:endParaRPr lang="en-US" sz="1300" dirty="0"/>
          </a:p>
        </p:txBody>
      </p:sp>
      <p:sp>
        <p:nvSpPr>
          <p:cNvPr id="19" name="Shape 17"/>
          <p:cNvSpPr/>
          <p:nvPr/>
        </p:nvSpPr>
        <p:spPr>
          <a:xfrm>
            <a:off x="8158277" y="1600200"/>
            <a:ext cx="3484778" cy="4206240"/>
          </a:xfrm>
          <a:prstGeom prst="roundRect">
            <a:avLst>
              <a:gd name="adj" fmla="val 3149"/>
            </a:avLst>
          </a:prstGeom>
          <a:solidFill>
            <a:srgbClr val="F4F6F9"/>
          </a:solidFill>
          <a:ln w="12700">
            <a:solidFill>
              <a:srgbClr val="F4F6F9"/>
            </a:solidFill>
            <a:prstDash val="solid"/>
          </a:ln>
        </p:spPr>
      </p:sp>
      <p:sp>
        <p:nvSpPr>
          <p:cNvPr id="20" name="Text 18"/>
          <p:cNvSpPr txBox="1"/>
          <p:nvPr/>
        </p:nvSpPr>
        <p:spPr>
          <a:xfrm>
            <a:off x="8478317" y="1874520"/>
            <a:ext cx="2844698" cy="365760"/>
          </a:xfrm>
          <a:prstGeom prst="rect">
            <a:avLst/>
          </a:prstGeom>
          <a:noFill/>
          <a:ln/>
        </p:spPr>
        <p:txBody>
          <a:bodyPr wrap="square" lIns="0" tIns="0" rIns="0" bIns="0" rtlCol="0" anchor="t"/>
          <a:lstStyle/>
          <a:p>
            <a:pPr indent="0" marL="0">
              <a:buNone/>
            </a:pPr>
            <a:r>
              <a:rPr lang="en-US" sz="1700" b="1" dirty="0">
                <a:solidFill>
                  <a:srgbClr val="1D1D1B"/>
                </a:solidFill>
                <a:latin typeface="Malgun Gothic" pitchFamily="34" charset="0"/>
                <a:ea typeface="Malgun Gothic" pitchFamily="34" charset="-122"/>
                <a:cs typeface="Malgun Gothic" pitchFamily="34" charset="-120"/>
              </a:rPr>
              <a:t>시장 변동성</a:t>
            </a:r>
            <a:endParaRPr lang="en-US" sz="1700" dirty="0"/>
          </a:p>
        </p:txBody>
      </p:sp>
      <p:sp>
        <p:nvSpPr>
          <p:cNvPr id="21" name="Shape 19"/>
          <p:cNvSpPr/>
          <p:nvPr/>
        </p:nvSpPr>
        <p:spPr>
          <a:xfrm>
            <a:off x="8478317" y="2468880"/>
            <a:ext cx="164592" cy="164592"/>
          </a:xfrm>
          <a:prstGeom prst="ellipse">
            <a:avLst/>
          </a:prstGeom>
          <a:solidFill>
            <a:srgbClr val="2A78D6"/>
          </a:solidFill>
          <a:ln w="12700">
            <a:solidFill>
              <a:srgbClr val="2A78D6"/>
            </a:solidFill>
            <a:prstDash val="solid"/>
          </a:ln>
        </p:spPr>
      </p:sp>
      <p:sp>
        <p:nvSpPr>
          <p:cNvPr id="22" name="Text 20"/>
          <p:cNvSpPr txBox="1"/>
          <p:nvPr/>
        </p:nvSpPr>
        <p:spPr>
          <a:xfrm>
            <a:off x="8752637" y="2377440"/>
            <a:ext cx="2570378" cy="320040"/>
          </a:xfrm>
          <a:prstGeom prst="rect">
            <a:avLst/>
          </a:prstGeom>
          <a:noFill/>
          <a:ln/>
        </p:spPr>
        <p:txBody>
          <a:bodyPr wrap="square" lIns="0" tIns="0" rIns="0" bIns="0" rtlCol="0" anchor="t"/>
          <a:lstStyle/>
          <a:p>
            <a:pPr indent="0" marL="0">
              <a:buNone/>
            </a:pPr>
            <a:r>
              <a:rPr lang="en-US" sz="1400" b="1" dirty="0">
                <a:solidFill>
                  <a:srgbClr val="2A78D6"/>
                </a:solidFill>
                <a:latin typeface="Malgun Gothic" pitchFamily="34" charset="0"/>
                <a:ea typeface="Malgun Gothic" pitchFamily="34" charset="-122"/>
                <a:cs typeface="Malgun Gothic" pitchFamily="34" charset="-120"/>
              </a:rPr>
              <a:t>에이피알</a:t>
            </a:r>
            <a:endParaRPr lang="en-US" sz="1400" dirty="0"/>
          </a:p>
        </p:txBody>
      </p:sp>
      <p:sp>
        <p:nvSpPr>
          <p:cNvPr id="23" name="Text 21"/>
          <p:cNvSpPr txBox="1"/>
          <p:nvPr/>
        </p:nvSpPr>
        <p:spPr>
          <a:xfrm>
            <a:off x="8478317" y="2926080"/>
            <a:ext cx="2844698" cy="914400"/>
          </a:xfrm>
          <a:prstGeom prst="rect">
            <a:avLst/>
          </a:prstGeom>
          <a:noFill/>
          <a:ln/>
        </p:spPr>
        <p:txBody>
          <a:bodyPr wrap="square" lIns="0" tIns="0" rIns="0" bIns="0" rtlCol="0" anchor="t"/>
          <a:lstStyle/>
          <a:p>
            <a:pPr indent="0" marL="0">
              <a:buNone/>
            </a:pPr>
            <a:r>
              <a:rPr lang="en-US" sz="4400" b="1" dirty="0">
                <a:solidFill>
                  <a:srgbClr val="1D1D1B"/>
                </a:solidFill>
                <a:latin typeface="Malgun Gothic" pitchFamily="34" charset="0"/>
                <a:ea typeface="Malgun Gothic" pitchFamily="34" charset="-122"/>
                <a:cs typeface="Malgun Gothic" pitchFamily="34" charset="-120"/>
              </a:rPr>
              <a:t>60.8%</a:t>
            </a:r>
            <a:endParaRPr lang="en-US" sz="4400" dirty="0"/>
          </a:p>
        </p:txBody>
      </p:sp>
      <p:sp>
        <p:nvSpPr>
          <p:cNvPr id="24" name="Text 22"/>
          <p:cNvSpPr txBox="1"/>
          <p:nvPr/>
        </p:nvSpPr>
        <p:spPr>
          <a:xfrm>
            <a:off x="8478317" y="3886200"/>
            <a:ext cx="2844698" cy="274320"/>
          </a:xfrm>
          <a:prstGeom prst="rect">
            <a:avLst/>
          </a:prstGeom>
          <a:noFill/>
          <a:ln/>
        </p:spPr>
        <p:txBody>
          <a:bodyPr wrap="square" lIns="0" tIns="0" rIns="0" bIns="0" rtlCol="0" anchor="t"/>
          <a:lstStyle/>
          <a:p>
            <a:pPr indent="0" marL="0">
              <a:buNone/>
            </a:pPr>
            <a:r>
              <a:rPr lang="en-US" sz="1200" dirty="0">
                <a:solidFill>
                  <a:srgbClr val="6B6A66"/>
                </a:solidFill>
                <a:latin typeface="Malgun Gothic" pitchFamily="34" charset="0"/>
                <a:ea typeface="Malgun Gothic" pitchFamily="34" charset="-122"/>
                <a:cs typeface="Malgun Gothic" pitchFamily="34" charset="-120"/>
              </a:rPr>
              <a:t>1년 주가 연 변동성</a:t>
            </a:r>
            <a:endParaRPr lang="en-US" sz="1200" dirty="0"/>
          </a:p>
        </p:txBody>
      </p:sp>
      <p:sp>
        <p:nvSpPr>
          <p:cNvPr id="25" name="Text 23"/>
          <p:cNvSpPr txBox="1"/>
          <p:nvPr/>
        </p:nvSpPr>
        <p:spPr>
          <a:xfrm>
            <a:off x="8478317" y="4434840"/>
            <a:ext cx="2844698" cy="1097280"/>
          </a:xfrm>
          <a:prstGeom prst="rect">
            <a:avLst/>
          </a:prstGeom>
          <a:noFill/>
          <a:ln/>
        </p:spPr>
        <p:txBody>
          <a:bodyPr wrap="square" lIns="0" tIns="0" rIns="0" bIns="0" rtlCol="0" anchor="t"/>
          <a:lstStyle/>
          <a:p>
            <a:pPr indent="0" marL="0">
              <a:buNone/>
            </a:pPr>
            <a:r>
              <a:rPr lang="en-US" sz="1300" dirty="0">
                <a:solidFill>
                  <a:srgbClr val="1D1D1B"/>
                </a:solidFill>
                <a:latin typeface="Malgun Gothic" pitchFamily="34" charset="0"/>
                <a:ea typeface="Malgun Gothic" pitchFamily="34" charset="-122"/>
                <a:cs typeface="Malgun Gothic" pitchFamily="34" charset="-120"/>
              </a:rPr>
              <a:t>시장이 느끼는</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불확실성이 가장 크다</a:t>
            </a:r>
            <a:endParaRPr lang="en-US" sz="1300" dirty="0"/>
          </a:p>
        </p:txBody>
      </p:sp>
      <p:sp>
        <p:nvSpPr>
          <p:cNvPr id="26" name="Text 24"/>
          <p:cNvSpPr txBox="1"/>
          <p:nvPr/>
        </p:nvSpPr>
        <p:spPr>
          <a:xfrm>
            <a:off x="548640" y="6254496"/>
            <a:ext cx="10545775" cy="374904"/>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해외 비중: 각 사 2026Q2 발표(회사마다 산출 기준 다름) · 예상 EPS 증가율: PER ÷ 추정 PER − 1 (증권사 전망 평균) · 변동성: 일수익률 표준편차 × √252</a:t>
            </a:r>
            <a:endParaRPr lang="en-US" sz="900" dirty="0"/>
          </a:p>
          <a:p>
            <a:pPr indent="0" marL="0">
              <a:buNone/>
            </a:pPr>
            <a:r>
              <a:rPr lang="en-US" sz="900" dirty="0">
                <a:solidFill>
                  <a:srgbClr val="6B6A66"/>
                </a:solidFill>
                <a:latin typeface="Malgun Gothic" pitchFamily="34" charset="0"/>
                <a:ea typeface="Malgun Gothic" pitchFamily="34" charset="-122"/>
                <a:cs typeface="Malgun Gothic" pitchFamily="34" charset="-120"/>
              </a:rPr>
              <a:t>EPS = 주당순이익 · PER = 주가 ÷ 주당순이익 · 컨센서스 = 증권사 전망치 평균</a:t>
            </a:r>
            <a:endParaRPr lang="en-US" sz="900" dirty="0"/>
          </a:p>
        </p:txBody>
      </p:sp>
      <p:sp>
        <p:nvSpPr>
          <p:cNvPr id="27" name="Text 25"/>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시장 평가</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PER은 은행에게 참고 지표</a:t>
            </a:r>
            <a:endParaRPr lang="en-US" sz="2800" dirty="0"/>
          </a:p>
        </p:txBody>
      </p:sp>
      <p:graphicFrame>
        <p:nvGraphicFramePr>
          <p:cNvPr id="5" name="Chart 0" descr=""/>
          <p:cNvGraphicFramePr/>
          <p:nvPr/>
        </p:nvGraphicFramePr>
        <p:xfrm>
          <a:off x="548640" y="1554480"/>
          <a:ext cx="484632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577840" y="1554480"/>
          <a:ext cx="3108960" cy="402336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8961120" y="1645920"/>
            <a:ext cx="2681935" cy="3931920"/>
          </a:xfrm>
          <a:prstGeom prst="roundRect">
            <a:avLst>
              <a:gd name="adj" fmla="val 4091"/>
            </a:avLst>
          </a:prstGeom>
          <a:solidFill>
            <a:srgbClr val="E6EFFB"/>
          </a:solidFill>
          <a:ln w="12700">
            <a:solidFill>
              <a:srgbClr val="E6EFFB"/>
            </a:solidFill>
            <a:prstDash val="solid"/>
          </a:ln>
        </p:spPr>
      </p:sp>
      <p:sp>
        <p:nvSpPr>
          <p:cNvPr id="8" name="Text 4"/>
          <p:cNvSpPr txBox="1"/>
          <p:nvPr/>
        </p:nvSpPr>
        <p:spPr>
          <a:xfrm>
            <a:off x="9189720" y="1783080"/>
            <a:ext cx="2377440" cy="292608"/>
          </a:xfrm>
          <a:prstGeom prst="rect">
            <a:avLst/>
          </a:prstGeom>
          <a:noFill/>
          <a:ln/>
        </p:spPr>
        <p:txBody>
          <a:bodyPr wrap="square" lIns="0" tIns="0" rIns="0" bIns="0" rtlCol="0" anchor="t"/>
          <a:lstStyle/>
          <a:p>
            <a:pPr indent="0" marL="0">
              <a:buNone/>
            </a:pPr>
            <a:r>
              <a:rPr lang="en-US" sz="1400" b="1" dirty="0">
                <a:solidFill>
                  <a:srgbClr val="2A78D6"/>
                </a:solidFill>
                <a:latin typeface="Malgun Gothic" pitchFamily="34" charset="0"/>
                <a:ea typeface="Malgun Gothic" pitchFamily="34" charset="-122"/>
                <a:cs typeface="Malgun Gothic" pitchFamily="34" charset="-120"/>
              </a:rPr>
              <a:t>PEG란?</a:t>
            </a:r>
            <a:endParaRPr lang="en-US" sz="1400" dirty="0"/>
          </a:p>
        </p:txBody>
      </p:sp>
      <p:sp>
        <p:nvSpPr>
          <p:cNvPr id="9" name="Text 5"/>
          <p:cNvSpPr txBox="1"/>
          <p:nvPr/>
        </p:nvSpPr>
        <p:spPr>
          <a:xfrm>
            <a:off x="9189720" y="2103120"/>
            <a:ext cx="2377440" cy="960120"/>
          </a:xfrm>
          <a:prstGeom prst="rect">
            <a:avLst/>
          </a:prstGeom>
          <a:noFill/>
          <a:ln/>
        </p:spPr>
        <p:txBody>
          <a:bodyPr wrap="square" lIns="0" tIns="0" rIns="0" bIns="0" rtlCol="0" anchor="t"/>
          <a:lstStyle/>
          <a:p>
            <a:pPr indent="0" marL="0">
              <a:buNone/>
            </a:pPr>
            <a:r>
              <a:rPr lang="en-US" sz="1150" dirty="0">
                <a:solidFill>
                  <a:srgbClr val="1D1D1B"/>
                </a:solidFill>
                <a:latin typeface="Malgun Gothic" pitchFamily="34" charset="0"/>
                <a:ea typeface="Malgun Gothic" pitchFamily="34" charset="-122"/>
                <a:cs typeface="Malgun Gothic" pitchFamily="34" charset="-120"/>
              </a:rPr>
              <a:t>PER ÷ 예상 이익 증가율(%)</a:t>
            </a:r>
            <a:endParaRPr lang="en-US" sz="1150" dirty="0"/>
          </a:p>
          <a:p>
            <a:pPr indent="0" marL="0">
              <a:buNone/>
            </a:pPr>
            <a:r>
              <a:rPr lang="en-US" sz="1150" dirty="0">
                <a:solidFill>
                  <a:srgbClr val="1D1D1B"/>
                </a:solidFill>
                <a:latin typeface="Malgun Gothic" pitchFamily="34" charset="0"/>
                <a:ea typeface="Malgun Gothic" pitchFamily="34" charset="-122"/>
                <a:cs typeface="Malgun Gothic" pitchFamily="34" charset="-120"/>
              </a:rPr>
              <a:t>성장 속도를 감안한 주가 수준.</a:t>
            </a:r>
            <a:endParaRPr lang="en-US" sz="1150" dirty="0"/>
          </a:p>
          <a:p>
            <a:pPr indent="0" marL="0">
              <a:buNone/>
            </a:pPr>
            <a:r>
              <a:rPr lang="en-US" sz="1150" dirty="0">
                <a:solidFill>
                  <a:srgbClr val="1D1D1B"/>
                </a:solidFill>
                <a:latin typeface="Malgun Gothic" pitchFamily="34" charset="0"/>
                <a:ea typeface="Malgun Gothic" pitchFamily="34" charset="-122"/>
                <a:cs typeface="Malgun Gothic" pitchFamily="34" charset="-120"/>
              </a:rPr>
              <a:t>1보다 낮을수록 성장에 비해</a:t>
            </a:r>
            <a:endParaRPr lang="en-US" sz="1150" dirty="0"/>
          </a:p>
          <a:p>
            <a:pPr indent="0" marL="0">
              <a:buNone/>
            </a:pPr>
            <a:r>
              <a:rPr lang="en-US" sz="1150" dirty="0">
                <a:solidFill>
                  <a:srgbClr val="1D1D1B"/>
                </a:solidFill>
                <a:latin typeface="Malgun Gothic" pitchFamily="34" charset="0"/>
                <a:ea typeface="Malgun Gothic" pitchFamily="34" charset="-122"/>
                <a:cs typeface="Malgun Gothic" pitchFamily="34" charset="-120"/>
              </a:rPr>
              <a:t>주가 부담이 작다는 뜻</a:t>
            </a:r>
            <a:endParaRPr lang="en-US" sz="1150" dirty="0"/>
          </a:p>
        </p:txBody>
      </p:sp>
      <p:sp>
        <p:nvSpPr>
          <p:cNvPr id="10" name="Shape 6"/>
          <p:cNvSpPr/>
          <p:nvPr/>
        </p:nvSpPr>
        <p:spPr>
          <a:xfrm>
            <a:off x="9189720" y="3154680"/>
            <a:ext cx="2331720" cy="0"/>
          </a:xfrm>
          <a:prstGeom prst="line">
            <a:avLst/>
          </a:prstGeom>
          <a:noFill/>
          <a:ln w="12700">
            <a:solidFill>
              <a:srgbClr val="B9CCE8"/>
            </a:solidFill>
            <a:prstDash val="solid"/>
          </a:ln>
        </p:spPr>
      </p:sp>
      <p:sp>
        <p:nvSpPr>
          <p:cNvPr id="11" name="Text 7"/>
          <p:cNvSpPr txBox="1"/>
          <p:nvPr/>
        </p:nvSpPr>
        <p:spPr>
          <a:xfrm>
            <a:off x="9189720" y="3246120"/>
            <a:ext cx="2377440" cy="292608"/>
          </a:xfrm>
          <a:prstGeom prst="rect">
            <a:avLst/>
          </a:prstGeom>
          <a:noFill/>
          <a:ln/>
        </p:spPr>
        <p:txBody>
          <a:bodyPr wrap="square" lIns="0" tIns="0" rIns="0" bIns="0" rtlCol="0" anchor="t"/>
          <a:lstStyle/>
          <a:p>
            <a:pPr indent="0" marL="0">
              <a:buNone/>
            </a:pPr>
            <a:r>
              <a:rPr lang="en-US" sz="1400" b="1" dirty="0">
                <a:solidFill>
                  <a:srgbClr val="2A78D6"/>
                </a:solidFill>
                <a:latin typeface="Malgun Gothic" pitchFamily="34" charset="0"/>
                <a:ea typeface="Malgun Gothic" pitchFamily="34" charset="-122"/>
                <a:cs typeface="Malgun Gothic" pitchFamily="34" charset="-120"/>
              </a:rPr>
              <a:t>은행은 이렇게 쓴다</a:t>
            </a:r>
            <a:endParaRPr lang="en-US" sz="1400" dirty="0"/>
          </a:p>
        </p:txBody>
      </p:sp>
      <p:sp>
        <p:nvSpPr>
          <p:cNvPr id="12" name="Text 8"/>
          <p:cNvSpPr txBox="1"/>
          <p:nvPr/>
        </p:nvSpPr>
        <p:spPr>
          <a:xfrm>
            <a:off x="9189720" y="3566160"/>
            <a:ext cx="2377440" cy="960120"/>
          </a:xfrm>
          <a:prstGeom prst="rect">
            <a:avLst/>
          </a:prstGeom>
          <a:noFill/>
          <a:ln/>
        </p:spPr>
        <p:txBody>
          <a:bodyPr wrap="square" lIns="0" tIns="0" rIns="0" bIns="0" rtlCol="0" anchor="t"/>
          <a:lstStyle/>
          <a:p>
            <a:pPr indent="0" marL="0">
              <a:buNone/>
            </a:pPr>
            <a:r>
              <a:rPr lang="en-US" sz="1150" dirty="0">
                <a:solidFill>
                  <a:srgbClr val="1D1D1B"/>
                </a:solidFill>
                <a:latin typeface="Malgun Gothic" pitchFamily="34" charset="0"/>
                <a:ea typeface="Malgun Gothic" pitchFamily="34" charset="-122"/>
                <a:cs typeface="Malgun Gothic" pitchFamily="34" charset="-120"/>
              </a:rPr>
              <a:t>시장이 회사의 미래를</a:t>
            </a:r>
            <a:endParaRPr lang="en-US" sz="1150" dirty="0"/>
          </a:p>
          <a:p>
            <a:pPr indent="0" marL="0">
              <a:buNone/>
            </a:pPr>
            <a:r>
              <a:rPr lang="en-US" sz="1150" dirty="0">
                <a:solidFill>
                  <a:srgbClr val="1D1D1B"/>
                </a:solidFill>
                <a:latin typeface="Malgun Gothic" pitchFamily="34" charset="0"/>
                <a:ea typeface="Malgun Gothic" pitchFamily="34" charset="-122"/>
                <a:cs typeface="Malgun Gothic" pitchFamily="34" charset="-120"/>
              </a:rPr>
              <a:t>얼마나 믿는지 보는</a:t>
            </a:r>
            <a:endParaRPr lang="en-US" sz="1150" dirty="0"/>
          </a:p>
          <a:p>
            <a:pPr indent="0" marL="0">
              <a:buNone/>
            </a:pPr>
            <a:r>
              <a:rPr lang="en-US" sz="1150" dirty="0">
                <a:solidFill>
                  <a:srgbClr val="1D1D1B"/>
                </a:solidFill>
                <a:latin typeface="Malgun Gothic" pitchFamily="34" charset="0"/>
                <a:ea typeface="Malgun Gothic" pitchFamily="34" charset="-122"/>
                <a:cs typeface="Malgun Gothic" pitchFamily="34" charset="-120"/>
              </a:rPr>
              <a:t>보조 지표로 참고하고,</a:t>
            </a:r>
            <a:endParaRPr lang="en-US" sz="1150" dirty="0"/>
          </a:p>
          <a:p>
            <a:pPr indent="0" marL="0">
              <a:buNone/>
            </a:pPr>
            <a:r>
              <a:rPr lang="en-US" sz="1150" dirty="0">
                <a:solidFill>
                  <a:srgbClr val="1D1D1B"/>
                </a:solidFill>
                <a:latin typeface="Malgun Gothic" pitchFamily="34" charset="0"/>
                <a:ea typeface="Malgun Gothic" pitchFamily="34" charset="-122"/>
                <a:cs typeface="Malgun Gothic" pitchFamily="34" charset="-120"/>
              </a:rPr>
              <a:t>판단은 상환 능력 중심</a:t>
            </a:r>
            <a:endParaRPr lang="en-US" sz="1150" dirty="0"/>
          </a:p>
        </p:txBody>
      </p:sp>
      <p:sp>
        <p:nvSpPr>
          <p:cNvPr id="13" name="Text 9"/>
          <p:cNvSpPr txBox="1"/>
          <p:nvPr/>
        </p:nvSpPr>
        <p:spPr>
          <a:xfrm>
            <a:off x="9189720" y="4800600"/>
            <a:ext cx="2377440" cy="548640"/>
          </a:xfrm>
          <a:prstGeom prst="rect">
            <a:avLst/>
          </a:prstGeom>
          <a:noFill/>
          <a:ln/>
        </p:spPr>
        <p:txBody>
          <a:bodyPr wrap="square" lIns="0" tIns="0" rIns="0" bIns="0" rtlCol="0" anchor="t"/>
          <a:lstStyle/>
          <a:p>
            <a:pPr indent="0" marL="0">
              <a:buNone/>
            </a:pPr>
            <a:r>
              <a:rPr lang="en-US" sz="1050" dirty="0">
                <a:solidFill>
                  <a:srgbClr val="6B6A66"/>
                </a:solidFill>
                <a:latin typeface="Malgun Gothic" pitchFamily="34" charset="0"/>
                <a:ea typeface="Malgun Gothic" pitchFamily="34" charset="-122"/>
                <a:cs typeface="Malgun Gothic" pitchFamily="34" charset="-120"/>
              </a:rPr>
              <a:t>PBR 에이피알 20.94배는</a:t>
            </a:r>
            <a:endParaRPr lang="en-US" sz="1050" dirty="0"/>
          </a:p>
          <a:p>
            <a:pPr indent="0" marL="0">
              <a:buNone/>
            </a:pPr>
            <a:r>
              <a:rPr lang="en-US" sz="1050" dirty="0">
                <a:solidFill>
                  <a:srgbClr val="6B6A66"/>
                </a:solidFill>
                <a:latin typeface="Malgun Gothic" pitchFamily="34" charset="0"/>
                <a:ea typeface="Malgun Gothic" pitchFamily="34" charset="-122"/>
                <a:cs typeface="Malgun Gothic" pitchFamily="34" charset="-120"/>
              </a:rPr>
              <a:t>ROE 66.7%와 함께 봐야 한다</a:t>
            </a:r>
            <a:endParaRPr lang="en-US" sz="1050" dirty="0"/>
          </a:p>
        </p:txBody>
      </p:sp>
      <p:sp>
        <p:nvSpPr>
          <p:cNvPr id="14" name="Text 10"/>
          <p:cNvSpPr txBox="1"/>
          <p:nvPr/>
        </p:nvSpPr>
        <p:spPr>
          <a:xfrm>
            <a:off x="548640" y="6254496"/>
            <a:ext cx="10545775" cy="374904"/>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PER·추정 PER: 네이버증권(2026-09-29 장 마감 후 수집) · 코스맥스는 이익 감소가 예상돼 PEG를 계산하지 않음(해당없음) · 투자 권유 아님</a:t>
            </a:r>
            <a:endParaRPr lang="en-US" sz="900" dirty="0"/>
          </a:p>
          <a:p>
            <a:pPr indent="0" marL="0">
              <a:buNone/>
            </a:pPr>
            <a:r>
              <a:rPr lang="en-US" sz="900" dirty="0">
                <a:solidFill>
                  <a:srgbClr val="6B6A66"/>
                </a:solidFill>
                <a:latin typeface="Malgun Gothic" pitchFamily="34" charset="0"/>
                <a:ea typeface="Malgun Gothic" pitchFamily="34" charset="-122"/>
                <a:cs typeface="Malgun Gothic" pitchFamily="34" charset="-120"/>
              </a:rPr>
              <a:t>PER = 주가 ÷ 주당순이익(EPS) · PEG = PER ÷ 예상 이익(EPS) 증가율(%) · PBR = 주가 ÷ 주당순자산 · ROE = 순이익 ÷ 자기자본</a:t>
            </a:r>
            <a:endParaRPr lang="en-US" sz="900" dirty="0"/>
          </a:p>
        </p:txBody>
      </p:sp>
      <p:sp>
        <p:nvSpPr>
          <p:cNvPr id="15" name="Text 11"/>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은행의 판단 · 여신 스코어카드 (과제용 단순 기준)</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스코어카드 1위 아모레퍼시픽 (A)</a:t>
            </a:r>
            <a:endParaRPr lang="en-US" sz="2800" dirty="0"/>
          </a:p>
        </p:txBody>
      </p:sp>
      <p:sp>
        <p:nvSpPr>
          <p:cNvPr id="5" name="Shape 3"/>
          <p:cNvSpPr/>
          <p:nvPr/>
        </p:nvSpPr>
        <p:spPr>
          <a:xfrm>
            <a:off x="3931920" y="1664208"/>
            <a:ext cx="164592" cy="164592"/>
          </a:xfrm>
          <a:prstGeom prst="ellipse">
            <a:avLst/>
          </a:prstGeom>
          <a:solidFill>
            <a:srgbClr val="EB6834"/>
          </a:solidFill>
          <a:ln w="12700">
            <a:solidFill>
              <a:srgbClr val="EB6834"/>
            </a:solidFill>
            <a:prstDash val="solid"/>
          </a:ln>
        </p:spPr>
      </p:sp>
      <p:sp>
        <p:nvSpPr>
          <p:cNvPr id="6" name="Text 4"/>
          <p:cNvSpPr txBox="1"/>
          <p:nvPr/>
        </p:nvSpPr>
        <p:spPr>
          <a:xfrm>
            <a:off x="4160520" y="1554480"/>
            <a:ext cx="2113178" cy="384048"/>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아모레퍼시픽</a:t>
            </a:r>
            <a:endParaRPr lang="en-US" sz="1500" dirty="0"/>
          </a:p>
        </p:txBody>
      </p:sp>
      <p:sp>
        <p:nvSpPr>
          <p:cNvPr id="7" name="Shape 5"/>
          <p:cNvSpPr/>
          <p:nvPr/>
        </p:nvSpPr>
        <p:spPr>
          <a:xfrm>
            <a:off x="6593738" y="1664208"/>
            <a:ext cx="164592" cy="164592"/>
          </a:xfrm>
          <a:prstGeom prst="ellipse">
            <a:avLst/>
          </a:prstGeom>
          <a:solidFill>
            <a:srgbClr val="1BAF7A"/>
          </a:solidFill>
          <a:ln w="12700">
            <a:solidFill>
              <a:srgbClr val="1BAF7A"/>
            </a:solidFill>
            <a:prstDash val="solid"/>
          </a:ln>
        </p:spPr>
      </p:sp>
      <p:sp>
        <p:nvSpPr>
          <p:cNvPr id="8" name="Text 6"/>
          <p:cNvSpPr txBox="1"/>
          <p:nvPr/>
        </p:nvSpPr>
        <p:spPr>
          <a:xfrm>
            <a:off x="6822338" y="1554480"/>
            <a:ext cx="2113178" cy="384048"/>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코스맥스</a:t>
            </a:r>
            <a:endParaRPr lang="en-US" sz="1500" dirty="0"/>
          </a:p>
        </p:txBody>
      </p:sp>
      <p:sp>
        <p:nvSpPr>
          <p:cNvPr id="9" name="Shape 7"/>
          <p:cNvSpPr/>
          <p:nvPr/>
        </p:nvSpPr>
        <p:spPr>
          <a:xfrm>
            <a:off x="9255557" y="1664208"/>
            <a:ext cx="164592" cy="164592"/>
          </a:xfrm>
          <a:prstGeom prst="ellipse">
            <a:avLst/>
          </a:prstGeom>
          <a:solidFill>
            <a:srgbClr val="2A78D6"/>
          </a:solidFill>
          <a:ln w="12700">
            <a:solidFill>
              <a:srgbClr val="2A78D6"/>
            </a:solidFill>
            <a:prstDash val="solid"/>
          </a:ln>
        </p:spPr>
      </p:sp>
      <p:sp>
        <p:nvSpPr>
          <p:cNvPr id="10" name="Text 8"/>
          <p:cNvSpPr txBox="1"/>
          <p:nvPr/>
        </p:nvSpPr>
        <p:spPr>
          <a:xfrm>
            <a:off x="9484157" y="1554480"/>
            <a:ext cx="2113178" cy="384048"/>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에이피알</a:t>
            </a:r>
            <a:endParaRPr lang="en-US" sz="1500" dirty="0"/>
          </a:p>
        </p:txBody>
      </p:sp>
      <p:sp>
        <p:nvSpPr>
          <p:cNvPr id="11" name="Text 9"/>
          <p:cNvSpPr txBox="1"/>
          <p:nvPr/>
        </p:nvSpPr>
        <p:spPr>
          <a:xfrm>
            <a:off x="548640" y="2103120"/>
            <a:ext cx="3108960" cy="274320"/>
          </a:xfrm>
          <a:prstGeom prst="rect">
            <a:avLst/>
          </a:prstGeom>
          <a:noFill/>
          <a:ln/>
        </p:spPr>
        <p:txBody>
          <a:bodyPr wrap="square" lIns="0" tIns="0" rIns="0" bIns="0" rtlCol="0" anchor="t"/>
          <a:lstStyle/>
          <a:p>
            <a:pPr indent="0" marL="0">
              <a:buNone/>
            </a:pPr>
            <a:r>
              <a:rPr lang="en-US" sz="1350" b="1" dirty="0">
                <a:solidFill>
                  <a:srgbClr val="1D1D1B"/>
                </a:solidFill>
                <a:latin typeface="Malgun Gothic" pitchFamily="34" charset="0"/>
                <a:ea typeface="Malgun Gothic" pitchFamily="34" charset="-122"/>
                <a:cs typeface="Malgun Gothic" pitchFamily="34" charset="-120"/>
              </a:rPr>
              <a:t>상환 능력 (30%)</a:t>
            </a:r>
            <a:endParaRPr lang="en-US" sz="1350" dirty="0"/>
          </a:p>
        </p:txBody>
      </p:sp>
      <p:sp>
        <p:nvSpPr>
          <p:cNvPr id="12" name="Text 10"/>
          <p:cNvSpPr txBox="1"/>
          <p:nvPr/>
        </p:nvSpPr>
        <p:spPr>
          <a:xfrm>
            <a:off x="548640" y="2350008"/>
            <a:ext cx="3108960" cy="228600"/>
          </a:xfrm>
          <a:prstGeom prst="rect">
            <a:avLst/>
          </a:prstGeom>
          <a:noFill/>
          <a:ln/>
        </p:spPr>
        <p:txBody>
          <a:bodyPr wrap="square" lIns="0" tIns="0" rIns="0" bIns="0" rtlCol="0" anchor="t"/>
          <a:lstStyle/>
          <a:p>
            <a:pPr indent="0" marL="0">
              <a:buNone/>
            </a:pPr>
            <a:r>
              <a:rPr lang="en-US" sz="1050" dirty="0">
                <a:solidFill>
                  <a:srgbClr val="6B6A66"/>
                </a:solidFill>
                <a:latin typeface="Malgun Gothic" pitchFamily="34" charset="0"/>
                <a:ea typeface="Malgun Gothic" pitchFamily="34" charset="-122"/>
                <a:cs typeface="Malgun Gothic" pitchFamily="34" charset="-120"/>
              </a:rPr>
              <a:t>이자보상배율</a:t>
            </a:r>
            <a:endParaRPr lang="en-US" sz="1050" dirty="0"/>
          </a:p>
        </p:txBody>
      </p:sp>
      <p:sp>
        <p:nvSpPr>
          <p:cNvPr id="13" name="Shape 11"/>
          <p:cNvSpPr/>
          <p:nvPr/>
        </p:nvSpPr>
        <p:spPr>
          <a:xfrm>
            <a:off x="3749040" y="2093976"/>
            <a:ext cx="2478938" cy="475488"/>
          </a:xfrm>
          <a:prstGeom prst="roundRect">
            <a:avLst>
              <a:gd name="adj" fmla="val 15385"/>
            </a:avLst>
          </a:prstGeom>
          <a:solidFill>
            <a:srgbClr val="1B7F4B">
              <a:alpha val="85000"/>
            </a:srgbClr>
          </a:solidFill>
          <a:ln w="12700">
            <a:solidFill>
              <a:srgbClr val="1B7F4B"/>
            </a:solidFill>
            <a:prstDash val="solid"/>
          </a:ln>
        </p:spPr>
      </p:sp>
      <p:sp>
        <p:nvSpPr>
          <p:cNvPr id="14" name="Text 12"/>
          <p:cNvSpPr txBox="1"/>
          <p:nvPr/>
        </p:nvSpPr>
        <p:spPr>
          <a:xfrm>
            <a:off x="3931920" y="2093976"/>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5점</a:t>
            </a:r>
            <a:endParaRPr lang="en-US" sz="1500" dirty="0"/>
          </a:p>
        </p:txBody>
      </p:sp>
      <p:sp>
        <p:nvSpPr>
          <p:cNvPr id="15" name="Text 13"/>
          <p:cNvSpPr txBox="1"/>
          <p:nvPr/>
        </p:nvSpPr>
        <p:spPr>
          <a:xfrm>
            <a:off x="4754880" y="2093976"/>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24.7</a:t>
            </a:r>
            <a:endParaRPr lang="en-US" sz="1200" dirty="0"/>
          </a:p>
        </p:txBody>
      </p:sp>
      <p:sp>
        <p:nvSpPr>
          <p:cNvPr id="16" name="Shape 14"/>
          <p:cNvSpPr/>
          <p:nvPr/>
        </p:nvSpPr>
        <p:spPr>
          <a:xfrm>
            <a:off x="6410858" y="2093976"/>
            <a:ext cx="2478938" cy="475488"/>
          </a:xfrm>
          <a:prstGeom prst="roundRect">
            <a:avLst>
              <a:gd name="adj" fmla="val 15385"/>
            </a:avLst>
          </a:prstGeom>
          <a:solidFill>
            <a:srgbClr val="C9A227">
              <a:alpha val="85000"/>
            </a:srgbClr>
          </a:solidFill>
          <a:ln w="12700">
            <a:solidFill>
              <a:srgbClr val="C9A227"/>
            </a:solidFill>
            <a:prstDash val="solid"/>
          </a:ln>
        </p:spPr>
      </p:sp>
      <p:sp>
        <p:nvSpPr>
          <p:cNvPr id="17" name="Text 15"/>
          <p:cNvSpPr txBox="1"/>
          <p:nvPr/>
        </p:nvSpPr>
        <p:spPr>
          <a:xfrm>
            <a:off x="6593738" y="2093976"/>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3점</a:t>
            </a:r>
            <a:endParaRPr lang="en-US" sz="1500" dirty="0"/>
          </a:p>
        </p:txBody>
      </p:sp>
      <p:sp>
        <p:nvSpPr>
          <p:cNvPr id="18" name="Text 16"/>
          <p:cNvSpPr txBox="1"/>
          <p:nvPr/>
        </p:nvSpPr>
        <p:spPr>
          <a:xfrm>
            <a:off x="7416698" y="2093976"/>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4.3</a:t>
            </a:r>
            <a:endParaRPr lang="en-US" sz="1200" dirty="0"/>
          </a:p>
        </p:txBody>
      </p:sp>
      <p:sp>
        <p:nvSpPr>
          <p:cNvPr id="19" name="Shape 17"/>
          <p:cNvSpPr/>
          <p:nvPr/>
        </p:nvSpPr>
        <p:spPr>
          <a:xfrm>
            <a:off x="9072677" y="2093976"/>
            <a:ext cx="2478938" cy="475488"/>
          </a:xfrm>
          <a:prstGeom prst="roundRect">
            <a:avLst>
              <a:gd name="adj" fmla="val 15385"/>
            </a:avLst>
          </a:prstGeom>
          <a:solidFill>
            <a:srgbClr val="1B7F4B">
              <a:alpha val="85000"/>
            </a:srgbClr>
          </a:solidFill>
          <a:ln w="12700">
            <a:solidFill>
              <a:srgbClr val="1B7F4B"/>
            </a:solidFill>
            <a:prstDash val="solid"/>
          </a:ln>
        </p:spPr>
      </p:sp>
      <p:sp>
        <p:nvSpPr>
          <p:cNvPr id="20" name="Text 18"/>
          <p:cNvSpPr txBox="1"/>
          <p:nvPr/>
        </p:nvSpPr>
        <p:spPr>
          <a:xfrm>
            <a:off x="9255557" y="2093976"/>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5점</a:t>
            </a:r>
            <a:endParaRPr lang="en-US" sz="1500" dirty="0"/>
          </a:p>
        </p:txBody>
      </p:sp>
      <p:sp>
        <p:nvSpPr>
          <p:cNvPr id="21" name="Text 19"/>
          <p:cNvSpPr txBox="1"/>
          <p:nvPr/>
        </p:nvSpPr>
        <p:spPr>
          <a:xfrm>
            <a:off x="10078517" y="2093976"/>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398.5</a:t>
            </a:r>
            <a:endParaRPr lang="en-US" sz="1200" dirty="0"/>
          </a:p>
        </p:txBody>
      </p:sp>
      <p:sp>
        <p:nvSpPr>
          <p:cNvPr id="22" name="Text 20"/>
          <p:cNvSpPr txBox="1"/>
          <p:nvPr/>
        </p:nvSpPr>
        <p:spPr>
          <a:xfrm>
            <a:off x="548640" y="2670048"/>
            <a:ext cx="3108960" cy="274320"/>
          </a:xfrm>
          <a:prstGeom prst="rect">
            <a:avLst/>
          </a:prstGeom>
          <a:noFill/>
          <a:ln/>
        </p:spPr>
        <p:txBody>
          <a:bodyPr wrap="square" lIns="0" tIns="0" rIns="0" bIns="0" rtlCol="0" anchor="t"/>
          <a:lstStyle/>
          <a:p>
            <a:pPr indent="0" marL="0">
              <a:buNone/>
            </a:pPr>
            <a:r>
              <a:rPr lang="en-US" sz="1350" b="1" dirty="0">
                <a:solidFill>
                  <a:srgbClr val="1D1D1B"/>
                </a:solidFill>
                <a:latin typeface="Malgun Gothic" pitchFamily="34" charset="0"/>
                <a:ea typeface="Malgun Gothic" pitchFamily="34" charset="-122"/>
                <a:cs typeface="Malgun Gothic" pitchFamily="34" charset="-120"/>
              </a:rPr>
              <a:t>재무 안정성 (20%)</a:t>
            </a:r>
            <a:endParaRPr lang="en-US" sz="1350" dirty="0"/>
          </a:p>
        </p:txBody>
      </p:sp>
      <p:sp>
        <p:nvSpPr>
          <p:cNvPr id="23" name="Text 21"/>
          <p:cNvSpPr txBox="1"/>
          <p:nvPr/>
        </p:nvSpPr>
        <p:spPr>
          <a:xfrm>
            <a:off x="548640" y="2916936"/>
            <a:ext cx="3108960" cy="228600"/>
          </a:xfrm>
          <a:prstGeom prst="rect">
            <a:avLst/>
          </a:prstGeom>
          <a:noFill/>
          <a:ln/>
        </p:spPr>
        <p:txBody>
          <a:bodyPr wrap="square" lIns="0" tIns="0" rIns="0" bIns="0" rtlCol="0" anchor="t"/>
          <a:lstStyle/>
          <a:p>
            <a:pPr indent="0" marL="0">
              <a:buNone/>
            </a:pPr>
            <a:r>
              <a:rPr lang="en-US" sz="1050" dirty="0">
                <a:solidFill>
                  <a:srgbClr val="6B6A66"/>
                </a:solidFill>
                <a:latin typeface="Malgun Gothic" pitchFamily="34" charset="0"/>
                <a:ea typeface="Malgun Gothic" pitchFamily="34" charset="-122"/>
                <a:cs typeface="Malgun Gothic" pitchFamily="34" charset="-120"/>
              </a:rPr>
              <a:t>부채비율</a:t>
            </a:r>
            <a:endParaRPr lang="en-US" sz="1050" dirty="0"/>
          </a:p>
        </p:txBody>
      </p:sp>
      <p:sp>
        <p:nvSpPr>
          <p:cNvPr id="24" name="Shape 22"/>
          <p:cNvSpPr/>
          <p:nvPr/>
        </p:nvSpPr>
        <p:spPr>
          <a:xfrm>
            <a:off x="3749040" y="2660904"/>
            <a:ext cx="2478938" cy="475488"/>
          </a:xfrm>
          <a:prstGeom prst="roundRect">
            <a:avLst>
              <a:gd name="adj" fmla="val 15385"/>
            </a:avLst>
          </a:prstGeom>
          <a:solidFill>
            <a:srgbClr val="1B7F4B">
              <a:alpha val="85000"/>
            </a:srgbClr>
          </a:solidFill>
          <a:ln w="12700">
            <a:solidFill>
              <a:srgbClr val="1B7F4B"/>
            </a:solidFill>
            <a:prstDash val="solid"/>
          </a:ln>
        </p:spPr>
      </p:sp>
      <p:sp>
        <p:nvSpPr>
          <p:cNvPr id="25" name="Text 23"/>
          <p:cNvSpPr txBox="1"/>
          <p:nvPr/>
        </p:nvSpPr>
        <p:spPr>
          <a:xfrm>
            <a:off x="3931920" y="2660904"/>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5점</a:t>
            </a:r>
            <a:endParaRPr lang="en-US" sz="1500" dirty="0"/>
          </a:p>
        </p:txBody>
      </p:sp>
      <p:sp>
        <p:nvSpPr>
          <p:cNvPr id="26" name="Text 24"/>
          <p:cNvSpPr txBox="1"/>
          <p:nvPr/>
        </p:nvSpPr>
        <p:spPr>
          <a:xfrm>
            <a:off x="4754880" y="2660904"/>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25.8</a:t>
            </a:r>
            <a:endParaRPr lang="en-US" sz="1200" dirty="0"/>
          </a:p>
        </p:txBody>
      </p:sp>
      <p:sp>
        <p:nvSpPr>
          <p:cNvPr id="27" name="Shape 25"/>
          <p:cNvSpPr/>
          <p:nvPr/>
        </p:nvSpPr>
        <p:spPr>
          <a:xfrm>
            <a:off x="6410858" y="2660904"/>
            <a:ext cx="2478938" cy="475488"/>
          </a:xfrm>
          <a:prstGeom prst="roundRect">
            <a:avLst>
              <a:gd name="adj" fmla="val 15385"/>
            </a:avLst>
          </a:prstGeom>
          <a:solidFill>
            <a:srgbClr val="C8453B">
              <a:alpha val="85000"/>
            </a:srgbClr>
          </a:solidFill>
          <a:ln w="12700">
            <a:solidFill>
              <a:srgbClr val="C8453B"/>
            </a:solidFill>
            <a:prstDash val="solid"/>
          </a:ln>
        </p:spPr>
      </p:sp>
      <p:sp>
        <p:nvSpPr>
          <p:cNvPr id="28" name="Text 26"/>
          <p:cNvSpPr txBox="1"/>
          <p:nvPr/>
        </p:nvSpPr>
        <p:spPr>
          <a:xfrm>
            <a:off x="6593738" y="2660904"/>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1점</a:t>
            </a:r>
            <a:endParaRPr lang="en-US" sz="1500" dirty="0"/>
          </a:p>
        </p:txBody>
      </p:sp>
      <p:sp>
        <p:nvSpPr>
          <p:cNvPr id="29" name="Text 27"/>
          <p:cNvSpPr txBox="1"/>
          <p:nvPr/>
        </p:nvSpPr>
        <p:spPr>
          <a:xfrm>
            <a:off x="7416698" y="2660904"/>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276.1</a:t>
            </a:r>
            <a:endParaRPr lang="en-US" sz="1200" dirty="0"/>
          </a:p>
        </p:txBody>
      </p:sp>
      <p:sp>
        <p:nvSpPr>
          <p:cNvPr id="30" name="Shape 28"/>
          <p:cNvSpPr/>
          <p:nvPr/>
        </p:nvSpPr>
        <p:spPr>
          <a:xfrm>
            <a:off x="9072677" y="2660904"/>
            <a:ext cx="2478938" cy="475488"/>
          </a:xfrm>
          <a:prstGeom prst="roundRect">
            <a:avLst>
              <a:gd name="adj" fmla="val 15385"/>
            </a:avLst>
          </a:prstGeom>
          <a:solidFill>
            <a:srgbClr val="4FA36F">
              <a:alpha val="85000"/>
            </a:srgbClr>
          </a:solidFill>
          <a:ln w="12700">
            <a:solidFill>
              <a:srgbClr val="4FA36F"/>
            </a:solidFill>
            <a:prstDash val="solid"/>
          </a:ln>
        </p:spPr>
      </p:sp>
      <p:sp>
        <p:nvSpPr>
          <p:cNvPr id="31" name="Text 29"/>
          <p:cNvSpPr txBox="1"/>
          <p:nvPr/>
        </p:nvSpPr>
        <p:spPr>
          <a:xfrm>
            <a:off x="9255557" y="2660904"/>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4점</a:t>
            </a:r>
            <a:endParaRPr lang="en-US" sz="1500" dirty="0"/>
          </a:p>
        </p:txBody>
      </p:sp>
      <p:sp>
        <p:nvSpPr>
          <p:cNvPr id="32" name="Text 30"/>
          <p:cNvSpPr txBox="1"/>
          <p:nvPr/>
        </p:nvSpPr>
        <p:spPr>
          <a:xfrm>
            <a:off x="10078517" y="2660904"/>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70.1</a:t>
            </a:r>
            <a:endParaRPr lang="en-US" sz="1200" dirty="0"/>
          </a:p>
        </p:txBody>
      </p:sp>
      <p:sp>
        <p:nvSpPr>
          <p:cNvPr id="33" name="Text 31"/>
          <p:cNvSpPr txBox="1"/>
          <p:nvPr/>
        </p:nvSpPr>
        <p:spPr>
          <a:xfrm>
            <a:off x="548640" y="3236976"/>
            <a:ext cx="3108960" cy="274320"/>
          </a:xfrm>
          <a:prstGeom prst="rect">
            <a:avLst/>
          </a:prstGeom>
          <a:noFill/>
          <a:ln/>
        </p:spPr>
        <p:txBody>
          <a:bodyPr wrap="square" lIns="0" tIns="0" rIns="0" bIns="0" rtlCol="0" anchor="t"/>
          <a:lstStyle/>
          <a:p>
            <a:pPr indent="0" marL="0">
              <a:buNone/>
            </a:pPr>
            <a:r>
              <a:rPr lang="en-US" sz="1350" b="1" dirty="0">
                <a:solidFill>
                  <a:srgbClr val="1D1D1B"/>
                </a:solidFill>
                <a:latin typeface="Malgun Gothic" pitchFamily="34" charset="0"/>
                <a:ea typeface="Malgun Gothic" pitchFamily="34" charset="-122"/>
                <a:cs typeface="Malgun Gothic" pitchFamily="34" charset="-120"/>
              </a:rPr>
              <a:t>현금 창출 (20%)</a:t>
            </a:r>
            <a:endParaRPr lang="en-US" sz="1350" dirty="0"/>
          </a:p>
        </p:txBody>
      </p:sp>
      <p:sp>
        <p:nvSpPr>
          <p:cNvPr id="34" name="Text 32"/>
          <p:cNvSpPr txBox="1"/>
          <p:nvPr/>
        </p:nvSpPr>
        <p:spPr>
          <a:xfrm>
            <a:off x="548640" y="3483864"/>
            <a:ext cx="3108960" cy="228600"/>
          </a:xfrm>
          <a:prstGeom prst="rect">
            <a:avLst/>
          </a:prstGeom>
          <a:noFill/>
          <a:ln/>
        </p:spPr>
        <p:txBody>
          <a:bodyPr wrap="square" lIns="0" tIns="0" rIns="0" bIns="0" rtlCol="0" anchor="t"/>
          <a:lstStyle/>
          <a:p>
            <a:pPr indent="0" marL="0">
              <a:buNone/>
            </a:pPr>
            <a:r>
              <a:rPr lang="en-US" sz="1050" dirty="0">
                <a:solidFill>
                  <a:srgbClr val="6B6A66"/>
                </a:solidFill>
                <a:latin typeface="Malgun Gothic" pitchFamily="34" charset="0"/>
                <a:ea typeface="Malgun Gothic" pitchFamily="34" charset="-122"/>
                <a:cs typeface="Malgun Gothic" pitchFamily="34" charset="-120"/>
              </a:rPr>
              <a:t>현금전환율</a:t>
            </a:r>
            <a:endParaRPr lang="en-US" sz="1050" dirty="0"/>
          </a:p>
        </p:txBody>
      </p:sp>
      <p:sp>
        <p:nvSpPr>
          <p:cNvPr id="35" name="Shape 33"/>
          <p:cNvSpPr/>
          <p:nvPr/>
        </p:nvSpPr>
        <p:spPr>
          <a:xfrm>
            <a:off x="3749040" y="3227832"/>
            <a:ext cx="2478938" cy="475488"/>
          </a:xfrm>
          <a:prstGeom prst="roundRect">
            <a:avLst>
              <a:gd name="adj" fmla="val 15385"/>
            </a:avLst>
          </a:prstGeom>
          <a:solidFill>
            <a:srgbClr val="1B7F4B">
              <a:alpha val="85000"/>
            </a:srgbClr>
          </a:solidFill>
          <a:ln w="12700">
            <a:solidFill>
              <a:srgbClr val="1B7F4B"/>
            </a:solidFill>
            <a:prstDash val="solid"/>
          </a:ln>
        </p:spPr>
      </p:sp>
      <p:sp>
        <p:nvSpPr>
          <p:cNvPr id="36" name="Text 34"/>
          <p:cNvSpPr txBox="1"/>
          <p:nvPr/>
        </p:nvSpPr>
        <p:spPr>
          <a:xfrm>
            <a:off x="3931920" y="3227832"/>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5점</a:t>
            </a:r>
            <a:endParaRPr lang="en-US" sz="1500" dirty="0"/>
          </a:p>
        </p:txBody>
      </p:sp>
      <p:sp>
        <p:nvSpPr>
          <p:cNvPr id="37" name="Text 35"/>
          <p:cNvSpPr txBox="1"/>
          <p:nvPr/>
        </p:nvSpPr>
        <p:spPr>
          <a:xfrm>
            <a:off x="4754880" y="3227832"/>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129.7</a:t>
            </a:r>
            <a:endParaRPr lang="en-US" sz="1200" dirty="0"/>
          </a:p>
        </p:txBody>
      </p:sp>
      <p:sp>
        <p:nvSpPr>
          <p:cNvPr id="38" name="Shape 36"/>
          <p:cNvSpPr/>
          <p:nvPr/>
        </p:nvSpPr>
        <p:spPr>
          <a:xfrm>
            <a:off x="6410858" y="3227832"/>
            <a:ext cx="2478938" cy="475488"/>
          </a:xfrm>
          <a:prstGeom prst="roundRect">
            <a:avLst>
              <a:gd name="adj" fmla="val 15385"/>
            </a:avLst>
          </a:prstGeom>
          <a:solidFill>
            <a:srgbClr val="C9A227">
              <a:alpha val="85000"/>
            </a:srgbClr>
          </a:solidFill>
          <a:ln w="12700">
            <a:solidFill>
              <a:srgbClr val="C9A227"/>
            </a:solidFill>
            <a:prstDash val="solid"/>
          </a:ln>
        </p:spPr>
      </p:sp>
      <p:sp>
        <p:nvSpPr>
          <p:cNvPr id="39" name="Text 37"/>
          <p:cNvSpPr txBox="1"/>
          <p:nvPr/>
        </p:nvSpPr>
        <p:spPr>
          <a:xfrm>
            <a:off x="6593738" y="3227832"/>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3점</a:t>
            </a:r>
            <a:endParaRPr lang="en-US" sz="1500" dirty="0"/>
          </a:p>
        </p:txBody>
      </p:sp>
      <p:sp>
        <p:nvSpPr>
          <p:cNvPr id="40" name="Text 38"/>
          <p:cNvSpPr txBox="1"/>
          <p:nvPr/>
        </p:nvSpPr>
        <p:spPr>
          <a:xfrm>
            <a:off x="7416698" y="3227832"/>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74.2</a:t>
            </a:r>
            <a:endParaRPr lang="en-US" sz="1200" dirty="0"/>
          </a:p>
        </p:txBody>
      </p:sp>
      <p:sp>
        <p:nvSpPr>
          <p:cNvPr id="41" name="Shape 39"/>
          <p:cNvSpPr/>
          <p:nvPr/>
        </p:nvSpPr>
        <p:spPr>
          <a:xfrm>
            <a:off x="9072677" y="3227832"/>
            <a:ext cx="2478938" cy="475488"/>
          </a:xfrm>
          <a:prstGeom prst="roundRect">
            <a:avLst>
              <a:gd name="adj" fmla="val 15385"/>
            </a:avLst>
          </a:prstGeom>
          <a:solidFill>
            <a:srgbClr val="E08A3C">
              <a:alpha val="85000"/>
            </a:srgbClr>
          </a:solidFill>
          <a:ln w="12700">
            <a:solidFill>
              <a:srgbClr val="E08A3C"/>
            </a:solidFill>
            <a:prstDash val="solid"/>
          </a:ln>
        </p:spPr>
      </p:sp>
      <p:sp>
        <p:nvSpPr>
          <p:cNvPr id="42" name="Text 40"/>
          <p:cNvSpPr txBox="1"/>
          <p:nvPr/>
        </p:nvSpPr>
        <p:spPr>
          <a:xfrm>
            <a:off x="9255557" y="3227832"/>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2점</a:t>
            </a:r>
            <a:endParaRPr lang="en-US" sz="1500" dirty="0"/>
          </a:p>
        </p:txBody>
      </p:sp>
      <p:sp>
        <p:nvSpPr>
          <p:cNvPr id="43" name="Text 41"/>
          <p:cNvSpPr txBox="1"/>
          <p:nvPr/>
        </p:nvSpPr>
        <p:spPr>
          <a:xfrm>
            <a:off x="10078517" y="3227832"/>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54.2</a:t>
            </a:r>
            <a:endParaRPr lang="en-US" sz="1200" dirty="0"/>
          </a:p>
        </p:txBody>
      </p:sp>
      <p:sp>
        <p:nvSpPr>
          <p:cNvPr id="44" name="Text 42"/>
          <p:cNvSpPr txBox="1"/>
          <p:nvPr/>
        </p:nvSpPr>
        <p:spPr>
          <a:xfrm>
            <a:off x="548640" y="3803904"/>
            <a:ext cx="3108960" cy="274320"/>
          </a:xfrm>
          <a:prstGeom prst="rect">
            <a:avLst/>
          </a:prstGeom>
          <a:noFill/>
          <a:ln/>
        </p:spPr>
        <p:txBody>
          <a:bodyPr wrap="square" lIns="0" tIns="0" rIns="0" bIns="0" rtlCol="0" anchor="t"/>
          <a:lstStyle/>
          <a:p>
            <a:pPr indent="0" marL="0">
              <a:buNone/>
            </a:pPr>
            <a:r>
              <a:rPr lang="en-US" sz="1350" b="1" dirty="0">
                <a:solidFill>
                  <a:srgbClr val="1D1D1B"/>
                </a:solidFill>
                <a:latin typeface="Malgun Gothic" pitchFamily="34" charset="0"/>
                <a:ea typeface="Malgun Gothic" pitchFamily="34" charset="-122"/>
                <a:cs typeface="Malgun Gothic" pitchFamily="34" charset="-120"/>
              </a:rPr>
              <a:t>수익성 (20%)</a:t>
            </a:r>
            <a:endParaRPr lang="en-US" sz="1350" dirty="0"/>
          </a:p>
        </p:txBody>
      </p:sp>
      <p:sp>
        <p:nvSpPr>
          <p:cNvPr id="45" name="Text 43"/>
          <p:cNvSpPr txBox="1"/>
          <p:nvPr/>
        </p:nvSpPr>
        <p:spPr>
          <a:xfrm>
            <a:off x="548640" y="4050792"/>
            <a:ext cx="3108960" cy="228600"/>
          </a:xfrm>
          <a:prstGeom prst="rect">
            <a:avLst/>
          </a:prstGeom>
          <a:noFill/>
          <a:ln/>
        </p:spPr>
        <p:txBody>
          <a:bodyPr wrap="square" lIns="0" tIns="0" rIns="0" bIns="0" rtlCol="0" anchor="t"/>
          <a:lstStyle/>
          <a:p>
            <a:pPr indent="0" marL="0">
              <a:buNone/>
            </a:pPr>
            <a:r>
              <a:rPr lang="en-US" sz="1050" dirty="0">
                <a:solidFill>
                  <a:srgbClr val="6B6A66"/>
                </a:solidFill>
                <a:latin typeface="Malgun Gothic" pitchFamily="34" charset="0"/>
                <a:ea typeface="Malgun Gothic" pitchFamily="34" charset="-122"/>
                <a:cs typeface="Malgun Gothic" pitchFamily="34" charset="-120"/>
              </a:rPr>
              <a:t>영업이익률(4분기)</a:t>
            </a:r>
            <a:endParaRPr lang="en-US" sz="1050" dirty="0"/>
          </a:p>
        </p:txBody>
      </p:sp>
      <p:sp>
        <p:nvSpPr>
          <p:cNvPr id="46" name="Shape 44"/>
          <p:cNvSpPr/>
          <p:nvPr/>
        </p:nvSpPr>
        <p:spPr>
          <a:xfrm>
            <a:off x="3749040" y="3794760"/>
            <a:ext cx="2478938" cy="475488"/>
          </a:xfrm>
          <a:prstGeom prst="roundRect">
            <a:avLst>
              <a:gd name="adj" fmla="val 15385"/>
            </a:avLst>
          </a:prstGeom>
          <a:solidFill>
            <a:srgbClr val="E08A3C">
              <a:alpha val="85000"/>
            </a:srgbClr>
          </a:solidFill>
          <a:ln w="12700">
            <a:solidFill>
              <a:srgbClr val="E08A3C"/>
            </a:solidFill>
            <a:prstDash val="solid"/>
          </a:ln>
        </p:spPr>
      </p:sp>
      <p:sp>
        <p:nvSpPr>
          <p:cNvPr id="47" name="Text 45"/>
          <p:cNvSpPr txBox="1"/>
          <p:nvPr/>
        </p:nvSpPr>
        <p:spPr>
          <a:xfrm>
            <a:off x="3931920" y="3794760"/>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2점</a:t>
            </a:r>
            <a:endParaRPr lang="en-US" sz="1500" dirty="0"/>
          </a:p>
        </p:txBody>
      </p:sp>
      <p:sp>
        <p:nvSpPr>
          <p:cNvPr id="48" name="Text 46"/>
          <p:cNvSpPr txBox="1"/>
          <p:nvPr/>
        </p:nvSpPr>
        <p:spPr>
          <a:xfrm>
            <a:off x="4754880" y="3794760"/>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8.6</a:t>
            </a:r>
            <a:endParaRPr lang="en-US" sz="1200" dirty="0"/>
          </a:p>
        </p:txBody>
      </p:sp>
      <p:sp>
        <p:nvSpPr>
          <p:cNvPr id="49" name="Shape 47"/>
          <p:cNvSpPr/>
          <p:nvPr/>
        </p:nvSpPr>
        <p:spPr>
          <a:xfrm>
            <a:off x="6410858" y="3794760"/>
            <a:ext cx="2478938" cy="475488"/>
          </a:xfrm>
          <a:prstGeom prst="roundRect">
            <a:avLst>
              <a:gd name="adj" fmla="val 15385"/>
            </a:avLst>
          </a:prstGeom>
          <a:solidFill>
            <a:srgbClr val="E08A3C">
              <a:alpha val="85000"/>
            </a:srgbClr>
          </a:solidFill>
          <a:ln w="12700">
            <a:solidFill>
              <a:srgbClr val="E08A3C"/>
            </a:solidFill>
            <a:prstDash val="solid"/>
          </a:ln>
        </p:spPr>
      </p:sp>
      <p:sp>
        <p:nvSpPr>
          <p:cNvPr id="50" name="Text 48"/>
          <p:cNvSpPr txBox="1"/>
          <p:nvPr/>
        </p:nvSpPr>
        <p:spPr>
          <a:xfrm>
            <a:off x="6593738" y="3794760"/>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2점</a:t>
            </a:r>
            <a:endParaRPr lang="en-US" sz="1500" dirty="0"/>
          </a:p>
        </p:txBody>
      </p:sp>
      <p:sp>
        <p:nvSpPr>
          <p:cNvPr id="51" name="Text 49"/>
          <p:cNvSpPr txBox="1"/>
          <p:nvPr/>
        </p:nvSpPr>
        <p:spPr>
          <a:xfrm>
            <a:off x="7416698" y="3794760"/>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7.9</a:t>
            </a:r>
            <a:endParaRPr lang="en-US" sz="1200" dirty="0"/>
          </a:p>
        </p:txBody>
      </p:sp>
      <p:sp>
        <p:nvSpPr>
          <p:cNvPr id="52" name="Shape 50"/>
          <p:cNvSpPr/>
          <p:nvPr/>
        </p:nvSpPr>
        <p:spPr>
          <a:xfrm>
            <a:off x="9072677" y="3794760"/>
            <a:ext cx="2478938" cy="475488"/>
          </a:xfrm>
          <a:prstGeom prst="roundRect">
            <a:avLst>
              <a:gd name="adj" fmla="val 15385"/>
            </a:avLst>
          </a:prstGeom>
          <a:solidFill>
            <a:srgbClr val="1B7F4B">
              <a:alpha val="85000"/>
            </a:srgbClr>
          </a:solidFill>
          <a:ln w="12700">
            <a:solidFill>
              <a:srgbClr val="1B7F4B"/>
            </a:solidFill>
            <a:prstDash val="solid"/>
          </a:ln>
        </p:spPr>
      </p:sp>
      <p:sp>
        <p:nvSpPr>
          <p:cNvPr id="53" name="Text 51"/>
          <p:cNvSpPr txBox="1"/>
          <p:nvPr/>
        </p:nvSpPr>
        <p:spPr>
          <a:xfrm>
            <a:off x="9255557" y="3794760"/>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5점</a:t>
            </a:r>
            <a:endParaRPr lang="en-US" sz="1500" dirty="0"/>
          </a:p>
        </p:txBody>
      </p:sp>
      <p:sp>
        <p:nvSpPr>
          <p:cNvPr id="54" name="Text 52"/>
          <p:cNvSpPr txBox="1"/>
          <p:nvPr/>
        </p:nvSpPr>
        <p:spPr>
          <a:xfrm>
            <a:off x="10078517" y="3794760"/>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24.8</a:t>
            </a:r>
            <a:endParaRPr lang="en-US" sz="1200" dirty="0"/>
          </a:p>
        </p:txBody>
      </p:sp>
      <p:sp>
        <p:nvSpPr>
          <p:cNvPr id="55" name="Text 53"/>
          <p:cNvSpPr txBox="1"/>
          <p:nvPr/>
        </p:nvSpPr>
        <p:spPr>
          <a:xfrm>
            <a:off x="548640" y="4370832"/>
            <a:ext cx="3108960" cy="274320"/>
          </a:xfrm>
          <a:prstGeom prst="rect">
            <a:avLst/>
          </a:prstGeom>
          <a:noFill/>
          <a:ln/>
        </p:spPr>
        <p:txBody>
          <a:bodyPr wrap="square" lIns="0" tIns="0" rIns="0" bIns="0" rtlCol="0" anchor="t"/>
          <a:lstStyle/>
          <a:p>
            <a:pPr indent="0" marL="0">
              <a:buNone/>
            </a:pPr>
            <a:r>
              <a:rPr lang="en-US" sz="1350" b="1" dirty="0">
                <a:solidFill>
                  <a:srgbClr val="1D1D1B"/>
                </a:solidFill>
                <a:latin typeface="Malgun Gothic" pitchFamily="34" charset="0"/>
                <a:ea typeface="Malgun Gothic" pitchFamily="34" charset="-122"/>
                <a:cs typeface="Malgun Gothic" pitchFamily="34" charset="-120"/>
              </a:rPr>
              <a:t>편중 리스크 (10%)</a:t>
            </a:r>
            <a:endParaRPr lang="en-US" sz="1350" dirty="0"/>
          </a:p>
        </p:txBody>
      </p:sp>
      <p:sp>
        <p:nvSpPr>
          <p:cNvPr id="56" name="Text 54"/>
          <p:cNvSpPr txBox="1"/>
          <p:nvPr/>
        </p:nvSpPr>
        <p:spPr>
          <a:xfrm>
            <a:off x="548640" y="4617720"/>
            <a:ext cx="3108960" cy="228600"/>
          </a:xfrm>
          <a:prstGeom prst="rect">
            <a:avLst/>
          </a:prstGeom>
          <a:noFill/>
          <a:ln/>
        </p:spPr>
        <p:txBody>
          <a:bodyPr wrap="square" lIns="0" tIns="0" rIns="0" bIns="0" rtlCol="0" anchor="t"/>
          <a:lstStyle/>
          <a:p>
            <a:pPr indent="0" marL="0">
              <a:buNone/>
            </a:pPr>
            <a:r>
              <a:rPr lang="en-US" sz="1050" dirty="0">
                <a:solidFill>
                  <a:srgbClr val="6B6A66"/>
                </a:solidFill>
                <a:latin typeface="Malgun Gothic" pitchFamily="34" charset="0"/>
                <a:ea typeface="Malgun Gothic" pitchFamily="34" charset="-122"/>
                <a:cs typeface="Malgun Gothic" pitchFamily="34" charset="-120"/>
              </a:rPr>
              <a:t>해외 매출 비중</a:t>
            </a:r>
            <a:endParaRPr lang="en-US" sz="1050" dirty="0"/>
          </a:p>
        </p:txBody>
      </p:sp>
      <p:sp>
        <p:nvSpPr>
          <p:cNvPr id="57" name="Shape 55"/>
          <p:cNvSpPr/>
          <p:nvPr/>
        </p:nvSpPr>
        <p:spPr>
          <a:xfrm>
            <a:off x="3749040" y="4361688"/>
            <a:ext cx="2478938" cy="475488"/>
          </a:xfrm>
          <a:prstGeom prst="roundRect">
            <a:avLst>
              <a:gd name="adj" fmla="val 15385"/>
            </a:avLst>
          </a:prstGeom>
          <a:solidFill>
            <a:srgbClr val="4FA36F">
              <a:alpha val="85000"/>
            </a:srgbClr>
          </a:solidFill>
          <a:ln w="12700">
            <a:solidFill>
              <a:srgbClr val="4FA36F"/>
            </a:solidFill>
            <a:prstDash val="solid"/>
          </a:ln>
        </p:spPr>
      </p:sp>
      <p:sp>
        <p:nvSpPr>
          <p:cNvPr id="58" name="Text 56"/>
          <p:cNvSpPr txBox="1"/>
          <p:nvPr/>
        </p:nvSpPr>
        <p:spPr>
          <a:xfrm>
            <a:off x="3931920" y="4361688"/>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4점</a:t>
            </a:r>
            <a:endParaRPr lang="en-US" sz="1500" dirty="0"/>
          </a:p>
        </p:txBody>
      </p:sp>
      <p:sp>
        <p:nvSpPr>
          <p:cNvPr id="59" name="Text 57"/>
          <p:cNvSpPr txBox="1"/>
          <p:nvPr/>
        </p:nvSpPr>
        <p:spPr>
          <a:xfrm>
            <a:off x="4754880" y="4361688"/>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46.9</a:t>
            </a:r>
            <a:endParaRPr lang="en-US" sz="1200" dirty="0"/>
          </a:p>
        </p:txBody>
      </p:sp>
      <p:sp>
        <p:nvSpPr>
          <p:cNvPr id="60" name="Shape 58"/>
          <p:cNvSpPr/>
          <p:nvPr/>
        </p:nvSpPr>
        <p:spPr>
          <a:xfrm>
            <a:off x="6410858" y="4361688"/>
            <a:ext cx="2478938" cy="475488"/>
          </a:xfrm>
          <a:prstGeom prst="roundRect">
            <a:avLst>
              <a:gd name="adj" fmla="val 15385"/>
            </a:avLst>
          </a:prstGeom>
          <a:solidFill>
            <a:srgbClr val="1B7F4B">
              <a:alpha val="85000"/>
            </a:srgbClr>
          </a:solidFill>
          <a:ln w="12700">
            <a:solidFill>
              <a:srgbClr val="1B7F4B"/>
            </a:solidFill>
            <a:prstDash val="solid"/>
          </a:ln>
        </p:spPr>
      </p:sp>
      <p:sp>
        <p:nvSpPr>
          <p:cNvPr id="61" name="Text 59"/>
          <p:cNvSpPr txBox="1"/>
          <p:nvPr/>
        </p:nvSpPr>
        <p:spPr>
          <a:xfrm>
            <a:off x="6593738" y="4361688"/>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5점</a:t>
            </a:r>
            <a:endParaRPr lang="en-US" sz="1500" dirty="0"/>
          </a:p>
        </p:txBody>
      </p:sp>
      <p:sp>
        <p:nvSpPr>
          <p:cNvPr id="62" name="Text 60"/>
          <p:cNvSpPr txBox="1"/>
          <p:nvPr/>
        </p:nvSpPr>
        <p:spPr>
          <a:xfrm>
            <a:off x="7416698" y="4361688"/>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37.0</a:t>
            </a:r>
            <a:endParaRPr lang="en-US" sz="1200" dirty="0"/>
          </a:p>
        </p:txBody>
      </p:sp>
      <p:sp>
        <p:nvSpPr>
          <p:cNvPr id="63" name="Shape 61"/>
          <p:cNvSpPr/>
          <p:nvPr/>
        </p:nvSpPr>
        <p:spPr>
          <a:xfrm>
            <a:off x="9072677" y="4361688"/>
            <a:ext cx="2478938" cy="475488"/>
          </a:xfrm>
          <a:prstGeom prst="roundRect">
            <a:avLst>
              <a:gd name="adj" fmla="val 15385"/>
            </a:avLst>
          </a:prstGeom>
          <a:solidFill>
            <a:srgbClr val="C8453B">
              <a:alpha val="85000"/>
            </a:srgbClr>
          </a:solidFill>
          <a:ln w="12700">
            <a:solidFill>
              <a:srgbClr val="C8453B"/>
            </a:solidFill>
            <a:prstDash val="solid"/>
          </a:ln>
        </p:spPr>
      </p:sp>
      <p:sp>
        <p:nvSpPr>
          <p:cNvPr id="64" name="Text 62"/>
          <p:cNvSpPr txBox="1"/>
          <p:nvPr/>
        </p:nvSpPr>
        <p:spPr>
          <a:xfrm>
            <a:off x="9255557" y="4361688"/>
            <a:ext cx="914400" cy="47548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1점</a:t>
            </a:r>
            <a:endParaRPr lang="en-US" sz="1500" dirty="0"/>
          </a:p>
        </p:txBody>
      </p:sp>
      <p:sp>
        <p:nvSpPr>
          <p:cNvPr id="65" name="Text 63"/>
          <p:cNvSpPr txBox="1"/>
          <p:nvPr/>
        </p:nvSpPr>
        <p:spPr>
          <a:xfrm>
            <a:off x="10078517" y="4361688"/>
            <a:ext cx="1335938" cy="475488"/>
          </a:xfrm>
          <a:prstGeom prst="rect">
            <a:avLst/>
          </a:prstGeom>
          <a:noFill/>
          <a:ln/>
        </p:spPr>
        <p:txBody>
          <a:bodyPr wrap="square" lIns="0" tIns="0" rIns="0" bIns="0" rtlCol="0" anchor="ctr"/>
          <a:lstStyle/>
          <a:p>
            <a:pPr algn="r" indent="0" marL="0">
              <a:buNone/>
            </a:pPr>
            <a:r>
              <a:rPr lang="en-US" sz="1200" dirty="0">
                <a:solidFill>
                  <a:srgbClr val="FFFFFF"/>
                </a:solidFill>
                <a:latin typeface="Malgun Gothic" pitchFamily="34" charset="0"/>
                <a:ea typeface="Malgun Gothic" pitchFamily="34" charset="-122"/>
                <a:cs typeface="Malgun Gothic" pitchFamily="34" charset="-120"/>
              </a:rPr>
              <a:t>92.0</a:t>
            </a:r>
            <a:endParaRPr lang="en-US" sz="1200" dirty="0"/>
          </a:p>
        </p:txBody>
      </p:sp>
      <p:sp>
        <p:nvSpPr>
          <p:cNvPr id="66" name="Text 64"/>
          <p:cNvSpPr txBox="1"/>
          <p:nvPr/>
        </p:nvSpPr>
        <p:spPr>
          <a:xfrm>
            <a:off x="548640" y="5166360"/>
            <a:ext cx="3108960" cy="365760"/>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종합점수 · 등급</a:t>
            </a:r>
            <a:endParaRPr lang="en-US" sz="1500" dirty="0"/>
          </a:p>
        </p:txBody>
      </p:sp>
      <p:sp>
        <p:nvSpPr>
          <p:cNvPr id="67" name="Shape 65"/>
          <p:cNvSpPr/>
          <p:nvPr/>
        </p:nvSpPr>
        <p:spPr>
          <a:xfrm>
            <a:off x="3749040" y="5029200"/>
            <a:ext cx="2478938" cy="685800"/>
          </a:xfrm>
          <a:prstGeom prst="roundRect">
            <a:avLst>
              <a:gd name="adj" fmla="val 16000"/>
            </a:avLst>
          </a:prstGeom>
          <a:solidFill>
            <a:srgbClr val="E6EFFB"/>
          </a:solidFill>
          <a:ln w="12700">
            <a:solidFill>
              <a:srgbClr val="E6EFFB"/>
            </a:solidFill>
            <a:prstDash val="solid"/>
          </a:ln>
        </p:spPr>
      </p:sp>
      <p:sp>
        <p:nvSpPr>
          <p:cNvPr id="68" name="Text 66"/>
          <p:cNvSpPr txBox="1"/>
          <p:nvPr/>
        </p:nvSpPr>
        <p:spPr>
          <a:xfrm>
            <a:off x="3749040" y="5029200"/>
            <a:ext cx="2478938" cy="685800"/>
          </a:xfrm>
          <a:prstGeom prst="rect">
            <a:avLst/>
          </a:prstGeom>
          <a:noFill/>
          <a:ln/>
        </p:spPr>
        <p:txBody>
          <a:bodyPr wrap="square" lIns="0" tIns="0" rIns="0" bIns="0" rtlCol="0" anchor="ctr"/>
          <a:lstStyle/>
          <a:p>
            <a:pPr algn="ctr" indent="0" marL="0">
              <a:buNone/>
            </a:pPr>
            <a:r>
              <a:rPr lang="en-US" sz="2200" b="1" dirty="0">
                <a:solidFill>
                  <a:srgbClr val="2A78D6"/>
                </a:solidFill>
                <a:latin typeface="Malgun Gothic" pitchFamily="34" charset="0"/>
                <a:ea typeface="Malgun Gothic" pitchFamily="34" charset="-122"/>
                <a:cs typeface="Malgun Gothic" pitchFamily="34" charset="-120"/>
              </a:rPr>
              <a:t>4.30점 · A</a:t>
            </a:r>
            <a:endParaRPr lang="en-US" sz="2200" dirty="0"/>
          </a:p>
        </p:txBody>
      </p:sp>
      <p:sp>
        <p:nvSpPr>
          <p:cNvPr id="69" name="Shape 67"/>
          <p:cNvSpPr/>
          <p:nvPr/>
        </p:nvSpPr>
        <p:spPr>
          <a:xfrm>
            <a:off x="6410858" y="5029200"/>
            <a:ext cx="2478938" cy="685800"/>
          </a:xfrm>
          <a:prstGeom prst="roundRect">
            <a:avLst>
              <a:gd name="adj" fmla="val 16000"/>
            </a:avLst>
          </a:prstGeom>
          <a:solidFill>
            <a:srgbClr val="F4F6F9"/>
          </a:solidFill>
          <a:ln w="12700">
            <a:solidFill>
              <a:srgbClr val="F4F6F9"/>
            </a:solidFill>
            <a:prstDash val="solid"/>
          </a:ln>
        </p:spPr>
      </p:sp>
      <p:sp>
        <p:nvSpPr>
          <p:cNvPr id="70" name="Text 68"/>
          <p:cNvSpPr txBox="1"/>
          <p:nvPr/>
        </p:nvSpPr>
        <p:spPr>
          <a:xfrm>
            <a:off x="6410858" y="5029200"/>
            <a:ext cx="2478938" cy="685800"/>
          </a:xfrm>
          <a:prstGeom prst="rect">
            <a:avLst/>
          </a:prstGeom>
          <a:noFill/>
          <a:ln/>
        </p:spPr>
        <p:txBody>
          <a:bodyPr wrap="square" lIns="0" tIns="0" rIns="0" bIns="0" rtlCol="0" anchor="ctr"/>
          <a:lstStyle/>
          <a:p>
            <a:pPr algn="ctr" indent="0" marL="0">
              <a:buNone/>
            </a:pPr>
            <a:r>
              <a:rPr lang="en-US" sz="2200" b="1" dirty="0">
                <a:solidFill>
                  <a:srgbClr val="1D1D1B"/>
                </a:solidFill>
                <a:latin typeface="Malgun Gothic" pitchFamily="34" charset="0"/>
                <a:ea typeface="Malgun Gothic" pitchFamily="34" charset="-122"/>
                <a:cs typeface="Malgun Gothic" pitchFamily="34" charset="-120"/>
              </a:rPr>
              <a:t>2.60점 · C</a:t>
            </a:r>
            <a:endParaRPr lang="en-US" sz="2200" dirty="0"/>
          </a:p>
        </p:txBody>
      </p:sp>
      <p:sp>
        <p:nvSpPr>
          <p:cNvPr id="71" name="Shape 69"/>
          <p:cNvSpPr/>
          <p:nvPr/>
        </p:nvSpPr>
        <p:spPr>
          <a:xfrm>
            <a:off x="9072677" y="5029200"/>
            <a:ext cx="2478938" cy="685800"/>
          </a:xfrm>
          <a:prstGeom prst="roundRect">
            <a:avLst>
              <a:gd name="adj" fmla="val 16000"/>
            </a:avLst>
          </a:prstGeom>
          <a:solidFill>
            <a:srgbClr val="F4F6F9"/>
          </a:solidFill>
          <a:ln w="12700">
            <a:solidFill>
              <a:srgbClr val="F4F6F9"/>
            </a:solidFill>
            <a:prstDash val="solid"/>
          </a:ln>
        </p:spPr>
      </p:sp>
      <p:sp>
        <p:nvSpPr>
          <p:cNvPr id="72" name="Text 70"/>
          <p:cNvSpPr txBox="1"/>
          <p:nvPr/>
        </p:nvSpPr>
        <p:spPr>
          <a:xfrm>
            <a:off x="9072677" y="5029200"/>
            <a:ext cx="2478938" cy="685800"/>
          </a:xfrm>
          <a:prstGeom prst="rect">
            <a:avLst/>
          </a:prstGeom>
          <a:noFill/>
          <a:ln/>
        </p:spPr>
        <p:txBody>
          <a:bodyPr wrap="square" lIns="0" tIns="0" rIns="0" bIns="0" rtlCol="0" anchor="ctr"/>
          <a:lstStyle/>
          <a:p>
            <a:pPr algn="ctr" indent="0" marL="0">
              <a:buNone/>
            </a:pPr>
            <a:r>
              <a:rPr lang="en-US" sz="2200" b="1" dirty="0">
                <a:solidFill>
                  <a:srgbClr val="1D1D1B"/>
                </a:solidFill>
                <a:latin typeface="Malgun Gothic" pitchFamily="34" charset="0"/>
                <a:ea typeface="Malgun Gothic" pitchFamily="34" charset="-122"/>
                <a:cs typeface="Malgun Gothic" pitchFamily="34" charset="-120"/>
              </a:rPr>
              <a:t>3.80점 · B</a:t>
            </a:r>
            <a:endParaRPr lang="en-US" sz="2200" dirty="0"/>
          </a:p>
        </p:txBody>
      </p:sp>
      <p:sp>
        <p:nvSpPr>
          <p:cNvPr id="73" name="Text 71"/>
          <p:cNvSpPr txBox="1"/>
          <p:nvPr/>
        </p:nvSpPr>
        <p:spPr>
          <a:xfrm>
            <a:off x="548640" y="5815584"/>
            <a:ext cx="11094415" cy="292608"/>
          </a:xfrm>
          <a:prstGeom prst="rect">
            <a:avLst/>
          </a:prstGeom>
          <a:noFill/>
          <a:ln/>
        </p:spPr>
        <p:txBody>
          <a:bodyPr wrap="square" lIns="0" tIns="0" rIns="0" bIns="0" rtlCol="0" anchor="t"/>
          <a:lstStyle/>
          <a:p>
            <a:pPr indent="0" marL="0">
              <a:buNone/>
            </a:pPr>
            <a:r>
              <a:rPr lang="en-US" sz="1150" b="1" dirty="0">
                <a:solidFill>
                  <a:srgbClr val="2A78D6"/>
                </a:solidFill>
                <a:latin typeface="Malgun Gothic" pitchFamily="34" charset="0"/>
                <a:ea typeface="Malgun Gothic" pitchFamily="34" charset="-122"/>
                <a:cs typeface="Malgun Gothic" pitchFamily="34" charset="-120"/>
              </a:rPr>
              <a:t>왜 이 비율? 상환 능력 30%(은행이 가장 먼저 보는 항목) · 편중 10%(붐의 원천이자 위험) · 나머지 20%씩 → 모두 20%여도 순위 같음</a:t>
            </a:r>
            <a:endParaRPr lang="en-US" sz="1150" dirty="0"/>
          </a:p>
        </p:txBody>
      </p:sp>
      <p:sp>
        <p:nvSpPr>
          <p:cNvPr id="74" name="Text 72"/>
          <p:cNvSpPr txBox="1"/>
          <p:nvPr/>
        </p:nvSpPr>
        <p:spPr>
          <a:xfrm>
            <a:off x="548640" y="6254496"/>
            <a:ext cx="10545775" cy="374904"/>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5점 → 1점 구간: 이자보상배율 10배 이상·순현금 → 1배 미만 / 부채비율 50% 미만 → 200% 이상 / 현금전환율 100% 이상 → 40% 미만</a:t>
            </a:r>
            <a:endParaRPr lang="en-US" sz="900" dirty="0"/>
          </a:p>
          <a:p>
            <a:pPr indent="0" marL="0">
              <a:buNone/>
            </a:pPr>
            <a:r>
              <a:rPr lang="en-US" sz="900" dirty="0">
                <a:solidFill>
                  <a:srgbClr val="6B6A66"/>
                </a:solidFill>
                <a:latin typeface="Malgun Gothic" pitchFamily="34" charset="0"/>
                <a:ea typeface="Malgun Gothic" pitchFamily="34" charset="-122"/>
                <a:cs typeface="Malgun Gothic" pitchFamily="34" charset="-120"/>
              </a:rPr>
              <a:t>영업이익률 20% 이상 → 5% 미만 / 해외 비중 40% 이하 → 90% 초과 · 등급: 4.0점 이상 A, 3.0점 이상 B, 그 밖 C</a:t>
            </a:r>
            <a:endParaRPr lang="en-US" sz="900" dirty="0"/>
          </a:p>
        </p:txBody>
      </p:sp>
      <p:sp>
        <p:nvSpPr>
          <p:cNvPr id="75" name="Text 73"/>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은행의 판단</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투자자 1위 에이피알, 은행 1위 아모레퍼시픽</a:t>
            </a:r>
            <a:endParaRPr lang="en-US" sz="2800" dirty="0"/>
          </a:p>
        </p:txBody>
      </p:sp>
      <p:sp>
        <p:nvSpPr>
          <p:cNvPr id="5" name="Text 3"/>
          <p:cNvSpPr txBox="1"/>
          <p:nvPr/>
        </p:nvSpPr>
        <p:spPr>
          <a:xfrm>
            <a:off x="1463040" y="1371600"/>
            <a:ext cx="2926080" cy="548640"/>
          </a:xfrm>
          <a:prstGeom prst="rect">
            <a:avLst/>
          </a:prstGeom>
          <a:noFill/>
          <a:ln/>
        </p:spPr>
        <p:txBody>
          <a:bodyPr wrap="square" lIns="0" tIns="0" rIns="0" bIns="0" rtlCol="0" anchor="t"/>
          <a:lstStyle/>
          <a:p>
            <a:pPr algn="ctr" indent="0" marL="0">
              <a:buNone/>
            </a:pPr>
            <a:r>
              <a:rPr lang="en-US" sz="1200" dirty="0">
                <a:solidFill>
                  <a:srgbClr val="6B6A66"/>
                </a:solidFill>
                <a:latin typeface="Malgun Gothic" pitchFamily="34" charset="0"/>
                <a:ea typeface="Malgun Gothic" pitchFamily="34" charset="-122"/>
                <a:cs typeface="Malgun Gothic" pitchFamily="34" charset="-120"/>
              </a:rPr>
              <a:t>투자자 순위</a:t>
            </a:r>
            <a:endParaRPr lang="en-US" sz="1200" dirty="0"/>
          </a:p>
          <a:p>
            <a:pPr algn="ctr" indent="0" marL="0">
              <a:buNone/>
            </a:pPr>
            <a:r>
              <a:rPr lang="en-US" sz="1200" dirty="0">
                <a:solidFill>
                  <a:srgbClr val="6B6A66"/>
                </a:solidFill>
                <a:latin typeface="Malgun Gothic" pitchFamily="34" charset="0"/>
                <a:ea typeface="Malgun Gothic" pitchFamily="34" charset="-122"/>
                <a:cs typeface="Malgun Gothic" pitchFamily="34" charset="-120"/>
              </a:rPr>
              <a:t>1년 수익률 · 이익 점유 · PEG</a:t>
            </a:r>
            <a:endParaRPr lang="en-US" sz="1200" dirty="0"/>
          </a:p>
        </p:txBody>
      </p:sp>
      <p:sp>
        <p:nvSpPr>
          <p:cNvPr id="6" name="Text 4"/>
          <p:cNvSpPr txBox="1"/>
          <p:nvPr/>
        </p:nvSpPr>
        <p:spPr>
          <a:xfrm>
            <a:off x="6400800" y="1371600"/>
            <a:ext cx="2926080" cy="548640"/>
          </a:xfrm>
          <a:prstGeom prst="rect">
            <a:avLst/>
          </a:prstGeom>
          <a:noFill/>
          <a:ln/>
        </p:spPr>
        <p:txBody>
          <a:bodyPr wrap="square" lIns="0" tIns="0" rIns="0" bIns="0" rtlCol="0" anchor="t"/>
          <a:lstStyle/>
          <a:p>
            <a:pPr algn="ctr" indent="0" marL="0">
              <a:buNone/>
            </a:pPr>
            <a:r>
              <a:rPr lang="en-US" sz="1200" dirty="0">
                <a:solidFill>
                  <a:srgbClr val="6B6A66"/>
                </a:solidFill>
                <a:latin typeface="Malgun Gothic" pitchFamily="34" charset="0"/>
                <a:ea typeface="Malgun Gothic" pitchFamily="34" charset="-122"/>
                <a:cs typeface="Malgun Gothic" pitchFamily="34" charset="-120"/>
              </a:rPr>
              <a:t>은행 순위</a:t>
            </a:r>
            <a:endParaRPr lang="en-US" sz="1200" dirty="0"/>
          </a:p>
          <a:p>
            <a:pPr algn="ctr" indent="0" marL="0">
              <a:buNone/>
            </a:pPr>
            <a:r>
              <a:rPr lang="en-US" sz="1200" dirty="0">
                <a:solidFill>
                  <a:srgbClr val="6B6A66"/>
                </a:solidFill>
                <a:latin typeface="Malgun Gothic" pitchFamily="34" charset="0"/>
                <a:ea typeface="Malgun Gothic" pitchFamily="34" charset="-122"/>
                <a:cs typeface="Malgun Gothic" pitchFamily="34" charset="-120"/>
              </a:rPr>
              <a:t>여신 스코어카드</a:t>
            </a:r>
            <a:endParaRPr lang="en-US" sz="1200" dirty="0"/>
          </a:p>
        </p:txBody>
      </p:sp>
      <p:sp>
        <p:nvSpPr>
          <p:cNvPr id="7" name="Shape 5"/>
          <p:cNvSpPr/>
          <p:nvPr/>
        </p:nvSpPr>
        <p:spPr>
          <a:xfrm flipV="1">
            <a:off x="2926080" y="2194560"/>
            <a:ext cx="4937760" cy="1234440"/>
          </a:xfrm>
          <a:prstGeom prst="line">
            <a:avLst/>
          </a:prstGeom>
          <a:noFill/>
          <a:ln w="50800">
            <a:solidFill>
              <a:srgbClr val="EB6834"/>
            </a:solidFill>
            <a:prstDash val="solid"/>
          </a:ln>
        </p:spPr>
      </p:sp>
      <p:sp>
        <p:nvSpPr>
          <p:cNvPr id="8" name="Shape 6"/>
          <p:cNvSpPr/>
          <p:nvPr/>
        </p:nvSpPr>
        <p:spPr>
          <a:xfrm>
            <a:off x="2798064" y="3300984"/>
            <a:ext cx="256032" cy="256032"/>
          </a:xfrm>
          <a:prstGeom prst="ellipse">
            <a:avLst/>
          </a:prstGeom>
          <a:solidFill>
            <a:srgbClr val="EB6834"/>
          </a:solidFill>
          <a:ln w="12700">
            <a:solidFill>
              <a:srgbClr val="EB6834"/>
            </a:solidFill>
            <a:prstDash val="solid"/>
          </a:ln>
        </p:spPr>
      </p:sp>
      <p:sp>
        <p:nvSpPr>
          <p:cNvPr id="9" name="Shape 7"/>
          <p:cNvSpPr/>
          <p:nvPr/>
        </p:nvSpPr>
        <p:spPr>
          <a:xfrm>
            <a:off x="7735824" y="2066544"/>
            <a:ext cx="256032" cy="256032"/>
          </a:xfrm>
          <a:prstGeom prst="ellipse">
            <a:avLst/>
          </a:prstGeom>
          <a:solidFill>
            <a:srgbClr val="EB6834"/>
          </a:solidFill>
          <a:ln w="12700">
            <a:solidFill>
              <a:srgbClr val="EB6834"/>
            </a:solidFill>
            <a:prstDash val="solid"/>
          </a:ln>
        </p:spPr>
      </p:sp>
      <p:sp>
        <p:nvSpPr>
          <p:cNvPr id="10" name="Text 8"/>
          <p:cNvSpPr txBox="1"/>
          <p:nvPr/>
        </p:nvSpPr>
        <p:spPr>
          <a:xfrm>
            <a:off x="182880" y="3246120"/>
            <a:ext cx="2468880" cy="365760"/>
          </a:xfrm>
          <a:prstGeom prst="rect">
            <a:avLst/>
          </a:prstGeom>
          <a:noFill/>
          <a:ln/>
        </p:spPr>
        <p:txBody>
          <a:bodyPr wrap="square" lIns="0" tIns="0" rIns="0" bIns="0" rtlCol="0" anchor="t"/>
          <a:lstStyle/>
          <a:p>
            <a:pPr algn="r" indent="0" marL="0">
              <a:buNone/>
            </a:pPr>
            <a:r>
              <a:rPr lang="en-US" sz="1500" b="1" dirty="0">
                <a:solidFill>
                  <a:srgbClr val="1D1D1B"/>
                </a:solidFill>
                <a:latin typeface="Malgun Gothic" pitchFamily="34" charset="0"/>
                <a:ea typeface="Malgun Gothic" pitchFamily="34" charset="-122"/>
                <a:cs typeface="Malgun Gothic" pitchFamily="34" charset="-120"/>
              </a:rPr>
              <a:t>아모레퍼시픽  2위</a:t>
            </a:r>
            <a:endParaRPr lang="en-US" sz="1500" dirty="0"/>
          </a:p>
        </p:txBody>
      </p:sp>
      <p:sp>
        <p:nvSpPr>
          <p:cNvPr id="11" name="Text 9"/>
          <p:cNvSpPr txBox="1"/>
          <p:nvPr/>
        </p:nvSpPr>
        <p:spPr>
          <a:xfrm>
            <a:off x="8138160" y="2011680"/>
            <a:ext cx="3474720" cy="365760"/>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1위  아모레퍼시픽 (A)</a:t>
            </a:r>
            <a:endParaRPr lang="en-US" sz="1500" dirty="0"/>
          </a:p>
        </p:txBody>
      </p:sp>
      <p:sp>
        <p:nvSpPr>
          <p:cNvPr id="12" name="Shape 10"/>
          <p:cNvSpPr/>
          <p:nvPr/>
        </p:nvSpPr>
        <p:spPr>
          <a:xfrm>
            <a:off x="2926080" y="4663440"/>
            <a:ext cx="4937760" cy="914"/>
          </a:xfrm>
          <a:prstGeom prst="line">
            <a:avLst/>
          </a:prstGeom>
          <a:noFill/>
          <a:ln w="50800">
            <a:solidFill>
              <a:srgbClr val="1BAF7A"/>
            </a:solidFill>
            <a:prstDash val="solid"/>
          </a:ln>
        </p:spPr>
      </p:sp>
      <p:sp>
        <p:nvSpPr>
          <p:cNvPr id="13" name="Shape 11"/>
          <p:cNvSpPr/>
          <p:nvPr/>
        </p:nvSpPr>
        <p:spPr>
          <a:xfrm>
            <a:off x="2798064" y="4535424"/>
            <a:ext cx="256032" cy="256032"/>
          </a:xfrm>
          <a:prstGeom prst="ellipse">
            <a:avLst/>
          </a:prstGeom>
          <a:solidFill>
            <a:srgbClr val="1BAF7A"/>
          </a:solidFill>
          <a:ln w="12700">
            <a:solidFill>
              <a:srgbClr val="1BAF7A"/>
            </a:solidFill>
            <a:prstDash val="solid"/>
          </a:ln>
        </p:spPr>
      </p:sp>
      <p:sp>
        <p:nvSpPr>
          <p:cNvPr id="14" name="Shape 12"/>
          <p:cNvSpPr/>
          <p:nvPr/>
        </p:nvSpPr>
        <p:spPr>
          <a:xfrm>
            <a:off x="7735824" y="4535424"/>
            <a:ext cx="256032" cy="256032"/>
          </a:xfrm>
          <a:prstGeom prst="ellipse">
            <a:avLst/>
          </a:prstGeom>
          <a:solidFill>
            <a:srgbClr val="1BAF7A"/>
          </a:solidFill>
          <a:ln w="12700">
            <a:solidFill>
              <a:srgbClr val="1BAF7A"/>
            </a:solidFill>
            <a:prstDash val="solid"/>
          </a:ln>
        </p:spPr>
      </p:sp>
      <p:sp>
        <p:nvSpPr>
          <p:cNvPr id="15" name="Text 13"/>
          <p:cNvSpPr txBox="1"/>
          <p:nvPr/>
        </p:nvSpPr>
        <p:spPr>
          <a:xfrm>
            <a:off x="182880" y="4480560"/>
            <a:ext cx="2468880" cy="365760"/>
          </a:xfrm>
          <a:prstGeom prst="rect">
            <a:avLst/>
          </a:prstGeom>
          <a:noFill/>
          <a:ln/>
        </p:spPr>
        <p:txBody>
          <a:bodyPr wrap="square" lIns="0" tIns="0" rIns="0" bIns="0" rtlCol="0" anchor="t"/>
          <a:lstStyle/>
          <a:p>
            <a:pPr algn="r" indent="0" marL="0">
              <a:buNone/>
            </a:pPr>
            <a:r>
              <a:rPr lang="en-US" sz="1500" b="1" dirty="0">
                <a:solidFill>
                  <a:srgbClr val="1D1D1B"/>
                </a:solidFill>
                <a:latin typeface="Malgun Gothic" pitchFamily="34" charset="0"/>
                <a:ea typeface="Malgun Gothic" pitchFamily="34" charset="-122"/>
                <a:cs typeface="Malgun Gothic" pitchFamily="34" charset="-120"/>
              </a:rPr>
              <a:t>코스맥스  3위</a:t>
            </a:r>
            <a:endParaRPr lang="en-US" sz="1500" dirty="0"/>
          </a:p>
        </p:txBody>
      </p:sp>
      <p:sp>
        <p:nvSpPr>
          <p:cNvPr id="16" name="Text 14"/>
          <p:cNvSpPr txBox="1"/>
          <p:nvPr/>
        </p:nvSpPr>
        <p:spPr>
          <a:xfrm>
            <a:off x="8138160" y="4480560"/>
            <a:ext cx="3474720" cy="365760"/>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3위  코스맥스 (C)</a:t>
            </a:r>
            <a:endParaRPr lang="en-US" sz="1500" dirty="0"/>
          </a:p>
        </p:txBody>
      </p:sp>
      <p:sp>
        <p:nvSpPr>
          <p:cNvPr id="17" name="Shape 15"/>
          <p:cNvSpPr/>
          <p:nvPr/>
        </p:nvSpPr>
        <p:spPr>
          <a:xfrm>
            <a:off x="2926080" y="2194560"/>
            <a:ext cx="4937760" cy="1234440"/>
          </a:xfrm>
          <a:prstGeom prst="line">
            <a:avLst/>
          </a:prstGeom>
          <a:noFill/>
          <a:ln w="50800">
            <a:solidFill>
              <a:srgbClr val="2A78D6"/>
            </a:solidFill>
            <a:prstDash val="solid"/>
          </a:ln>
        </p:spPr>
      </p:sp>
      <p:sp>
        <p:nvSpPr>
          <p:cNvPr id="18" name="Shape 16"/>
          <p:cNvSpPr/>
          <p:nvPr/>
        </p:nvSpPr>
        <p:spPr>
          <a:xfrm>
            <a:off x="2798064" y="2066544"/>
            <a:ext cx="256032" cy="256032"/>
          </a:xfrm>
          <a:prstGeom prst="ellipse">
            <a:avLst/>
          </a:prstGeom>
          <a:solidFill>
            <a:srgbClr val="2A78D6"/>
          </a:solidFill>
          <a:ln w="12700">
            <a:solidFill>
              <a:srgbClr val="2A78D6"/>
            </a:solidFill>
            <a:prstDash val="solid"/>
          </a:ln>
        </p:spPr>
      </p:sp>
      <p:sp>
        <p:nvSpPr>
          <p:cNvPr id="19" name="Shape 17"/>
          <p:cNvSpPr/>
          <p:nvPr/>
        </p:nvSpPr>
        <p:spPr>
          <a:xfrm>
            <a:off x="7735824" y="3300984"/>
            <a:ext cx="256032" cy="256032"/>
          </a:xfrm>
          <a:prstGeom prst="ellipse">
            <a:avLst/>
          </a:prstGeom>
          <a:solidFill>
            <a:srgbClr val="2A78D6"/>
          </a:solidFill>
          <a:ln w="12700">
            <a:solidFill>
              <a:srgbClr val="2A78D6"/>
            </a:solidFill>
            <a:prstDash val="solid"/>
          </a:ln>
        </p:spPr>
      </p:sp>
      <p:sp>
        <p:nvSpPr>
          <p:cNvPr id="20" name="Text 18"/>
          <p:cNvSpPr txBox="1"/>
          <p:nvPr/>
        </p:nvSpPr>
        <p:spPr>
          <a:xfrm>
            <a:off x="182880" y="2011680"/>
            <a:ext cx="2468880" cy="365760"/>
          </a:xfrm>
          <a:prstGeom prst="rect">
            <a:avLst/>
          </a:prstGeom>
          <a:noFill/>
          <a:ln/>
        </p:spPr>
        <p:txBody>
          <a:bodyPr wrap="square" lIns="0" tIns="0" rIns="0" bIns="0" rtlCol="0" anchor="t"/>
          <a:lstStyle/>
          <a:p>
            <a:pPr algn="r" indent="0" marL="0">
              <a:buNone/>
            </a:pPr>
            <a:r>
              <a:rPr lang="en-US" sz="1500" b="1" dirty="0">
                <a:solidFill>
                  <a:srgbClr val="1D1D1B"/>
                </a:solidFill>
                <a:latin typeface="Malgun Gothic" pitchFamily="34" charset="0"/>
                <a:ea typeface="Malgun Gothic" pitchFamily="34" charset="-122"/>
                <a:cs typeface="Malgun Gothic" pitchFamily="34" charset="-120"/>
              </a:rPr>
              <a:t>에이피알  1위</a:t>
            </a:r>
            <a:endParaRPr lang="en-US" sz="1500" dirty="0"/>
          </a:p>
        </p:txBody>
      </p:sp>
      <p:sp>
        <p:nvSpPr>
          <p:cNvPr id="21" name="Text 19"/>
          <p:cNvSpPr txBox="1"/>
          <p:nvPr/>
        </p:nvSpPr>
        <p:spPr>
          <a:xfrm>
            <a:off x="8138160" y="3246120"/>
            <a:ext cx="3474720" cy="365760"/>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2위  에이피알 (B)</a:t>
            </a:r>
            <a:endParaRPr lang="en-US" sz="1500" dirty="0"/>
          </a:p>
        </p:txBody>
      </p:sp>
      <p:sp>
        <p:nvSpPr>
          <p:cNvPr id="22" name="Shape 20"/>
          <p:cNvSpPr/>
          <p:nvPr/>
        </p:nvSpPr>
        <p:spPr>
          <a:xfrm>
            <a:off x="548640" y="5257800"/>
            <a:ext cx="11094415" cy="868680"/>
          </a:xfrm>
          <a:prstGeom prst="roundRect">
            <a:avLst>
              <a:gd name="adj" fmla="val 12632"/>
            </a:avLst>
          </a:prstGeom>
          <a:solidFill>
            <a:srgbClr val="E6EFFB"/>
          </a:solidFill>
          <a:ln w="12700">
            <a:solidFill>
              <a:srgbClr val="E6EFFB"/>
            </a:solidFill>
            <a:prstDash val="solid"/>
          </a:ln>
        </p:spPr>
      </p:sp>
      <p:sp>
        <p:nvSpPr>
          <p:cNvPr id="23" name="Text 21"/>
          <p:cNvSpPr txBox="1"/>
          <p:nvPr/>
        </p:nvSpPr>
        <p:spPr>
          <a:xfrm>
            <a:off x="822960" y="5257800"/>
            <a:ext cx="10545775" cy="868680"/>
          </a:xfrm>
          <a:prstGeom prst="rect">
            <a:avLst/>
          </a:prstGeom>
          <a:noFill/>
          <a:ln/>
        </p:spPr>
        <p:txBody>
          <a:bodyPr wrap="square" lIns="0" tIns="0" rIns="0" bIns="0" rtlCol="0" anchor="ctr"/>
          <a:lstStyle/>
          <a:p>
            <a:pPr algn="ctr" indent="0" marL="0">
              <a:buNone/>
            </a:pPr>
            <a:r>
              <a:rPr lang="en-US" sz="1500" b="1" dirty="0">
                <a:solidFill>
                  <a:srgbClr val="2A78D6"/>
                </a:solidFill>
                <a:latin typeface="Malgun Gothic" pitchFamily="34" charset="0"/>
                <a:ea typeface="Malgun Gothic" pitchFamily="34" charset="-122"/>
                <a:cs typeface="Malgun Gothic" pitchFamily="34" charset="-120"/>
              </a:rPr>
              <a:t>투자자 관점 1위는 에이피알, 은행 스코어카드 1위는 아모레퍼시픽.</a:t>
            </a:r>
            <a:endParaRPr lang="en-US" sz="1500" dirty="0"/>
          </a:p>
          <a:p>
            <a:pPr algn="ctr" indent="0" marL="0">
              <a:buNone/>
            </a:pPr>
            <a:r>
              <a:rPr lang="en-US" sz="1500" b="1" dirty="0">
                <a:solidFill>
                  <a:srgbClr val="2A78D6"/>
                </a:solidFill>
                <a:latin typeface="Malgun Gothic" pitchFamily="34" charset="0"/>
                <a:ea typeface="Malgun Gothic" pitchFamily="34" charset="-122"/>
                <a:cs typeface="Malgun Gothic" pitchFamily="34" charset="-120"/>
              </a:rPr>
              <a:t>시장 평가는 미래에 대한 기대를, 은행 판단은 상환 능력을 본다.</a:t>
            </a:r>
            <a:endParaRPr lang="en-US" sz="1500" dirty="0"/>
          </a:p>
        </p:txBody>
      </p:sp>
      <p:sp>
        <p:nvSpPr>
          <p:cNvPr id="24" name="Text 22"/>
          <p:cNvSpPr txBox="1"/>
          <p:nvPr/>
        </p:nvSpPr>
        <p:spPr>
          <a:xfrm>
            <a:off x="548640" y="6400800"/>
            <a:ext cx="10545775" cy="228600"/>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PEG = PER(주가 ÷ 주당순이익) ÷ 예상 이익 증가율 — 낮을수록 성장 대비 주가 부담이 작음 · 순위는 세 지표 순위의 평균</a:t>
            </a:r>
            <a:endParaRPr lang="en-US" sz="900" dirty="0"/>
          </a:p>
        </p:txBody>
      </p:sp>
      <p:sp>
        <p:nvSpPr>
          <p:cNvPr id="25" name="Text 23"/>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은행의 판단 · 재무 특징에서 도출한 가설</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기업마다 다른 금융 제안</a:t>
            </a:r>
            <a:endParaRPr lang="en-US" sz="2800" dirty="0"/>
          </a:p>
        </p:txBody>
      </p:sp>
      <p:sp>
        <p:nvSpPr>
          <p:cNvPr id="5" name="Shape 3"/>
          <p:cNvSpPr/>
          <p:nvPr/>
        </p:nvSpPr>
        <p:spPr>
          <a:xfrm>
            <a:off x="548640" y="1554480"/>
            <a:ext cx="3484778" cy="3931920"/>
          </a:xfrm>
          <a:prstGeom prst="roundRect">
            <a:avLst>
              <a:gd name="adj" fmla="val 3149"/>
            </a:avLst>
          </a:prstGeom>
          <a:solidFill>
            <a:srgbClr val="FFFFFF"/>
          </a:solidFill>
          <a:ln w="12700">
            <a:solidFill>
              <a:srgbClr val="E4E2DC"/>
            </a:solidFill>
            <a:prstDash val="solid"/>
          </a:ln>
        </p:spPr>
      </p:sp>
      <p:sp>
        <p:nvSpPr>
          <p:cNvPr id="6" name="Shape 4"/>
          <p:cNvSpPr/>
          <p:nvPr/>
        </p:nvSpPr>
        <p:spPr>
          <a:xfrm>
            <a:off x="868680" y="1901952"/>
            <a:ext cx="182880" cy="182880"/>
          </a:xfrm>
          <a:prstGeom prst="ellipse">
            <a:avLst/>
          </a:prstGeom>
          <a:solidFill>
            <a:srgbClr val="2A78D6"/>
          </a:solidFill>
          <a:ln w="12700">
            <a:solidFill>
              <a:srgbClr val="2A78D6"/>
            </a:solidFill>
            <a:prstDash val="solid"/>
          </a:ln>
        </p:spPr>
      </p:sp>
      <p:sp>
        <p:nvSpPr>
          <p:cNvPr id="7" name="Text 5"/>
          <p:cNvSpPr txBox="1"/>
          <p:nvPr/>
        </p:nvSpPr>
        <p:spPr>
          <a:xfrm>
            <a:off x="1143000" y="1801368"/>
            <a:ext cx="2570378" cy="384048"/>
          </a:xfrm>
          <a:prstGeom prst="rect">
            <a:avLst/>
          </a:prstGeom>
          <a:noFill/>
          <a:ln/>
        </p:spPr>
        <p:txBody>
          <a:bodyPr wrap="square" lIns="0" tIns="0" rIns="0" bIns="0" rtlCol="0" anchor="t"/>
          <a:lstStyle/>
          <a:p>
            <a:pPr indent="0" marL="0">
              <a:buNone/>
            </a:pPr>
            <a:r>
              <a:rPr lang="en-US" sz="1800" b="1" dirty="0">
                <a:solidFill>
                  <a:srgbClr val="1D1D1B"/>
                </a:solidFill>
                <a:latin typeface="Malgun Gothic" pitchFamily="34" charset="0"/>
                <a:ea typeface="Malgun Gothic" pitchFamily="34" charset="-122"/>
                <a:cs typeface="Malgun Gothic" pitchFamily="34" charset="-120"/>
              </a:rPr>
              <a:t>에이피알</a:t>
            </a:r>
            <a:endParaRPr lang="en-US" sz="1800" dirty="0"/>
          </a:p>
        </p:txBody>
      </p:sp>
      <p:sp>
        <p:nvSpPr>
          <p:cNvPr id="8" name="Text 6"/>
          <p:cNvSpPr txBox="1"/>
          <p:nvPr/>
        </p:nvSpPr>
        <p:spPr>
          <a:xfrm>
            <a:off x="868680" y="2331720"/>
            <a:ext cx="2844698" cy="548640"/>
          </a:xfrm>
          <a:prstGeom prst="rect">
            <a:avLst/>
          </a:prstGeom>
          <a:noFill/>
          <a:ln/>
        </p:spPr>
        <p:txBody>
          <a:bodyPr wrap="square" lIns="0" tIns="0" rIns="0" bIns="0" rtlCol="0" anchor="t"/>
          <a:lstStyle/>
          <a:p>
            <a:pPr indent="0" marL="0">
              <a:buNone/>
            </a:pPr>
            <a:r>
              <a:rPr lang="en-US" sz="1150" dirty="0">
                <a:solidFill>
                  <a:srgbClr val="6B6A66"/>
                </a:solidFill>
                <a:latin typeface="Malgun Gothic" pitchFamily="34" charset="0"/>
                <a:ea typeface="Malgun Gothic" pitchFamily="34" charset="-122"/>
                <a:cs typeface="Malgun Gothic" pitchFamily="34" charset="-120"/>
              </a:rPr>
              <a:t>해외 92.0% · 매출 +134.2%</a:t>
            </a:r>
            <a:endParaRPr lang="en-US" sz="1150" dirty="0"/>
          </a:p>
          <a:p>
            <a:pPr indent="0" marL="0">
              <a:buNone/>
            </a:pPr>
            <a:r>
              <a:rPr lang="en-US" sz="1150" dirty="0">
                <a:solidFill>
                  <a:srgbClr val="6B6A66"/>
                </a:solidFill>
                <a:latin typeface="Malgun Gothic" pitchFamily="34" charset="0"/>
                <a:ea typeface="Malgun Gothic" pitchFamily="34" charset="-122"/>
                <a:cs typeface="Malgun Gothic" pitchFamily="34" charset="-120"/>
              </a:rPr>
              <a:t>이익률 24.8%</a:t>
            </a:r>
            <a:endParaRPr lang="en-US" sz="1150" dirty="0"/>
          </a:p>
        </p:txBody>
      </p:sp>
      <p:sp>
        <p:nvSpPr>
          <p:cNvPr id="9" name="Text 7"/>
          <p:cNvSpPr txBox="1"/>
          <p:nvPr/>
        </p:nvSpPr>
        <p:spPr>
          <a:xfrm>
            <a:off x="868680" y="3017520"/>
            <a:ext cx="2844698" cy="274320"/>
          </a:xfrm>
          <a:prstGeom prst="rect">
            <a:avLst/>
          </a:prstGeom>
          <a:noFill/>
          <a:ln/>
        </p:spPr>
        <p:txBody>
          <a:bodyPr wrap="square" lIns="0" tIns="0" rIns="0" bIns="0" rtlCol="0" anchor="t"/>
          <a:lstStyle/>
          <a:p>
            <a:pPr indent="0" marL="0">
              <a:buNone/>
            </a:pPr>
            <a:r>
              <a:rPr lang="en-US" sz="1200" b="1" dirty="0">
                <a:solidFill>
                  <a:srgbClr val="2A78D6"/>
                </a:solidFill>
                <a:latin typeface="Malgun Gothic" pitchFamily="34" charset="0"/>
                <a:ea typeface="Malgun Gothic" pitchFamily="34" charset="-122"/>
                <a:cs typeface="Malgun Gothic" pitchFamily="34" charset="-120"/>
              </a:rPr>
              <a:t>은행의 기회</a:t>
            </a:r>
            <a:endParaRPr lang="en-US" sz="1200" dirty="0"/>
          </a:p>
        </p:txBody>
      </p:sp>
      <p:sp>
        <p:nvSpPr>
          <p:cNvPr id="10" name="Text 8"/>
          <p:cNvSpPr txBox="1"/>
          <p:nvPr/>
        </p:nvSpPr>
        <p:spPr>
          <a:xfrm>
            <a:off x="868680" y="3310128"/>
            <a:ext cx="2844698" cy="914400"/>
          </a:xfrm>
          <a:prstGeom prst="rect">
            <a:avLst/>
          </a:prstGeom>
          <a:noFill/>
          <a:ln/>
        </p:spPr>
        <p:txBody>
          <a:bodyPr wrap="square" lIns="0" tIns="0" rIns="0" bIns="0" rtlCol="0" anchor="t"/>
          <a:lstStyle/>
          <a:p>
            <a:pPr indent="0" marL="0">
              <a:buNone/>
            </a:pPr>
            <a:r>
              <a:rPr lang="en-US" sz="1350" dirty="0">
                <a:solidFill>
                  <a:srgbClr val="1D1D1B"/>
                </a:solidFill>
                <a:latin typeface="Malgun Gothic" pitchFamily="34" charset="0"/>
                <a:ea typeface="Malgun Gothic" pitchFamily="34" charset="-122"/>
                <a:cs typeface="Malgun Gothic" pitchFamily="34" charset="-120"/>
              </a:rPr>
              <a:t>환헤지(선물환)</a:t>
            </a:r>
            <a:endParaRPr lang="en-US" sz="1350" dirty="0"/>
          </a:p>
          <a:p>
            <a:pPr indent="0" marL="0">
              <a:buNone/>
            </a:pPr>
            <a:r>
              <a:rPr lang="en-US" sz="1350" dirty="0">
                <a:solidFill>
                  <a:srgbClr val="1D1D1B"/>
                </a:solidFill>
                <a:latin typeface="Malgun Gothic" pitchFamily="34" charset="0"/>
                <a:ea typeface="Malgun Gothic" pitchFamily="34" charset="-122"/>
                <a:cs typeface="Malgun Gothic" pitchFamily="34" charset="-120"/>
              </a:rPr>
              <a:t>수출입 금융 · 해외 결제</a:t>
            </a:r>
            <a:endParaRPr lang="en-US" sz="1350" dirty="0"/>
          </a:p>
          <a:p>
            <a:pPr indent="0" marL="0">
              <a:buNone/>
            </a:pPr>
            <a:r>
              <a:rPr lang="en-US" sz="1350" dirty="0">
                <a:solidFill>
                  <a:srgbClr val="1D1D1B"/>
                </a:solidFill>
                <a:latin typeface="Malgun Gothic" pitchFamily="34" charset="0"/>
                <a:ea typeface="Malgun Gothic" pitchFamily="34" charset="-122"/>
                <a:cs typeface="Malgun Gothic" pitchFamily="34" charset="-120"/>
              </a:rPr>
              <a:t>외화 자금관리</a:t>
            </a:r>
            <a:endParaRPr lang="en-US" sz="1350" dirty="0"/>
          </a:p>
        </p:txBody>
      </p:sp>
      <p:sp>
        <p:nvSpPr>
          <p:cNvPr id="11" name="Text 9"/>
          <p:cNvSpPr txBox="1"/>
          <p:nvPr/>
        </p:nvSpPr>
        <p:spPr>
          <a:xfrm>
            <a:off x="868680" y="4297680"/>
            <a:ext cx="2844698" cy="274320"/>
          </a:xfrm>
          <a:prstGeom prst="rect">
            <a:avLst/>
          </a:prstGeom>
          <a:noFill/>
          <a:ln/>
        </p:spPr>
        <p:txBody>
          <a:bodyPr wrap="square" lIns="0" tIns="0" rIns="0" bIns="0" rtlCol="0" anchor="t"/>
          <a:lstStyle/>
          <a:p>
            <a:pPr indent="0" marL="0">
              <a:buNone/>
            </a:pPr>
            <a:r>
              <a:rPr lang="en-US" sz="1200" b="1" dirty="0">
                <a:solidFill>
                  <a:srgbClr val="C8453B"/>
                </a:solidFill>
                <a:latin typeface="Malgun Gothic" pitchFamily="34" charset="0"/>
                <a:ea typeface="Malgun Gothic" pitchFamily="34" charset="-122"/>
                <a:cs typeface="Malgun Gothic" pitchFamily="34" charset="-120"/>
              </a:rPr>
              <a:t>관리 포인트</a:t>
            </a:r>
            <a:endParaRPr lang="en-US" sz="1200" dirty="0"/>
          </a:p>
        </p:txBody>
      </p:sp>
      <p:sp>
        <p:nvSpPr>
          <p:cNvPr id="12" name="Text 10"/>
          <p:cNvSpPr txBox="1"/>
          <p:nvPr/>
        </p:nvSpPr>
        <p:spPr>
          <a:xfrm>
            <a:off x="868680" y="4590288"/>
            <a:ext cx="2844698" cy="822960"/>
          </a:xfrm>
          <a:prstGeom prst="rect">
            <a:avLst/>
          </a:prstGeom>
          <a:noFill/>
          <a:ln/>
        </p:spPr>
        <p:txBody>
          <a:bodyPr wrap="square" lIns="0" tIns="0" rIns="0" bIns="0" rtlCol="0" anchor="t"/>
          <a:lstStyle/>
          <a:p>
            <a:pPr indent="0" marL="0">
              <a:buNone/>
            </a:pPr>
            <a:r>
              <a:rPr lang="en-US" sz="1300" dirty="0">
                <a:solidFill>
                  <a:srgbClr val="1D1D1B"/>
                </a:solidFill>
                <a:latin typeface="Malgun Gothic" pitchFamily="34" charset="0"/>
                <a:ea typeface="Malgun Gothic" pitchFamily="34" charset="-122"/>
                <a:cs typeface="Malgun Gothic" pitchFamily="34" charset="-120"/>
              </a:rPr>
              <a:t>지역·채널 편중에 따른 한도</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운전자본 증가</a:t>
            </a:r>
            <a:endParaRPr lang="en-US" sz="1300" dirty="0"/>
          </a:p>
        </p:txBody>
      </p:sp>
      <p:sp>
        <p:nvSpPr>
          <p:cNvPr id="13" name="Shape 11"/>
          <p:cNvSpPr/>
          <p:nvPr/>
        </p:nvSpPr>
        <p:spPr>
          <a:xfrm>
            <a:off x="4353458" y="1554480"/>
            <a:ext cx="3484778" cy="3931920"/>
          </a:xfrm>
          <a:prstGeom prst="roundRect">
            <a:avLst>
              <a:gd name="adj" fmla="val 3149"/>
            </a:avLst>
          </a:prstGeom>
          <a:solidFill>
            <a:srgbClr val="FFFFFF"/>
          </a:solidFill>
          <a:ln w="12700">
            <a:solidFill>
              <a:srgbClr val="E4E2DC"/>
            </a:solidFill>
            <a:prstDash val="solid"/>
          </a:ln>
        </p:spPr>
      </p:sp>
      <p:sp>
        <p:nvSpPr>
          <p:cNvPr id="14" name="Shape 12"/>
          <p:cNvSpPr/>
          <p:nvPr/>
        </p:nvSpPr>
        <p:spPr>
          <a:xfrm>
            <a:off x="4673498" y="1901952"/>
            <a:ext cx="182880" cy="182880"/>
          </a:xfrm>
          <a:prstGeom prst="ellipse">
            <a:avLst/>
          </a:prstGeom>
          <a:solidFill>
            <a:srgbClr val="1BAF7A"/>
          </a:solidFill>
          <a:ln w="12700">
            <a:solidFill>
              <a:srgbClr val="1BAF7A"/>
            </a:solidFill>
            <a:prstDash val="solid"/>
          </a:ln>
        </p:spPr>
      </p:sp>
      <p:sp>
        <p:nvSpPr>
          <p:cNvPr id="15" name="Text 13"/>
          <p:cNvSpPr txBox="1"/>
          <p:nvPr/>
        </p:nvSpPr>
        <p:spPr>
          <a:xfrm>
            <a:off x="4947818" y="1801368"/>
            <a:ext cx="2570378" cy="384048"/>
          </a:xfrm>
          <a:prstGeom prst="rect">
            <a:avLst/>
          </a:prstGeom>
          <a:noFill/>
          <a:ln/>
        </p:spPr>
        <p:txBody>
          <a:bodyPr wrap="square" lIns="0" tIns="0" rIns="0" bIns="0" rtlCol="0" anchor="t"/>
          <a:lstStyle/>
          <a:p>
            <a:pPr indent="0" marL="0">
              <a:buNone/>
            </a:pPr>
            <a:r>
              <a:rPr lang="en-US" sz="1800" b="1" dirty="0">
                <a:solidFill>
                  <a:srgbClr val="1D1D1B"/>
                </a:solidFill>
                <a:latin typeface="Malgun Gothic" pitchFamily="34" charset="0"/>
                <a:ea typeface="Malgun Gothic" pitchFamily="34" charset="-122"/>
                <a:cs typeface="Malgun Gothic" pitchFamily="34" charset="-120"/>
              </a:rPr>
              <a:t>코스맥스</a:t>
            </a:r>
            <a:endParaRPr lang="en-US" sz="1800" dirty="0"/>
          </a:p>
        </p:txBody>
      </p:sp>
      <p:sp>
        <p:nvSpPr>
          <p:cNvPr id="16" name="Text 14"/>
          <p:cNvSpPr txBox="1"/>
          <p:nvPr/>
        </p:nvSpPr>
        <p:spPr>
          <a:xfrm>
            <a:off x="4673498" y="2331720"/>
            <a:ext cx="2844698" cy="548640"/>
          </a:xfrm>
          <a:prstGeom prst="rect">
            <a:avLst/>
          </a:prstGeom>
          <a:noFill/>
          <a:ln/>
        </p:spPr>
        <p:txBody>
          <a:bodyPr wrap="square" lIns="0" tIns="0" rIns="0" bIns="0" rtlCol="0" anchor="t"/>
          <a:lstStyle/>
          <a:p>
            <a:pPr indent="0" marL="0">
              <a:buNone/>
            </a:pPr>
            <a:r>
              <a:rPr lang="en-US" sz="1150" dirty="0">
                <a:solidFill>
                  <a:srgbClr val="6B6A66"/>
                </a:solidFill>
                <a:latin typeface="Malgun Gothic" pitchFamily="34" charset="0"/>
                <a:ea typeface="Malgun Gothic" pitchFamily="34" charset="-122"/>
                <a:cs typeface="Malgun Gothic" pitchFamily="34" charset="-120"/>
              </a:rPr>
              <a:t>매출 +27.5% · 부채비율 276.1%</a:t>
            </a:r>
            <a:endParaRPr lang="en-US" sz="1150" dirty="0"/>
          </a:p>
          <a:p>
            <a:pPr indent="0" marL="0">
              <a:buNone/>
            </a:pPr>
            <a:r>
              <a:rPr lang="en-US" sz="1150" dirty="0">
                <a:solidFill>
                  <a:srgbClr val="6B6A66"/>
                </a:solidFill>
                <a:latin typeface="Malgun Gothic" pitchFamily="34" charset="0"/>
                <a:ea typeface="Malgun Gothic" pitchFamily="34" charset="-122"/>
                <a:cs typeface="Malgun Gothic" pitchFamily="34" charset="-120"/>
              </a:rPr>
              <a:t>이익 점유 하락</a:t>
            </a:r>
            <a:endParaRPr lang="en-US" sz="1150" dirty="0"/>
          </a:p>
        </p:txBody>
      </p:sp>
      <p:sp>
        <p:nvSpPr>
          <p:cNvPr id="17" name="Text 15"/>
          <p:cNvSpPr txBox="1"/>
          <p:nvPr/>
        </p:nvSpPr>
        <p:spPr>
          <a:xfrm>
            <a:off x="4673498" y="3017520"/>
            <a:ext cx="2844698" cy="274320"/>
          </a:xfrm>
          <a:prstGeom prst="rect">
            <a:avLst/>
          </a:prstGeom>
          <a:noFill/>
          <a:ln/>
        </p:spPr>
        <p:txBody>
          <a:bodyPr wrap="square" lIns="0" tIns="0" rIns="0" bIns="0" rtlCol="0" anchor="t"/>
          <a:lstStyle/>
          <a:p>
            <a:pPr indent="0" marL="0">
              <a:buNone/>
            </a:pPr>
            <a:r>
              <a:rPr lang="en-US" sz="1200" b="1" dirty="0">
                <a:solidFill>
                  <a:srgbClr val="2A78D6"/>
                </a:solidFill>
                <a:latin typeface="Malgun Gothic" pitchFamily="34" charset="0"/>
                <a:ea typeface="Malgun Gothic" pitchFamily="34" charset="-122"/>
                <a:cs typeface="Malgun Gothic" pitchFamily="34" charset="-120"/>
              </a:rPr>
              <a:t>은행의 기회</a:t>
            </a:r>
            <a:endParaRPr lang="en-US" sz="1200" dirty="0"/>
          </a:p>
        </p:txBody>
      </p:sp>
      <p:sp>
        <p:nvSpPr>
          <p:cNvPr id="18" name="Text 16"/>
          <p:cNvSpPr txBox="1"/>
          <p:nvPr/>
        </p:nvSpPr>
        <p:spPr>
          <a:xfrm>
            <a:off x="4673498" y="3310128"/>
            <a:ext cx="2844698" cy="914400"/>
          </a:xfrm>
          <a:prstGeom prst="rect">
            <a:avLst/>
          </a:prstGeom>
          <a:noFill/>
          <a:ln/>
        </p:spPr>
        <p:txBody>
          <a:bodyPr wrap="square" lIns="0" tIns="0" rIns="0" bIns="0" rtlCol="0" anchor="t"/>
          <a:lstStyle/>
          <a:p>
            <a:pPr indent="0" marL="0">
              <a:buNone/>
            </a:pPr>
            <a:r>
              <a:rPr lang="en-US" sz="1350" dirty="0">
                <a:solidFill>
                  <a:srgbClr val="1D1D1B"/>
                </a:solidFill>
                <a:latin typeface="Malgun Gothic" pitchFamily="34" charset="0"/>
                <a:ea typeface="Malgun Gothic" pitchFamily="34" charset="-122"/>
                <a:cs typeface="Malgun Gothic" pitchFamily="34" charset="-120"/>
              </a:rPr>
              <a:t>시설·운전자금 대출</a:t>
            </a:r>
            <a:endParaRPr lang="en-US" sz="1350" dirty="0"/>
          </a:p>
          <a:p>
            <a:pPr indent="0" marL="0">
              <a:buNone/>
            </a:pPr>
            <a:r>
              <a:rPr lang="en-US" sz="1350" dirty="0">
                <a:solidFill>
                  <a:srgbClr val="1D1D1B"/>
                </a:solidFill>
                <a:latin typeface="Malgun Gothic" pitchFamily="34" charset="0"/>
                <a:ea typeface="Malgun Gothic" pitchFamily="34" charset="-122"/>
                <a:cs typeface="Malgun Gothic" pitchFamily="34" charset="-120"/>
              </a:rPr>
              <a:t>매출채권 기반 금융</a:t>
            </a:r>
            <a:endParaRPr lang="en-US" sz="1350" dirty="0"/>
          </a:p>
          <a:p>
            <a:pPr indent="0" marL="0">
              <a:buNone/>
            </a:pPr>
            <a:r>
              <a:rPr lang="en-US" sz="1350" dirty="0">
                <a:solidFill>
                  <a:srgbClr val="1D1D1B"/>
                </a:solidFill>
                <a:latin typeface="Malgun Gothic" pitchFamily="34" charset="0"/>
                <a:ea typeface="Malgun Gothic" pitchFamily="34" charset="-122"/>
                <a:cs typeface="Malgun Gothic" pitchFamily="34" charset="-120"/>
              </a:rPr>
              <a:t>해외 법인 금융</a:t>
            </a:r>
            <a:endParaRPr lang="en-US" sz="1350" dirty="0"/>
          </a:p>
        </p:txBody>
      </p:sp>
      <p:sp>
        <p:nvSpPr>
          <p:cNvPr id="19" name="Text 17"/>
          <p:cNvSpPr txBox="1"/>
          <p:nvPr/>
        </p:nvSpPr>
        <p:spPr>
          <a:xfrm>
            <a:off x="4673498" y="4297680"/>
            <a:ext cx="2844698" cy="274320"/>
          </a:xfrm>
          <a:prstGeom prst="rect">
            <a:avLst/>
          </a:prstGeom>
          <a:noFill/>
          <a:ln/>
        </p:spPr>
        <p:txBody>
          <a:bodyPr wrap="square" lIns="0" tIns="0" rIns="0" bIns="0" rtlCol="0" anchor="t"/>
          <a:lstStyle/>
          <a:p>
            <a:pPr indent="0" marL="0">
              <a:buNone/>
            </a:pPr>
            <a:r>
              <a:rPr lang="en-US" sz="1200" b="1" dirty="0">
                <a:solidFill>
                  <a:srgbClr val="C8453B"/>
                </a:solidFill>
                <a:latin typeface="Malgun Gothic" pitchFamily="34" charset="0"/>
                <a:ea typeface="Malgun Gothic" pitchFamily="34" charset="-122"/>
                <a:cs typeface="Malgun Gothic" pitchFamily="34" charset="-120"/>
              </a:rPr>
              <a:t>관리 포인트</a:t>
            </a:r>
            <a:endParaRPr lang="en-US" sz="1200" dirty="0"/>
          </a:p>
        </p:txBody>
      </p:sp>
      <p:sp>
        <p:nvSpPr>
          <p:cNvPr id="20" name="Text 18"/>
          <p:cNvSpPr txBox="1"/>
          <p:nvPr/>
        </p:nvSpPr>
        <p:spPr>
          <a:xfrm>
            <a:off x="4673498" y="4590288"/>
            <a:ext cx="2844698" cy="822960"/>
          </a:xfrm>
          <a:prstGeom prst="rect">
            <a:avLst/>
          </a:prstGeom>
          <a:noFill/>
          <a:ln/>
        </p:spPr>
        <p:txBody>
          <a:bodyPr wrap="square" lIns="0" tIns="0" rIns="0" bIns="0" rtlCol="0" anchor="t"/>
          <a:lstStyle/>
          <a:p>
            <a:pPr indent="0" marL="0">
              <a:buNone/>
            </a:pPr>
            <a:r>
              <a:rPr lang="en-US" sz="1300" dirty="0">
                <a:solidFill>
                  <a:srgbClr val="1D1D1B"/>
                </a:solidFill>
                <a:latin typeface="Malgun Gothic" pitchFamily="34" charset="0"/>
                <a:ea typeface="Malgun Gothic" pitchFamily="34" charset="-122"/>
                <a:cs typeface="Malgun Gothic" pitchFamily="34" charset="-120"/>
              </a:rPr>
              <a:t>이익 추정 하향</a:t>
            </a:r>
            <a:endParaRPr lang="en-US" sz="1300" dirty="0"/>
          </a:p>
          <a:p>
            <a:pPr indent="0" marL="0">
              <a:buNone/>
            </a:pPr>
            <a:r>
              <a:rPr lang="en-US" sz="1300" dirty="0">
                <a:solidFill>
                  <a:srgbClr val="1D1D1B"/>
                </a:solidFill>
                <a:latin typeface="Malgun Gothic" pitchFamily="34" charset="0"/>
                <a:ea typeface="Malgun Gothic" pitchFamily="34" charset="-122"/>
                <a:cs typeface="Malgun Gothic" pitchFamily="34" charset="-120"/>
              </a:rPr>
              <a:t>차입 증가 속도 · 유동비율</a:t>
            </a:r>
            <a:endParaRPr lang="en-US" sz="1300" dirty="0"/>
          </a:p>
        </p:txBody>
      </p:sp>
      <p:sp>
        <p:nvSpPr>
          <p:cNvPr id="21" name="Shape 19"/>
          <p:cNvSpPr/>
          <p:nvPr/>
        </p:nvSpPr>
        <p:spPr>
          <a:xfrm>
            <a:off x="8158277" y="1554480"/>
            <a:ext cx="3484778" cy="3931920"/>
          </a:xfrm>
          <a:prstGeom prst="roundRect">
            <a:avLst>
              <a:gd name="adj" fmla="val 3149"/>
            </a:avLst>
          </a:prstGeom>
          <a:solidFill>
            <a:srgbClr val="FFFFFF"/>
          </a:solidFill>
          <a:ln w="12700">
            <a:solidFill>
              <a:srgbClr val="E4E2DC"/>
            </a:solidFill>
            <a:prstDash val="solid"/>
          </a:ln>
        </p:spPr>
      </p:sp>
      <p:sp>
        <p:nvSpPr>
          <p:cNvPr id="22" name="Shape 20"/>
          <p:cNvSpPr/>
          <p:nvPr/>
        </p:nvSpPr>
        <p:spPr>
          <a:xfrm>
            <a:off x="8478317" y="1901952"/>
            <a:ext cx="182880" cy="182880"/>
          </a:xfrm>
          <a:prstGeom prst="ellipse">
            <a:avLst/>
          </a:prstGeom>
          <a:solidFill>
            <a:srgbClr val="EB6834"/>
          </a:solidFill>
          <a:ln w="12700">
            <a:solidFill>
              <a:srgbClr val="EB6834"/>
            </a:solidFill>
            <a:prstDash val="solid"/>
          </a:ln>
        </p:spPr>
      </p:sp>
      <p:sp>
        <p:nvSpPr>
          <p:cNvPr id="23" name="Text 21"/>
          <p:cNvSpPr txBox="1"/>
          <p:nvPr/>
        </p:nvSpPr>
        <p:spPr>
          <a:xfrm>
            <a:off x="8752637" y="1801368"/>
            <a:ext cx="2570378" cy="384048"/>
          </a:xfrm>
          <a:prstGeom prst="rect">
            <a:avLst/>
          </a:prstGeom>
          <a:noFill/>
          <a:ln/>
        </p:spPr>
        <p:txBody>
          <a:bodyPr wrap="square" lIns="0" tIns="0" rIns="0" bIns="0" rtlCol="0" anchor="t"/>
          <a:lstStyle/>
          <a:p>
            <a:pPr indent="0" marL="0">
              <a:buNone/>
            </a:pPr>
            <a:r>
              <a:rPr lang="en-US" sz="1800" b="1" dirty="0">
                <a:solidFill>
                  <a:srgbClr val="1D1D1B"/>
                </a:solidFill>
                <a:latin typeface="Malgun Gothic" pitchFamily="34" charset="0"/>
                <a:ea typeface="Malgun Gothic" pitchFamily="34" charset="-122"/>
                <a:cs typeface="Malgun Gothic" pitchFamily="34" charset="-120"/>
              </a:rPr>
              <a:t>아모레퍼시픽</a:t>
            </a:r>
            <a:endParaRPr lang="en-US" sz="1800" dirty="0"/>
          </a:p>
        </p:txBody>
      </p:sp>
      <p:sp>
        <p:nvSpPr>
          <p:cNvPr id="24" name="Text 22"/>
          <p:cNvSpPr txBox="1"/>
          <p:nvPr/>
        </p:nvSpPr>
        <p:spPr>
          <a:xfrm>
            <a:off x="8478317" y="2331720"/>
            <a:ext cx="2844698" cy="548640"/>
          </a:xfrm>
          <a:prstGeom prst="rect">
            <a:avLst/>
          </a:prstGeom>
          <a:noFill/>
          <a:ln/>
        </p:spPr>
        <p:txBody>
          <a:bodyPr wrap="square" lIns="0" tIns="0" rIns="0" bIns="0" rtlCol="0" anchor="t"/>
          <a:lstStyle/>
          <a:p>
            <a:pPr indent="0" marL="0">
              <a:buNone/>
            </a:pPr>
            <a:r>
              <a:rPr lang="en-US" sz="1150" dirty="0">
                <a:solidFill>
                  <a:srgbClr val="6B6A66"/>
                </a:solidFill>
                <a:latin typeface="Malgun Gothic" pitchFamily="34" charset="0"/>
                <a:ea typeface="Malgun Gothic" pitchFamily="34" charset="-122"/>
                <a:cs typeface="Malgun Gothic" pitchFamily="34" charset="-120"/>
              </a:rPr>
              <a:t>부채비율 25.8% · ROE 5.3%</a:t>
            </a:r>
            <a:endParaRPr lang="en-US" sz="1150" dirty="0"/>
          </a:p>
          <a:p>
            <a:pPr indent="0" marL="0">
              <a:buNone/>
            </a:pPr>
            <a:r>
              <a:rPr lang="en-US" sz="1150" dirty="0">
                <a:solidFill>
                  <a:srgbClr val="6B6A66"/>
                </a:solidFill>
                <a:latin typeface="Malgun Gothic" pitchFamily="34" charset="0"/>
                <a:ea typeface="Malgun Gothic" pitchFamily="34" charset="-122"/>
                <a:cs typeface="Malgun Gothic" pitchFamily="34" charset="-120"/>
              </a:rPr>
              <a:t>이익 점유 하락</a:t>
            </a:r>
            <a:endParaRPr lang="en-US" sz="1150" dirty="0"/>
          </a:p>
        </p:txBody>
      </p:sp>
      <p:sp>
        <p:nvSpPr>
          <p:cNvPr id="25" name="Text 23"/>
          <p:cNvSpPr txBox="1"/>
          <p:nvPr/>
        </p:nvSpPr>
        <p:spPr>
          <a:xfrm>
            <a:off x="8478317" y="3017520"/>
            <a:ext cx="2844698" cy="274320"/>
          </a:xfrm>
          <a:prstGeom prst="rect">
            <a:avLst/>
          </a:prstGeom>
          <a:noFill/>
          <a:ln/>
        </p:spPr>
        <p:txBody>
          <a:bodyPr wrap="square" lIns="0" tIns="0" rIns="0" bIns="0" rtlCol="0" anchor="t"/>
          <a:lstStyle/>
          <a:p>
            <a:pPr indent="0" marL="0">
              <a:buNone/>
            </a:pPr>
            <a:r>
              <a:rPr lang="en-US" sz="1200" b="1" dirty="0">
                <a:solidFill>
                  <a:srgbClr val="2A78D6"/>
                </a:solidFill>
                <a:latin typeface="Malgun Gothic" pitchFamily="34" charset="0"/>
                <a:ea typeface="Malgun Gothic" pitchFamily="34" charset="-122"/>
                <a:cs typeface="Malgun Gothic" pitchFamily="34" charset="-120"/>
              </a:rPr>
              <a:t>은행의 기회</a:t>
            </a:r>
            <a:endParaRPr lang="en-US" sz="1200" dirty="0"/>
          </a:p>
        </p:txBody>
      </p:sp>
      <p:sp>
        <p:nvSpPr>
          <p:cNvPr id="26" name="Text 24"/>
          <p:cNvSpPr txBox="1"/>
          <p:nvPr/>
        </p:nvSpPr>
        <p:spPr>
          <a:xfrm>
            <a:off x="8478317" y="3310128"/>
            <a:ext cx="2844698" cy="914400"/>
          </a:xfrm>
          <a:prstGeom prst="rect">
            <a:avLst/>
          </a:prstGeom>
          <a:noFill/>
          <a:ln/>
        </p:spPr>
        <p:txBody>
          <a:bodyPr wrap="square" lIns="0" tIns="0" rIns="0" bIns="0" rtlCol="0" anchor="t"/>
          <a:lstStyle/>
          <a:p>
            <a:pPr indent="0" marL="0">
              <a:buNone/>
            </a:pPr>
            <a:r>
              <a:rPr lang="en-US" sz="1350" dirty="0">
                <a:solidFill>
                  <a:srgbClr val="1D1D1B"/>
                </a:solidFill>
                <a:latin typeface="Malgun Gothic" pitchFamily="34" charset="0"/>
                <a:ea typeface="Malgun Gothic" pitchFamily="34" charset="-122"/>
                <a:cs typeface="Malgun Gothic" pitchFamily="34" charset="-120"/>
              </a:rPr>
              <a:t>자금 운용(예금·단기 상품)</a:t>
            </a:r>
            <a:endParaRPr lang="en-US" sz="1350" dirty="0"/>
          </a:p>
          <a:p>
            <a:pPr indent="0" marL="0">
              <a:buNone/>
            </a:pPr>
            <a:r>
              <a:rPr lang="en-US" sz="1350" dirty="0">
                <a:solidFill>
                  <a:srgbClr val="1D1D1B"/>
                </a:solidFill>
                <a:latin typeface="Malgun Gothic" pitchFamily="34" charset="0"/>
                <a:ea typeface="Malgun Gothic" pitchFamily="34" charset="-122"/>
                <a:cs typeface="Malgun Gothic" pitchFamily="34" charset="-120"/>
              </a:rPr>
              <a:t>사업 재편·채널 전환 자금</a:t>
            </a:r>
            <a:endParaRPr lang="en-US" sz="1350" dirty="0"/>
          </a:p>
        </p:txBody>
      </p:sp>
      <p:sp>
        <p:nvSpPr>
          <p:cNvPr id="27" name="Text 25"/>
          <p:cNvSpPr txBox="1"/>
          <p:nvPr/>
        </p:nvSpPr>
        <p:spPr>
          <a:xfrm>
            <a:off x="8478317" y="4297680"/>
            <a:ext cx="2844698" cy="274320"/>
          </a:xfrm>
          <a:prstGeom prst="rect">
            <a:avLst/>
          </a:prstGeom>
          <a:noFill/>
          <a:ln/>
        </p:spPr>
        <p:txBody>
          <a:bodyPr wrap="square" lIns="0" tIns="0" rIns="0" bIns="0" rtlCol="0" anchor="t"/>
          <a:lstStyle/>
          <a:p>
            <a:pPr indent="0" marL="0">
              <a:buNone/>
            </a:pPr>
            <a:r>
              <a:rPr lang="en-US" sz="1200" b="1" dirty="0">
                <a:solidFill>
                  <a:srgbClr val="C8453B"/>
                </a:solidFill>
                <a:latin typeface="Malgun Gothic" pitchFamily="34" charset="0"/>
                <a:ea typeface="Malgun Gothic" pitchFamily="34" charset="-122"/>
                <a:cs typeface="Malgun Gothic" pitchFamily="34" charset="-120"/>
              </a:rPr>
              <a:t>관리 포인트</a:t>
            </a:r>
            <a:endParaRPr lang="en-US" sz="1200" dirty="0"/>
          </a:p>
        </p:txBody>
      </p:sp>
      <p:sp>
        <p:nvSpPr>
          <p:cNvPr id="28" name="Text 26"/>
          <p:cNvSpPr txBox="1"/>
          <p:nvPr/>
        </p:nvSpPr>
        <p:spPr>
          <a:xfrm>
            <a:off x="8478317" y="4590288"/>
            <a:ext cx="2844698" cy="822960"/>
          </a:xfrm>
          <a:prstGeom prst="rect">
            <a:avLst/>
          </a:prstGeom>
          <a:noFill/>
          <a:ln/>
        </p:spPr>
        <p:txBody>
          <a:bodyPr wrap="square" lIns="0" tIns="0" rIns="0" bIns="0" rtlCol="0" anchor="t"/>
          <a:lstStyle/>
          <a:p>
            <a:pPr indent="0" marL="0">
              <a:buNone/>
            </a:pPr>
            <a:r>
              <a:rPr lang="en-US" sz="1300" dirty="0">
                <a:solidFill>
                  <a:srgbClr val="1D1D1B"/>
                </a:solidFill>
                <a:latin typeface="Malgun Gothic" pitchFamily="34" charset="0"/>
                <a:ea typeface="Malgun Gothic" pitchFamily="34" charset="-122"/>
                <a:cs typeface="Malgun Gothic" pitchFamily="34" charset="-120"/>
              </a:rPr>
              <a:t>성장 둔화 시 수익성 재하락</a:t>
            </a:r>
            <a:endParaRPr lang="en-US" sz="1300" dirty="0"/>
          </a:p>
        </p:txBody>
      </p:sp>
      <p:sp>
        <p:nvSpPr>
          <p:cNvPr id="29" name="Text 27"/>
          <p:cNvSpPr txBox="1"/>
          <p:nvPr/>
        </p:nvSpPr>
        <p:spPr>
          <a:xfrm>
            <a:off x="548640" y="5596128"/>
            <a:ext cx="11094415" cy="566928"/>
          </a:xfrm>
          <a:prstGeom prst="rect">
            <a:avLst/>
          </a:prstGeom>
          <a:noFill/>
          <a:ln/>
        </p:spPr>
        <p:txBody>
          <a:bodyPr wrap="square" lIns="0" tIns="0" rIns="0" bIns="0" rtlCol="0" anchor="t"/>
          <a:lstStyle/>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확장: 브랜드가 크면 용기·원료·OEM 중소 협력사도 함께 큰다 → 중소기업·공급망 금융의 기회</a:t>
            </a:r>
            <a:endParaRPr lang="en-US" sz="1300" dirty="0"/>
          </a:p>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대형사의 이익 점유 변화는 협력사 여신의 선행 지표로 쓸 수 있다 (가설)</a:t>
            </a:r>
            <a:endParaRPr lang="en-US" sz="1300" dirty="0"/>
          </a:p>
        </p:txBody>
      </p:sp>
      <p:sp>
        <p:nvSpPr>
          <p:cNvPr id="30" name="Text 28"/>
          <p:cNvSpPr txBox="1"/>
          <p:nvPr/>
        </p:nvSpPr>
        <p:spPr>
          <a:xfrm>
            <a:off x="548640" y="6400800"/>
            <a:ext cx="10545775" cy="228600"/>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OEM = 주문자 상표 부착 생산 · ROE = 순이익 ÷ 자기자본 · 모든 금융 제안은 재무 특징에서 도출한 가설이며 실제 거래와 무관</a:t>
            </a:r>
            <a:endParaRPr lang="en-US" sz="900" dirty="0"/>
          </a:p>
        </p:txBody>
      </p:sp>
      <p:sp>
        <p:nvSpPr>
          <p:cNvPr id="31" name="Text 29"/>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Streamlit</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Python Streamlit 앱으로 직접 조회</a:t>
            </a:r>
            <a:endParaRPr lang="en-US" sz="2800" dirty="0"/>
          </a:p>
        </p:txBody>
      </p:sp>
      <p:pic>
        <p:nvPicPr>
          <p:cNvPr id="5" name="Image 0" descr="st1_final.png">    </p:cNvPr>
          <p:cNvPicPr>
            <a:picLocks noChangeAspect="1"/>
          </p:cNvPicPr>
          <p:nvPr/>
        </p:nvPicPr>
        <p:blipFill>
          <a:blip r:embed="rId1"/>
          <a:stretch>
            <a:fillRect/>
          </a:stretch>
        </p:blipFill>
        <p:spPr>
          <a:xfrm>
            <a:off x="548640" y="1554480"/>
            <a:ext cx="5349240" cy="3343275"/>
          </a:xfrm>
          <a:prstGeom prst="rect">
            <a:avLst/>
          </a:prstGeom>
        </p:spPr>
      </p:pic>
      <p:sp>
        <p:nvSpPr>
          <p:cNvPr id="6" name="Shape 3"/>
          <p:cNvSpPr/>
          <p:nvPr/>
        </p:nvSpPr>
        <p:spPr>
          <a:xfrm>
            <a:off x="548640" y="1554480"/>
            <a:ext cx="5349240" cy="3343275"/>
          </a:xfrm>
          <a:prstGeom prst="rect">
            <a:avLst/>
          </a:prstGeom>
          <a:ln w="12700">
            <a:solidFill>
              <a:srgbClr val="E4E2DC"/>
            </a:solidFill>
            <a:prstDash val="solid"/>
          </a:ln>
        </p:spPr>
      </p:sp>
      <p:pic>
        <p:nvPicPr>
          <p:cNvPr id="7" name="Image 1" descr="st_score_final.png">    </p:cNvPr>
          <p:cNvPicPr>
            <a:picLocks noChangeAspect="1"/>
          </p:cNvPicPr>
          <p:nvPr/>
        </p:nvPicPr>
        <p:blipFill>
          <a:blip r:embed="rId2"/>
          <a:stretch>
            <a:fillRect/>
          </a:stretch>
        </p:blipFill>
        <p:spPr>
          <a:xfrm>
            <a:off x="6172200" y="1554480"/>
            <a:ext cx="5349240" cy="3343275"/>
          </a:xfrm>
          <a:prstGeom prst="rect">
            <a:avLst/>
          </a:prstGeom>
        </p:spPr>
      </p:pic>
      <p:sp>
        <p:nvSpPr>
          <p:cNvPr id="8" name="Shape 4"/>
          <p:cNvSpPr/>
          <p:nvPr/>
        </p:nvSpPr>
        <p:spPr>
          <a:xfrm>
            <a:off x="6172200" y="1554480"/>
            <a:ext cx="5349240" cy="3343275"/>
          </a:xfrm>
          <a:prstGeom prst="rect">
            <a:avLst/>
          </a:prstGeom>
          <a:ln w="12700">
            <a:solidFill>
              <a:srgbClr val="E4E2DC"/>
            </a:solidFill>
            <a:prstDash val="solid"/>
          </a:ln>
        </p:spPr>
      </p:sp>
      <p:sp>
        <p:nvSpPr>
          <p:cNvPr id="9" name="Text 5"/>
          <p:cNvSpPr txBox="1"/>
          <p:nvPr/>
        </p:nvSpPr>
        <p:spPr>
          <a:xfrm>
            <a:off x="548640" y="4989195"/>
            <a:ext cx="5349240" cy="320040"/>
          </a:xfrm>
          <a:prstGeom prst="rect">
            <a:avLst/>
          </a:prstGeom>
          <a:noFill/>
          <a:ln/>
        </p:spPr>
        <p:txBody>
          <a:bodyPr wrap="square" lIns="0" tIns="0" rIns="0" bIns="0" rtlCol="0" anchor="t"/>
          <a:lstStyle/>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종목 선택 · 시세 · 재무지표 · 은행 여신 지표</a:t>
            </a:r>
            <a:endParaRPr lang="en-US" sz="1300" dirty="0"/>
          </a:p>
        </p:txBody>
      </p:sp>
      <p:sp>
        <p:nvSpPr>
          <p:cNvPr id="10" name="Text 6"/>
          <p:cNvSpPr txBox="1"/>
          <p:nvPr/>
        </p:nvSpPr>
        <p:spPr>
          <a:xfrm>
            <a:off x="6172200" y="4989195"/>
            <a:ext cx="5349240" cy="320040"/>
          </a:xfrm>
          <a:prstGeom prst="rect">
            <a:avLst/>
          </a:prstGeom>
          <a:noFill/>
          <a:ln/>
        </p:spPr>
        <p:txBody>
          <a:bodyPr wrap="square" lIns="0" tIns="0" rIns="0" bIns="0" rtlCol="0" anchor="t"/>
          <a:lstStyle/>
          <a:p>
            <a:pPr algn="ctr" indent="0" marL="0">
              <a:buNone/>
            </a:pPr>
            <a:r>
              <a:rPr lang="en-US" sz="1300" b="1" dirty="0">
                <a:solidFill>
                  <a:srgbClr val="1D1D1B"/>
                </a:solidFill>
                <a:latin typeface="Malgun Gothic" pitchFamily="34" charset="0"/>
                <a:ea typeface="Malgun Gothic" pitchFamily="34" charset="-122"/>
                <a:cs typeface="Malgun Gothic" pitchFamily="34" charset="-120"/>
              </a:rPr>
              <a:t>여신 스코어카드 탭 — 가중치 슬라이더로 등급 재계산</a:t>
            </a:r>
            <a:endParaRPr lang="en-US" sz="1300" dirty="0"/>
          </a:p>
        </p:txBody>
      </p:sp>
      <p:sp>
        <p:nvSpPr>
          <p:cNvPr id="11" name="Text 7"/>
          <p:cNvSpPr txBox="1"/>
          <p:nvPr/>
        </p:nvSpPr>
        <p:spPr>
          <a:xfrm>
            <a:off x="548640" y="5577840"/>
            <a:ext cx="11094415" cy="365760"/>
          </a:xfrm>
          <a:prstGeom prst="rect">
            <a:avLst/>
          </a:prstGeom>
          <a:noFill/>
          <a:ln/>
        </p:spPr>
        <p:txBody>
          <a:bodyPr wrap="square" lIns="0" tIns="0" rIns="0" bIns="0" rtlCol="0" anchor="t"/>
          <a:lstStyle/>
          <a:p>
            <a:pPr algn="ctr" indent="0" marL="0">
              <a:buNone/>
            </a:pPr>
            <a:r>
              <a:rPr lang="en-US" sz="1250" dirty="0">
                <a:solidFill>
                  <a:srgbClr val="6B6A66"/>
                </a:solidFill>
                <a:latin typeface="Malgun Gothic" pitchFamily="34" charset="0"/>
                <a:ea typeface="Malgun Gothic" pitchFamily="34" charset="-122"/>
                <a:cs typeface="Malgun Gothic" pitchFamily="34" charset="-120"/>
              </a:rPr>
              <a:t>필수 기능 5개 (종목 선택 · 주요 시세 · 재무지표 · 비교 테이블 · 비교 차트) + 이익 점유 · 분기 추이 · 여신 스코어카드 · 인사이트 탭</a:t>
            </a:r>
            <a:endParaRPr lang="en-US" sz="1250" dirty="0"/>
          </a:p>
        </p:txBody>
      </p:sp>
      <p:sp>
        <p:nvSpPr>
          <p:cNvPr id="12" name="Text 8"/>
          <p:cNvSpPr txBox="1"/>
          <p:nvPr/>
        </p:nvSpPr>
        <p:spPr>
          <a:xfrm>
            <a:off x="548640" y="6400800"/>
            <a:ext cx="10545775" cy="228600"/>
          </a:xfrm>
          <a:prstGeom prst="rect">
            <a:avLst/>
          </a:prstGeom>
          <a:noFill/>
          <a:ln/>
        </p:spPr>
        <p:txBody>
          <a:bodyPr wrap="square" lIns="0" tIns="0" rIns="0" bIns="0" rtlCol="0" anchor="t"/>
          <a:lstStyle/>
          <a:p>
            <a:pPr indent="0" marL="0">
              <a:buNone/>
            </a:pPr>
            <a:r>
              <a:rPr lang="en-US" sz="900" dirty="0">
                <a:solidFill>
                  <a:srgbClr val="6B6A66"/>
                </a:solidFill>
                <a:latin typeface="Malgun Gothic" pitchFamily="34" charset="0"/>
                <a:ea typeface="Malgun Gothic" pitchFamily="34" charset="-122"/>
                <a:cs typeface="Malgun Gothic" pitchFamily="34" charset="-120"/>
              </a:rPr>
              <a:t>실행: streamlit run app/app.py (Colab은 노트북 STEP 5 셀) · 화면: output/streamlit_screen.png</a:t>
            </a:r>
            <a:endParaRPr lang="en-US" sz="900" dirty="0"/>
          </a:p>
        </p:txBody>
      </p:sp>
      <p:sp>
        <p:nvSpPr>
          <p:cNvPr id="13" name="Text 9"/>
          <p:cNvSpPr txBox="1"/>
          <p:nvPr/>
        </p:nvSpPr>
        <p:spPr>
          <a:xfrm>
            <a:off x="11277295" y="6400800"/>
            <a:ext cx="365760" cy="228600"/>
          </a:xfrm>
          <a:prstGeom prst="rect">
            <a:avLst/>
          </a:prstGeom>
          <a:noFill/>
          <a:ln/>
        </p:spPr>
        <p:txBody>
          <a:bodyPr wrap="square" lIns="0" tIns="0" rIns="0" bIns="0" rtlCol="0" anchor="t"/>
          <a:lstStyle/>
          <a:p>
            <a:pPr algn="r" indent="0" marL="0">
              <a:buNone/>
            </a:pPr>
            <a:r>
              <a:rPr lang="en-US" sz="900" dirty="0">
                <a:solidFill>
                  <a:srgbClr val="6B6A66"/>
                </a:solidFill>
                <a:latin typeface="Malgun Gothic" pitchFamily="34" charset="0"/>
                <a:ea typeface="Malgun Gothic" pitchFamily="34" charset="-122"/>
                <a:cs typeface="Malgun Gothic"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1E2B4A"/>
          </a:solidFill>
          <a:ln w="12700">
            <a:solidFill>
              <a:srgbClr val="1E2B4A"/>
            </a:solidFill>
            <a:prstDash val="solid"/>
          </a:ln>
        </p:spPr>
      </p:sp>
      <p:sp>
        <p:nvSpPr>
          <p:cNvPr id="3" name="Text 1"/>
          <p:cNvSpPr txBox="1"/>
          <p:nvPr/>
        </p:nvSpPr>
        <p:spPr>
          <a:xfrm>
            <a:off x="548640" y="219456"/>
            <a:ext cx="11094415" cy="256032"/>
          </a:xfrm>
          <a:prstGeom prst="rect">
            <a:avLst/>
          </a:prstGeom>
          <a:noFill/>
          <a:ln/>
        </p:spPr>
        <p:txBody>
          <a:bodyPr wrap="square" lIns="0" tIns="0" rIns="0" bIns="0" rtlCol="0" anchor="t"/>
          <a:lstStyle/>
          <a:p>
            <a:pPr indent="0" marL="0">
              <a:buNone/>
            </a:pPr>
            <a:r>
              <a:rPr lang="en-US" sz="1200" b="1" dirty="0">
                <a:solidFill>
                  <a:srgbClr val="9DB4E0"/>
                </a:solidFill>
                <a:latin typeface="Malgun Gothic" pitchFamily="34" charset="0"/>
                <a:ea typeface="Malgun Gothic" pitchFamily="34" charset="-122"/>
                <a:cs typeface="Malgun Gothic" pitchFamily="34" charset="-120"/>
              </a:rPr>
              <a:t>결론</a:t>
            </a:r>
            <a:endParaRPr lang="en-US" sz="1200" dirty="0"/>
          </a:p>
        </p:txBody>
      </p:sp>
      <p:sp>
        <p:nvSpPr>
          <p:cNvPr id="4" name="Text 2"/>
          <p:cNvSpPr txBox="1"/>
          <p:nvPr/>
        </p:nvSpPr>
        <p:spPr>
          <a:xfrm>
            <a:off x="548640" y="475488"/>
            <a:ext cx="11094415" cy="54864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같은 수출 붐, 은행에게는 다른 고객</a:t>
            </a:r>
            <a:endParaRPr lang="en-US" sz="2800" dirty="0"/>
          </a:p>
        </p:txBody>
      </p:sp>
      <p:sp>
        <p:nvSpPr>
          <p:cNvPr id="5" name="Shape 3"/>
          <p:cNvSpPr/>
          <p:nvPr/>
        </p:nvSpPr>
        <p:spPr>
          <a:xfrm>
            <a:off x="548640" y="1371600"/>
            <a:ext cx="11094415" cy="1572768"/>
          </a:xfrm>
          <a:prstGeom prst="roundRect">
            <a:avLst>
              <a:gd name="adj" fmla="val 6977"/>
            </a:avLst>
          </a:prstGeom>
          <a:solidFill>
            <a:srgbClr val="E6EFFB"/>
          </a:solidFill>
          <a:ln w="12700">
            <a:solidFill>
              <a:srgbClr val="E6EFFB"/>
            </a:solidFill>
            <a:prstDash val="solid"/>
          </a:ln>
        </p:spPr>
      </p:sp>
      <p:sp>
        <p:nvSpPr>
          <p:cNvPr id="6" name="Shape 4"/>
          <p:cNvSpPr/>
          <p:nvPr/>
        </p:nvSpPr>
        <p:spPr>
          <a:xfrm>
            <a:off x="822960" y="1591056"/>
            <a:ext cx="64008" cy="274320"/>
          </a:xfrm>
          <a:prstGeom prst="rect">
            <a:avLst/>
          </a:prstGeom>
          <a:solidFill>
            <a:srgbClr val="2A78D6"/>
          </a:solidFill>
          <a:ln w="12700">
            <a:solidFill>
              <a:srgbClr val="2A78D6"/>
            </a:solidFill>
            <a:prstDash val="solid"/>
          </a:ln>
        </p:spPr>
      </p:sp>
      <p:sp>
        <p:nvSpPr>
          <p:cNvPr id="7" name="Text 5"/>
          <p:cNvSpPr txBox="1"/>
          <p:nvPr/>
        </p:nvSpPr>
        <p:spPr>
          <a:xfrm>
            <a:off x="1005840" y="1517904"/>
            <a:ext cx="3108960" cy="411480"/>
          </a:xfrm>
          <a:prstGeom prst="rect">
            <a:avLst/>
          </a:prstGeom>
          <a:noFill/>
          <a:ln/>
        </p:spPr>
        <p:txBody>
          <a:bodyPr wrap="square" lIns="0" tIns="0" rIns="0" bIns="0" rtlCol="0" anchor="ctr"/>
          <a:lstStyle/>
          <a:p>
            <a:pPr indent="0" marL="0">
              <a:buNone/>
            </a:pPr>
            <a:r>
              <a:rPr lang="en-US" sz="1600" b="1" dirty="0">
                <a:solidFill>
                  <a:srgbClr val="2A78D6"/>
                </a:solidFill>
                <a:latin typeface="Malgun Gothic" pitchFamily="34" charset="0"/>
                <a:ea typeface="Malgun Gothic" pitchFamily="34" charset="-122"/>
                <a:cs typeface="Malgun Gothic" pitchFamily="34" charset="-120"/>
              </a:rPr>
              <a:t>좋은 고객의 조건은 다르다</a:t>
            </a:r>
            <a:endParaRPr lang="en-US" sz="1600" dirty="0"/>
          </a:p>
        </p:txBody>
      </p:sp>
      <p:sp>
        <p:nvSpPr>
          <p:cNvPr id="8" name="Text 6"/>
          <p:cNvSpPr txBox="1"/>
          <p:nvPr/>
        </p:nvSpPr>
        <p:spPr>
          <a:xfrm>
            <a:off x="4114800" y="1517904"/>
            <a:ext cx="7345375" cy="411480"/>
          </a:xfrm>
          <a:prstGeom prst="rect">
            <a:avLst/>
          </a:prstGeom>
          <a:noFill/>
          <a:ln/>
        </p:spPr>
        <p:txBody>
          <a:bodyPr wrap="square" lIns="0" tIns="0" rIns="0" bIns="0" rtlCol="0" anchor="ctr"/>
          <a:lstStyle/>
          <a:p>
            <a:pPr indent="0" marL="0">
              <a:buNone/>
            </a:pPr>
            <a:r>
              <a:rPr lang="en-US" sz="1400" dirty="0">
                <a:solidFill>
                  <a:srgbClr val="1D1D1B"/>
                </a:solidFill>
                <a:latin typeface="Malgun Gothic" pitchFamily="34" charset="0"/>
                <a:ea typeface="Malgun Gothic" pitchFamily="34" charset="-122"/>
                <a:cs typeface="Malgun Gothic" pitchFamily="34" charset="-120"/>
              </a:rPr>
              <a:t>같은 수출 붐 안에서도 세 회사의 상환 체력과 위험 요인은 서로 다르다</a:t>
            </a:r>
            <a:endParaRPr lang="en-US" sz="1400" dirty="0"/>
          </a:p>
        </p:txBody>
      </p:sp>
      <p:sp>
        <p:nvSpPr>
          <p:cNvPr id="9" name="Shape 7"/>
          <p:cNvSpPr/>
          <p:nvPr/>
        </p:nvSpPr>
        <p:spPr>
          <a:xfrm>
            <a:off x="822960" y="2048256"/>
            <a:ext cx="64008" cy="274320"/>
          </a:xfrm>
          <a:prstGeom prst="rect">
            <a:avLst/>
          </a:prstGeom>
          <a:solidFill>
            <a:srgbClr val="2A78D6"/>
          </a:solidFill>
          <a:ln w="12700">
            <a:solidFill>
              <a:srgbClr val="2A78D6"/>
            </a:solidFill>
            <a:prstDash val="solid"/>
          </a:ln>
        </p:spPr>
      </p:sp>
      <p:sp>
        <p:nvSpPr>
          <p:cNvPr id="10" name="Text 8"/>
          <p:cNvSpPr txBox="1"/>
          <p:nvPr/>
        </p:nvSpPr>
        <p:spPr>
          <a:xfrm>
            <a:off x="1005840" y="1975104"/>
            <a:ext cx="3108960" cy="411480"/>
          </a:xfrm>
          <a:prstGeom prst="rect">
            <a:avLst/>
          </a:prstGeom>
          <a:noFill/>
          <a:ln/>
        </p:spPr>
        <p:txBody>
          <a:bodyPr wrap="square" lIns="0" tIns="0" rIns="0" bIns="0" rtlCol="0" anchor="ctr"/>
          <a:lstStyle/>
          <a:p>
            <a:pPr indent="0" marL="0">
              <a:buNone/>
            </a:pPr>
            <a:r>
              <a:rPr lang="en-US" sz="1600" b="1" dirty="0">
                <a:solidFill>
                  <a:srgbClr val="2A78D6"/>
                </a:solidFill>
                <a:latin typeface="Malgun Gothic" pitchFamily="34" charset="0"/>
                <a:ea typeface="Malgun Gothic" pitchFamily="34" charset="-122"/>
                <a:cs typeface="Malgun Gothic" pitchFamily="34" charset="-120"/>
              </a:rPr>
              <a:t>빠른 성장 ≠ 안전한 차주</a:t>
            </a:r>
            <a:endParaRPr lang="en-US" sz="1600" dirty="0"/>
          </a:p>
        </p:txBody>
      </p:sp>
      <p:sp>
        <p:nvSpPr>
          <p:cNvPr id="11" name="Text 9"/>
          <p:cNvSpPr txBox="1"/>
          <p:nvPr/>
        </p:nvSpPr>
        <p:spPr>
          <a:xfrm>
            <a:off x="4114800" y="1975104"/>
            <a:ext cx="7345375" cy="411480"/>
          </a:xfrm>
          <a:prstGeom prst="rect">
            <a:avLst/>
          </a:prstGeom>
          <a:noFill/>
          <a:ln/>
        </p:spPr>
        <p:txBody>
          <a:bodyPr wrap="square" lIns="0" tIns="0" rIns="0" bIns="0" rtlCol="0" anchor="ctr"/>
          <a:lstStyle/>
          <a:p>
            <a:pPr indent="0" marL="0">
              <a:buNone/>
            </a:pPr>
            <a:r>
              <a:rPr lang="en-US" sz="1400" dirty="0">
                <a:solidFill>
                  <a:srgbClr val="1D1D1B"/>
                </a:solidFill>
                <a:latin typeface="Malgun Gothic" pitchFamily="34" charset="0"/>
                <a:ea typeface="Malgun Gothic" pitchFamily="34" charset="-122"/>
                <a:cs typeface="Malgun Gothic" pitchFamily="34" charset="-120"/>
              </a:rPr>
              <a:t>투자자 1위 에이피알, 은행 1위 아모레퍼시픽 — 시장의 기대와 상환 능력은 다른 질문</a:t>
            </a:r>
            <a:endParaRPr lang="en-US" sz="1400" dirty="0"/>
          </a:p>
        </p:txBody>
      </p:sp>
      <p:sp>
        <p:nvSpPr>
          <p:cNvPr id="12" name="Shape 10"/>
          <p:cNvSpPr/>
          <p:nvPr/>
        </p:nvSpPr>
        <p:spPr>
          <a:xfrm>
            <a:off x="822960" y="2505456"/>
            <a:ext cx="64008" cy="274320"/>
          </a:xfrm>
          <a:prstGeom prst="rect">
            <a:avLst/>
          </a:prstGeom>
          <a:solidFill>
            <a:srgbClr val="2A78D6"/>
          </a:solidFill>
          <a:ln w="12700">
            <a:solidFill>
              <a:srgbClr val="2A78D6"/>
            </a:solidFill>
            <a:prstDash val="solid"/>
          </a:ln>
        </p:spPr>
      </p:sp>
      <p:sp>
        <p:nvSpPr>
          <p:cNvPr id="13" name="Text 11"/>
          <p:cNvSpPr txBox="1"/>
          <p:nvPr/>
        </p:nvSpPr>
        <p:spPr>
          <a:xfrm>
            <a:off x="1005840" y="2432304"/>
            <a:ext cx="3108960" cy="411480"/>
          </a:xfrm>
          <a:prstGeom prst="rect">
            <a:avLst/>
          </a:prstGeom>
          <a:noFill/>
          <a:ln/>
        </p:spPr>
        <p:txBody>
          <a:bodyPr wrap="square" lIns="0" tIns="0" rIns="0" bIns="0" rtlCol="0" anchor="ctr"/>
          <a:lstStyle/>
          <a:p>
            <a:pPr indent="0" marL="0">
              <a:buNone/>
            </a:pPr>
            <a:r>
              <a:rPr lang="en-US" sz="1600" b="1" dirty="0">
                <a:solidFill>
                  <a:srgbClr val="2A78D6"/>
                </a:solidFill>
                <a:latin typeface="Malgun Gothic" pitchFamily="34" charset="0"/>
                <a:ea typeface="Malgun Gothic" pitchFamily="34" charset="-122"/>
                <a:cs typeface="Malgun Gothic" pitchFamily="34" charset="-120"/>
              </a:rPr>
              <a:t>기업마다 다른 금융</a:t>
            </a:r>
            <a:endParaRPr lang="en-US" sz="1600" dirty="0"/>
          </a:p>
        </p:txBody>
      </p:sp>
      <p:sp>
        <p:nvSpPr>
          <p:cNvPr id="14" name="Text 12"/>
          <p:cNvSpPr txBox="1"/>
          <p:nvPr/>
        </p:nvSpPr>
        <p:spPr>
          <a:xfrm>
            <a:off x="4114800" y="2432304"/>
            <a:ext cx="7345375" cy="411480"/>
          </a:xfrm>
          <a:prstGeom prst="rect">
            <a:avLst/>
          </a:prstGeom>
          <a:noFill/>
          <a:ln/>
        </p:spPr>
        <p:txBody>
          <a:bodyPr wrap="square" lIns="0" tIns="0" rIns="0" bIns="0" rtlCol="0" anchor="ctr"/>
          <a:lstStyle/>
          <a:p>
            <a:pPr indent="0" marL="0">
              <a:buNone/>
            </a:pPr>
            <a:r>
              <a:rPr lang="en-US" sz="1400" dirty="0">
                <a:solidFill>
                  <a:srgbClr val="1D1D1B"/>
                </a:solidFill>
                <a:latin typeface="Malgun Gothic" pitchFamily="34" charset="0"/>
                <a:ea typeface="Malgun Gothic" pitchFamily="34" charset="-122"/>
                <a:cs typeface="Malgun Gothic" pitchFamily="34" charset="-120"/>
              </a:rPr>
              <a:t>은행은 성장성 · 상환 능력 · 편중 리스크를 함께 보고, 회사별로 다른 금융을 제안해야 한다</a:t>
            </a:r>
            <a:endParaRPr lang="en-US" sz="1400" dirty="0"/>
          </a:p>
        </p:txBody>
      </p:sp>
      <p:sp>
        <p:nvSpPr>
          <p:cNvPr id="15" name="Shape 13"/>
          <p:cNvSpPr/>
          <p:nvPr/>
        </p:nvSpPr>
        <p:spPr>
          <a:xfrm>
            <a:off x="548640" y="3154680"/>
            <a:ext cx="11094415" cy="2697480"/>
          </a:xfrm>
          <a:prstGeom prst="roundRect">
            <a:avLst>
              <a:gd name="adj" fmla="val 4068"/>
            </a:avLst>
          </a:prstGeom>
          <a:solidFill>
            <a:srgbClr val="FFFFFF"/>
          </a:solidFill>
          <a:ln w="12700">
            <a:solidFill>
              <a:srgbClr val="E4E2DC"/>
            </a:solidFill>
            <a:prstDash val="solid"/>
          </a:ln>
        </p:spPr>
      </p:sp>
      <p:sp>
        <p:nvSpPr>
          <p:cNvPr id="16" name="Shape 14"/>
          <p:cNvSpPr/>
          <p:nvPr/>
        </p:nvSpPr>
        <p:spPr>
          <a:xfrm>
            <a:off x="548640" y="3154680"/>
            <a:ext cx="11094415" cy="64008"/>
          </a:xfrm>
          <a:prstGeom prst="rect">
            <a:avLst/>
          </a:prstGeom>
          <a:solidFill>
            <a:srgbClr val="C8453B"/>
          </a:solidFill>
          <a:ln w="12700">
            <a:solidFill>
              <a:srgbClr val="C8453B"/>
            </a:solidFill>
            <a:prstDash val="solid"/>
          </a:ln>
        </p:spPr>
      </p:sp>
      <p:sp>
        <p:nvSpPr>
          <p:cNvPr id="17" name="Text 15"/>
          <p:cNvSpPr txBox="1"/>
          <p:nvPr/>
        </p:nvSpPr>
        <p:spPr>
          <a:xfrm>
            <a:off x="822960" y="3355848"/>
            <a:ext cx="4572000" cy="365760"/>
          </a:xfrm>
          <a:prstGeom prst="rect">
            <a:avLst/>
          </a:prstGeom>
          <a:noFill/>
          <a:ln/>
        </p:spPr>
        <p:txBody>
          <a:bodyPr wrap="square" lIns="0" tIns="0" rIns="0" bIns="0" rtlCol="0" anchor="t"/>
          <a:lstStyle/>
          <a:p>
            <a:pPr indent="0" marL="0">
              <a:buNone/>
            </a:pPr>
            <a:r>
              <a:rPr lang="en-US" sz="1700" b="1" dirty="0">
                <a:solidFill>
                  <a:srgbClr val="C8453B"/>
                </a:solidFill>
                <a:latin typeface="Malgun Gothic" pitchFamily="34" charset="0"/>
                <a:ea typeface="Malgun Gothic" pitchFamily="34" charset="-122"/>
                <a:cs typeface="Malgun Gothic" pitchFamily="34" charset="-120"/>
              </a:rPr>
              <a:t>해석의 한계</a:t>
            </a:r>
            <a:endParaRPr lang="en-US" sz="1700" dirty="0"/>
          </a:p>
        </p:txBody>
      </p:sp>
      <p:sp>
        <p:nvSpPr>
          <p:cNvPr id="18" name="Shape 16"/>
          <p:cNvSpPr/>
          <p:nvPr/>
        </p:nvSpPr>
        <p:spPr>
          <a:xfrm>
            <a:off x="822960" y="4023360"/>
            <a:ext cx="128016" cy="128016"/>
          </a:xfrm>
          <a:prstGeom prst="ellipse">
            <a:avLst/>
          </a:prstGeom>
          <a:solidFill>
            <a:srgbClr val="C8453B"/>
          </a:solidFill>
          <a:ln w="12700">
            <a:solidFill>
              <a:srgbClr val="C8453B"/>
            </a:solidFill>
            <a:prstDash val="solid"/>
          </a:ln>
        </p:spPr>
      </p:sp>
      <p:sp>
        <p:nvSpPr>
          <p:cNvPr id="19" name="Text 17"/>
          <p:cNvSpPr txBox="1"/>
          <p:nvPr/>
        </p:nvSpPr>
        <p:spPr>
          <a:xfrm>
            <a:off x="1097280" y="3931920"/>
            <a:ext cx="4861408" cy="329184"/>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스코어카드는 과제용 단순 기준</a:t>
            </a:r>
            <a:endParaRPr lang="en-US" sz="1500" dirty="0"/>
          </a:p>
        </p:txBody>
      </p:sp>
      <p:sp>
        <p:nvSpPr>
          <p:cNvPr id="20" name="Text 18"/>
          <p:cNvSpPr txBox="1"/>
          <p:nvPr/>
        </p:nvSpPr>
        <p:spPr>
          <a:xfrm>
            <a:off x="1097280" y="4279392"/>
            <a:ext cx="4861408" cy="310896"/>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실제 은행 여신 심사 기준이 아님</a:t>
            </a:r>
            <a:endParaRPr lang="en-US" sz="1300" dirty="0"/>
          </a:p>
        </p:txBody>
      </p:sp>
      <p:sp>
        <p:nvSpPr>
          <p:cNvPr id="21" name="Shape 19"/>
          <p:cNvSpPr/>
          <p:nvPr/>
        </p:nvSpPr>
        <p:spPr>
          <a:xfrm>
            <a:off x="6233008" y="4023360"/>
            <a:ext cx="128016" cy="128016"/>
          </a:xfrm>
          <a:prstGeom prst="ellipse">
            <a:avLst/>
          </a:prstGeom>
          <a:solidFill>
            <a:srgbClr val="C8453B"/>
          </a:solidFill>
          <a:ln w="12700">
            <a:solidFill>
              <a:srgbClr val="C8453B"/>
            </a:solidFill>
            <a:prstDash val="solid"/>
          </a:ln>
        </p:spPr>
      </p:sp>
      <p:sp>
        <p:nvSpPr>
          <p:cNvPr id="22" name="Text 20"/>
          <p:cNvSpPr txBox="1"/>
          <p:nvPr/>
        </p:nvSpPr>
        <p:spPr>
          <a:xfrm>
            <a:off x="6507328" y="3931920"/>
            <a:ext cx="4861408" cy="329184"/>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이자비용은 회사마다 공시 위치가 다름</a:t>
            </a:r>
            <a:endParaRPr lang="en-US" sz="1500" dirty="0"/>
          </a:p>
        </p:txBody>
      </p:sp>
      <p:sp>
        <p:nvSpPr>
          <p:cNvPr id="23" name="Text 21"/>
          <p:cNvSpPr txBox="1"/>
          <p:nvPr/>
        </p:nvSpPr>
        <p:spPr>
          <a:xfrm>
            <a:off x="6507328" y="4279392"/>
            <a:ext cx="4861408" cy="310896"/>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대체 항목 사용 · 리스부채는 차입금에서 제외</a:t>
            </a:r>
            <a:endParaRPr lang="en-US" sz="1300" dirty="0"/>
          </a:p>
        </p:txBody>
      </p:sp>
      <p:sp>
        <p:nvSpPr>
          <p:cNvPr id="24" name="Shape 22"/>
          <p:cNvSpPr/>
          <p:nvPr/>
        </p:nvSpPr>
        <p:spPr>
          <a:xfrm>
            <a:off x="822960" y="4937760"/>
            <a:ext cx="128016" cy="128016"/>
          </a:xfrm>
          <a:prstGeom prst="ellipse">
            <a:avLst/>
          </a:prstGeom>
          <a:solidFill>
            <a:srgbClr val="C8453B"/>
          </a:solidFill>
          <a:ln w="12700">
            <a:solidFill>
              <a:srgbClr val="C8453B"/>
            </a:solidFill>
            <a:prstDash val="solid"/>
          </a:ln>
        </p:spPr>
      </p:sp>
      <p:sp>
        <p:nvSpPr>
          <p:cNvPr id="25" name="Text 23"/>
          <p:cNvSpPr txBox="1"/>
          <p:nvPr/>
        </p:nvSpPr>
        <p:spPr>
          <a:xfrm>
            <a:off x="1097280" y="4846320"/>
            <a:ext cx="4861408" cy="329184"/>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금융 제안과 협력사 파급은 가설</a:t>
            </a:r>
            <a:endParaRPr lang="en-US" sz="1500" dirty="0"/>
          </a:p>
        </p:txBody>
      </p:sp>
      <p:sp>
        <p:nvSpPr>
          <p:cNvPr id="26" name="Text 24"/>
          <p:cNvSpPr txBox="1"/>
          <p:nvPr/>
        </p:nvSpPr>
        <p:spPr>
          <a:xfrm>
            <a:off x="1097280" y="5193792"/>
            <a:ext cx="4861408" cy="310896"/>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재무 특징에서 도출했으며 실제 거래 현황과 무관</a:t>
            </a:r>
            <a:endParaRPr lang="en-US" sz="1300" dirty="0"/>
          </a:p>
        </p:txBody>
      </p:sp>
      <p:sp>
        <p:nvSpPr>
          <p:cNvPr id="27" name="Shape 25"/>
          <p:cNvSpPr/>
          <p:nvPr/>
        </p:nvSpPr>
        <p:spPr>
          <a:xfrm>
            <a:off x="6233008" y="4937760"/>
            <a:ext cx="128016" cy="128016"/>
          </a:xfrm>
          <a:prstGeom prst="ellipse">
            <a:avLst/>
          </a:prstGeom>
          <a:solidFill>
            <a:srgbClr val="C8453B"/>
          </a:solidFill>
          <a:ln w="12700">
            <a:solidFill>
              <a:srgbClr val="C8453B"/>
            </a:solidFill>
            <a:prstDash val="solid"/>
          </a:ln>
        </p:spPr>
      </p:sp>
      <p:sp>
        <p:nvSpPr>
          <p:cNvPr id="28" name="Text 26"/>
          <p:cNvSpPr txBox="1"/>
          <p:nvPr/>
        </p:nvSpPr>
        <p:spPr>
          <a:xfrm>
            <a:off x="6507328" y="4846320"/>
            <a:ext cx="4861408" cy="329184"/>
          </a:xfrm>
          <a:prstGeom prst="rect">
            <a:avLst/>
          </a:prstGeom>
          <a:noFill/>
          <a:ln/>
        </p:spPr>
        <p:txBody>
          <a:bodyPr wrap="square" lIns="0" tIns="0" rIns="0" bIns="0" rtlCol="0" anchor="t"/>
          <a:lstStyle/>
          <a:p>
            <a:pPr indent="0" marL="0">
              <a:buNone/>
            </a:pPr>
            <a:r>
              <a:rPr lang="en-US" sz="1500" b="1" dirty="0">
                <a:solidFill>
                  <a:srgbClr val="1D1D1B"/>
                </a:solidFill>
                <a:latin typeface="Malgun Gothic" pitchFamily="34" charset="0"/>
                <a:ea typeface="Malgun Gothic" pitchFamily="34" charset="-122"/>
                <a:cs typeface="Malgun Gothic" pitchFamily="34" charset="-120"/>
              </a:rPr>
              <a:t>점유율은 3사 합계 기준</a:t>
            </a:r>
            <a:endParaRPr lang="en-US" sz="1500" dirty="0"/>
          </a:p>
        </p:txBody>
      </p:sp>
      <p:sp>
        <p:nvSpPr>
          <p:cNvPr id="29" name="Text 27"/>
          <p:cNvSpPr txBox="1"/>
          <p:nvPr/>
        </p:nvSpPr>
        <p:spPr>
          <a:xfrm>
            <a:off x="6507328" y="5193792"/>
            <a:ext cx="4861408" cy="310896"/>
          </a:xfrm>
          <a:prstGeom prst="rect">
            <a:avLst/>
          </a:prstGeom>
          <a:noFill/>
          <a:ln/>
        </p:spPr>
        <p:txBody>
          <a:bodyPr wrap="square" lIns="0" tIns="0" rIns="0" bIns="0" rtlCol="0" anchor="t"/>
          <a:lstStyle/>
          <a:p>
            <a:pPr indent="0" marL="0">
              <a:buNone/>
            </a:pPr>
            <a:r>
              <a:rPr lang="en-US" sz="1300" dirty="0">
                <a:solidFill>
                  <a:srgbClr val="6B6A66"/>
                </a:solidFill>
                <a:latin typeface="Malgun Gothic" pitchFamily="34" charset="0"/>
                <a:ea typeface="Malgun Gothic" pitchFamily="34" charset="-122"/>
                <a:cs typeface="Malgun Gothic" pitchFamily="34" charset="-120"/>
              </a:rPr>
              <a:t>해외 비중 산출 기준은 회사마다 다름 · 투자 권유 아님</a:t>
            </a:r>
            <a:endParaRPr lang="en-US" sz="1300" dirty="0"/>
          </a:p>
        </p:txBody>
      </p:sp>
      <p:sp>
        <p:nvSpPr>
          <p:cNvPr id="30" name="Text 28"/>
          <p:cNvSpPr txBox="1"/>
          <p:nvPr/>
        </p:nvSpPr>
        <p:spPr>
          <a:xfrm>
            <a:off x="7802575" y="6053328"/>
            <a:ext cx="3840480" cy="457200"/>
          </a:xfrm>
          <a:prstGeom prst="rect">
            <a:avLst/>
          </a:prstGeom>
          <a:noFill/>
          <a:ln/>
        </p:spPr>
        <p:txBody>
          <a:bodyPr wrap="square" lIns="0" tIns="0" rIns="0" bIns="0" rtlCol="0" anchor="ctr"/>
          <a:lstStyle/>
          <a:p>
            <a:pPr algn="r" indent="0" marL="0">
              <a:buNone/>
            </a:pPr>
            <a:r>
              <a:rPr lang="en-US" sz="2000" b="1" dirty="0">
                <a:solidFill>
                  <a:srgbClr val="1E2B4A"/>
                </a:solidFill>
                <a:latin typeface="Malgun Gothic" pitchFamily="34" charset="0"/>
                <a:ea typeface="Malgun Gothic" pitchFamily="34" charset="-122"/>
                <a:cs typeface="Malgun Gothic" pitchFamily="34" charset="-120"/>
              </a:rPr>
              <a:t>감사합니다  ·  Q&amp;A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K-뷰티 수출 붐, 은행의 눈으로 본 3사</dc:title>
  <dc:subject>PptxGenJS Presentation</dc:subject>
  <dc:creator>2조</dc:creator>
  <cp:lastModifiedBy>2조</cp:lastModifiedBy>
  <cp:revision>1</cp:revision>
  <dcterms:created xsi:type="dcterms:W3CDTF">2026-09-29T07:30:04Z</dcterms:created>
  <dcterms:modified xsi:type="dcterms:W3CDTF">2026-09-29T07:30:04Z</dcterms:modified>
</cp:coreProperties>
</file>